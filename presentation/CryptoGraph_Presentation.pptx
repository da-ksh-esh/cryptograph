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7.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8.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9.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8728323-e0dd-b808-bac9-4c293153821c}">
          <p14:sldIdLst>
            <p14:sldId id="256"/>
            <p14:sldId id="257"/>
            <p14:sldId id="258"/>
          </p14:sldIdLst>
        </p14:section>
        <p14:section name="Data and method" id="{d3554d19-1939-cbc0-f398-dfbb5266e062}">
          <p14:sldIdLst>
            <p14:sldId id="259"/>
            <p14:sldId id="260"/>
            <p14:sldId id="261"/>
            <p14:sldId id="262"/>
            <p14:sldId id="263"/>
            <p14:sldId id="264"/>
          </p14:sldIdLst>
        </p14:section>
        <p14:section name="Results" id="{8c5595f5-eb50-91c3-73b8-219fb02c0c2a}">
          <p14:sldIdLst>
            <p14:sldId id="265"/>
            <p14:sldId id="266"/>
            <p14:sldId id="267"/>
            <p14:sldId id="268"/>
            <p14:sldId id="269"/>
          </p14:sldIdLst>
        </p14:section>
        <p14:section name="Deployment" id="{be4b5e79-5535-3ccd-8201-3b9f813074ef}">
          <p14:sldIdLst>
            <p14:sldId id="270"/>
            <p14:sldId id="271"/>
          </p14:sldIdLst>
        </p14:section>
        <p14:section name="Wrap-up" id="{eb767a11-bf8f-4ea9-32cc-641d75494c4b}">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11418"/>
                </a:solidFill>
                <a:latin typeface="+mn-lt"/>
              </a:defRPr>
            </a:pPr>
            <a:r>
              <a:rPr sz="1400" b="0" i="0" u="none" strike="noStrike">
                <a:solidFill>
                  <a:srgbClr val="111418"/>
                </a:solidFill>
                <a:latin typeface="+mn-lt"/>
              </a:rPr>
              <a:t>How often does j shock within k hours? (% of test events)</a:t>
            </a:r>
          </a:p>
        </c:rich>
      </c:tx>
      <c:layout/>
      <c:overlay val="0"/>
    </c:title>
    <c:autoTitleDeleted val="0"/>
    <c:plotArea>
      <c:layout/>
      <c:barChart>
        <c:barDir val="col"/>
        <c:grouping val="clustered"/>
        <c:varyColors val="0"/>
        <c:ser>
          <c:idx val="0"/>
          <c:order val="0"/>
          <c:tx>
            <c:strRef>
              <c:f>Sheet1!$B$1</c:f>
              <c:strCache>
                <c:ptCount val="1"/>
                <c:pt idx="0">
                  <c:v>Positive events</c:v>
                </c:pt>
              </c:strCache>
            </c:strRef>
          </c:tx>
          <c:spPr>
            <a:solidFill>
              <a:srgbClr val="E8553D"/>
            </a:solidFill>
            <a:effectLst/>
          </c:spPr>
          <c:invertIfNegative val="0"/>
          <c:dLbls>
            <c:numFmt formatCode="0.0&quot;%&quot;" sourceLinked="0"/>
            <c:txPr>
              <a:bodyPr/>
              <a:lstStyle/>
              <a:p>
                <a:pPr>
                  <a:defRPr b="0" i="0" strike="noStrike" sz="1400" u="none">
                    <a:solidFill>
                      <a:srgbClr val="111418"/>
                    </a:solidFill>
                    <a:latin typeface="+mn-lt"/>
                  </a:defRPr>
                </a:pPr>
              </a:p>
            </c:txPr>
            <c:showLegendKey val="0"/>
            <c:showVal val="1"/>
            <c:showCatName val="0"/>
            <c:showSerName val="0"/>
            <c:showPercent val="0"/>
            <c:showBubbleSize val="0"/>
            <c:showLeaderLines val="0"/>
          </c:dLbls>
          <c:cat>
            <c:multiLvlStrRef>
              <c:f>Sheet1!$A$2:$A$6</c:f>
              <c:multiLvlStrCache>
                <c:ptCount val="5"/>
                <c:lvl>
                  <c:pt idx="0">
                    <c:v>1 h</c:v>
                  </c:pt>
                  <c:pt idx="1">
                    <c:v>3 h</c:v>
                  </c:pt>
                  <c:pt idx="2">
                    <c:v>6 h</c:v>
                  </c:pt>
                  <c:pt idx="3">
                    <c:v>12 h</c:v>
                  </c:pt>
                  <c:pt idx="4">
                    <c:v>24 h</c:v>
                  </c:pt>
                </c:lvl>
              </c:multiLvlStrCache>
            </c:multiLvlStrRef>
          </c:cat>
          <c:val>
            <c:numRef>
              <c:f>Sheet1!$B$2:$B$6</c:f>
              <c:numCache>
                <c:formatCode>General</c:formatCode>
                <c:ptCount val="5"/>
                <c:pt idx="0">
                  <c:v>10.5</c:v>
                </c:pt>
                <c:pt idx="1">
                  <c:v>20.6</c:v>
                </c:pt>
                <c:pt idx="2">
                  <c:v>31</c:v>
                </c:pt>
                <c:pt idx="3">
                  <c:v>44.7</c:v>
                </c:pt>
                <c:pt idx="4">
                  <c:v>62.7</c:v>
                </c:pt>
              </c:numCache>
            </c:numRef>
          </c:val>
        </c:ser>
        <c:dLbls>
          <c:numFmt formatCode="0.0&quot;%&quot;" sourceLinked="0"/>
          <c:txPr>
            <a:bodyPr/>
            <a:lstStyle/>
            <a:p>
              <a:pPr>
                <a:defRPr b="0" i="0" strike="noStrike" sz="1400" u="none">
                  <a:solidFill>
                    <a:srgbClr val="111418"/>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5B6B83"/>
                </a:solidFill>
                <a:latin typeface="+mn-lt"/>
              </a:defRPr>
            </a:pPr>
            <a:endParaRPr lang="en-US"/>
          </a:p>
        </c:txPr>
        <c:crossAx val="2094734552"/>
        <c:crosses val="autoZero"/>
        <c:auto val="1"/>
        <c:lblAlgn val="ctr"/>
        <c:noMultiLvlLbl val="1"/>
      </c:catAx>
      <c:valAx>
        <c:axId val="2094734552"/>
        <c:scaling>
          <c:orientation val="minMax"/>
          <c:max val="72"/>
          <c:min val="0"/>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5B6B8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11418"/>
                </a:solidFill>
                <a:latin typeface="+mn-lt"/>
              </a:defRPr>
            </a:pPr>
            <a:r>
              <a:rPr sz="1400" b="0" i="0" u="none" strike="noStrike">
                <a:solidFill>
                  <a:srgbClr val="111418"/>
                </a:solidFill>
                <a:latin typeface="+mn-lt"/>
              </a:rPr>
              <a:t>Chance that another coin shocks within an hour</a:t>
            </a:r>
          </a:p>
        </c:rich>
      </c:tx>
      <c:layout/>
      <c:overlay val="0"/>
    </c:title>
    <c:autoTitleDeleted val="0"/>
    <c:plotArea>
      <c:layout/>
      <c:barChart>
        <c:barDir val="col"/>
        <c:grouping val="clustered"/>
        <c:varyColors val="0"/>
        <c:ser>
          <c:idx val="0"/>
          <c:order val="0"/>
          <c:tx>
            <c:strRef>
              <c:f>Sheet1!$B$1</c:f>
              <c:strCache>
                <c:ptCount val="1"/>
                <c:pt idx="0">
                  <c:v>Within the same sector</c:v>
                </c:pt>
              </c:strCache>
            </c:strRef>
          </c:tx>
          <c:spPr>
            <a:solidFill>
              <a:srgbClr val="1F8A8A"/>
            </a:solidFill>
            <a:effectLst/>
          </c:spPr>
          <c:invertIfNegative val="0"/>
          <c:dLbls>
            <c:numFmt formatCode="0.0&quot;%&quot;" sourceLinked="0"/>
            <c:txPr>
              <a:bodyPr/>
              <a:lstStyle/>
              <a:p>
                <a:pPr>
                  <a:defRPr b="0" i="0" strike="noStrike" sz="1200" u="none">
                    <a:solidFill>
                      <a:srgbClr val="111418"/>
                    </a:solidFill>
                    <a:latin typeface="+mn-lt"/>
                  </a:defRPr>
                </a:pPr>
              </a:p>
            </c:txPr>
            <c:showLegendKey val="0"/>
            <c:showVal val="1"/>
            <c:showCatName val="0"/>
            <c:showSerName val="0"/>
            <c:showPercent val="0"/>
            <c:showBubbleSize val="0"/>
            <c:showLeaderLines val="0"/>
          </c:dLbls>
          <c:cat>
            <c:multiLvlStrRef>
              <c:f>Sheet1!$A$2:$A$4</c:f>
              <c:multiLvlStrCache>
                <c:ptCount val="3"/>
                <c:lvl>
                  <c:pt idx="0">
                    <c:v>Train period</c:v>
                  </c:pt>
                  <c:pt idx="1">
                    <c:v>Test period</c:v>
                  </c:pt>
                  <c:pt idx="2">
                    <c:v>Meme coins</c:v>
                  </c:pt>
                </c:lvl>
              </c:multiLvlStrCache>
            </c:multiLvlStrRef>
          </c:cat>
          <c:val>
            <c:numRef>
              <c:f>Sheet1!$B$2:$B$4</c:f>
              <c:numCache>
                <c:formatCode>General</c:formatCode>
                <c:ptCount val="3"/>
                <c:pt idx="0">
                  <c:v>9.3</c:v>
                </c:pt>
                <c:pt idx="1">
                  <c:v>10.8</c:v>
                </c:pt>
                <c:pt idx="2">
                  <c:v>13.7</c:v>
                </c:pt>
              </c:numCache>
            </c:numRef>
          </c:val>
        </c:ser>
        <c:ser>
          <c:idx val="1"/>
          <c:order val="1"/>
          <c:tx>
            <c:strRef>
              <c:f>Sheet1!$C$1</c:f>
              <c:strCache>
                <c:ptCount val="1"/>
                <c:pt idx="0">
                  <c:v>Across sectors</c:v>
                </c:pt>
              </c:strCache>
            </c:strRef>
          </c:tx>
          <c:spPr>
            <a:solidFill>
              <a:srgbClr val="5B6B83"/>
            </a:solidFill>
            <a:effectLst/>
          </c:spPr>
          <c:invertIfNegative val="0"/>
          <c:dLbls>
            <c:numFmt formatCode="0.0&quot;%&quot;" sourceLinked="0"/>
            <c:txPr>
              <a:bodyPr/>
              <a:lstStyle/>
              <a:p>
                <a:pPr>
                  <a:defRPr b="0" i="0" strike="noStrike" sz="1200" u="none">
                    <a:solidFill>
                      <a:srgbClr val="111418"/>
                    </a:solidFill>
                    <a:latin typeface="+mn-lt"/>
                  </a:defRPr>
                </a:pPr>
              </a:p>
            </c:txPr>
            <c:showLegendKey val="0"/>
            <c:showVal val="1"/>
            <c:showCatName val="0"/>
            <c:showSerName val="0"/>
            <c:showPercent val="0"/>
            <c:showBubbleSize val="0"/>
            <c:showLeaderLines val="0"/>
          </c:dLbls>
          <c:cat>
            <c:multiLvlStrRef>
              <c:f>Sheet1!$A$2:$A$4</c:f>
              <c:multiLvlStrCache>
                <c:ptCount val="3"/>
                <c:lvl>
                  <c:pt idx="0">
                    <c:v>Train period</c:v>
                  </c:pt>
                  <c:pt idx="1">
                    <c:v>Test period</c:v>
                  </c:pt>
                  <c:pt idx="2">
                    <c:v>Meme coins</c:v>
                  </c:pt>
                </c:lvl>
              </c:multiLvlStrCache>
            </c:multiLvlStrRef>
          </c:cat>
          <c:val>
            <c:numRef>
              <c:f>Sheet1!$C$2:$C$4</c:f>
              <c:numCache>
                <c:formatCode>General</c:formatCode>
                <c:ptCount val="3"/>
                <c:pt idx="0">
                  <c:v>9.3</c:v>
                </c:pt>
                <c:pt idx="1">
                  <c:v>10.4</c:v>
                </c:pt>
                <c:pt idx="2">
                  <c:v>10.9</c:v>
                </c:pt>
              </c:numCache>
            </c:numRef>
          </c:val>
        </c:ser>
        <c:dLbls>
          <c:numFmt formatCode="0.0&quot;%&quot;" sourceLinked="0"/>
          <c:txPr>
            <a:bodyPr/>
            <a:lstStyle/>
            <a:p>
              <a:pPr>
                <a:defRPr b="0" i="0" strike="noStrike" sz="1200" u="none">
                  <a:solidFill>
                    <a:srgbClr val="111418"/>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5B6B83"/>
                </a:solidFill>
                <a:latin typeface="+mn-lt"/>
              </a:defRPr>
            </a:pPr>
            <a:endParaRPr lang="en-US"/>
          </a:p>
        </c:txPr>
        <c:crossAx val="2094734552"/>
        <c:crosses val="autoZero"/>
        <c:auto val="1"/>
        <c:lblAlgn val="ctr"/>
        <c:noMultiLvlLbl val="1"/>
      </c:catAx>
      <c:valAx>
        <c:axId val="2094734552"/>
        <c:scaling>
          <c:orientation val="minMax"/>
          <c:max val="16"/>
          <c:min val="0"/>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5B6B8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B6B8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11418"/>
                </a:solidFill>
                <a:latin typeface="+mn-lt"/>
              </a:defRPr>
            </a:pPr>
            <a:r>
              <a:rPr sz="1400" b="0" i="0" u="none" strike="noStrike">
                <a:solidFill>
                  <a:srgbClr val="111418"/>
                </a:solidFill>
                <a:latin typeface="+mn-lt"/>
              </a:rPr>
              <a:t>Test AUPRC (higher is better)</a:t>
            </a:r>
          </a:p>
        </c:rich>
      </c:tx>
      <c:layout/>
      <c:overlay val="0"/>
    </c:title>
    <c:autoTitleDeleted val="0"/>
    <c:plotArea>
      <c:layout/>
      <c:barChart>
        <c:barDir val="col"/>
        <c:grouping val="clustered"/>
        <c:varyColors val="0"/>
        <c:ser>
          <c:idx val="0"/>
          <c:order val="0"/>
          <c:tx>
            <c:strRef>
              <c:f>Sheet1!$B$1</c:f>
              <c:strCache>
                <c:ptCount val="1"/>
                <c:pt idx="0">
                  <c:v>TGN (main)</c:v>
                </c:pt>
              </c:strCache>
            </c:strRef>
          </c:tx>
          <c:spPr>
            <a:solidFill>
              <a:srgbClr val="E8553D"/>
            </a:solidFill>
            <a:effectLst/>
          </c:spPr>
          <c:invertIfNegative val="0"/>
          <c:dLbls>
            <c:numFmt formatCode="0.000" sourceLinked="0"/>
            <c:txPr>
              <a:bodyPr/>
              <a:lstStyle/>
              <a:p>
                <a:pPr>
                  <a:defRPr b="0" i="0" strike="noStrike" sz="1100" u="none">
                    <a:solidFill>
                      <a:srgbClr val="111418"/>
                    </a:solidFill>
                    <a:latin typeface="+mn-lt"/>
                  </a:defRPr>
                </a:pPr>
              </a:p>
            </c:txPr>
            <c:showLegendKey val="0"/>
            <c:showVal val="1"/>
            <c:showCatName val="0"/>
            <c:showSerName val="0"/>
            <c:showPercent val="0"/>
            <c:showBubbleSize val="0"/>
            <c:showLeaderLines val="0"/>
          </c:dLbls>
          <c:cat>
            <c:multiLvlStrRef>
              <c:f>Sheet1!$A$2:$A$4</c:f>
              <c:multiLvlStrCache>
                <c:ptCount val="3"/>
                <c:lvl>
                  <c:pt idx="0">
                    <c:v>1 hour</c:v>
                  </c:pt>
                  <c:pt idx="1">
                    <c:v>6 hours</c:v>
                  </c:pt>
                  <c:pt idx="2">
                    <c:v>24 hours</c:v>
                  </c:pt>
                </c:lvl>
              </c:multiLvlStrCache>
            </c:multiLvlStrRef>
          </c:cat>
          <c:val>
            <c:numRef>
              <c:f>Sheet1!$B$2:$B$4</c:f>
              <c:numCache>
                <c:formatCode>General</c:formatCode>
                <c:ptCount val="3"/>
                <c:pt idx="0">
                  <c:v>0.205</c:v>
                </c:pt>
                <c:pt idx="1">
                  <c:v>0.464</c:v>
                </c:pt>
                <c:pt idx="2">
                  <c:v>0.739</c:v>
                </c:pt>
              </c:numCache>
            </c:numRef>
          </c:val>
        </c:ser>
        <c:ser>
          <c:idx val="1"/>
          <c:order val="1"/>
          <c:tx>
            <c:strRef>
              <c:f>Sheet1!$C$1</c:f>
              <c:strCache>
                <c:ptCount val="1"/>
                <c:pt idx="0">
                  <c:v>DyGFormer</c:v>
                </c:pt>
              </c:strCache>
            </c:strRef>
          </c:tx>
          <c:spPr>
            <a:solidFill>
              <a:srgbClr val="1F8A8A"/>
            </a:solidFill>
            <a:effectLst/>
          </c:spPr>
          <c:invertIfNegative val="0"/>
          <c:dLbls>
            <c:numFmt formatCode="0.000" sourceLinked="0"/>
            <c:txPr>
              <a:bodyPr/>
              <a:lstStyle/>
              <a:p>
                <a:pPr>
                  <a:defRPr b="0" i="0" strike="noStrike" sz="1100" u="none">
                    <a:solidFill>
                      <a:srgbClr val="111418"/>
                    </a:solidFill>
                    <a:latin typeface="+mn-lt"/>
                  </a:defRPr>
                </a:pPr>
              </a:p>
            </c:txPr>
            <c:showLegendKey val="0"/>
            <c:showVal val="1"/>
            <c:showCatName val="0"/>
            <c:showSerName val="0"/>
            <c:showPercent val="0"/>
            <c:showBubbleSize val="0"/>
            <c:showLeaderLines val="0"/>
          </c:dLbls>
          <c:cat>
            <c:multiLvlStrRef>
              <c:f>Sheet1!$A$2:$A$4</c:f>
              <c:multiLvlStrCache>
                <c:ptCount val="3"/>
                <c:lvl>
                  <c:pt idx="0">
                    <c:v>1 hour</c:v>
                  </c:pt>
                  <c:pt idx="1">
                    <c:v>6 hours</c:v>
                  </c:pt>
                  <c:pt idx="2">
                    <c:v>24 hours</c:v>
                  </c:pt>
                </c:lvl>
              </c:multiLvlStrCache>
            </c:multiLvlStrRef>
          </c:cat>
          <c:val>
            <c:numRef>
              <c:f>Sheet1!$C$2:$C$4</c:f>
              <c:numCache>
                <c:formatCode>General</c:formatCode>
                <c:ptCount val="3"/>
                <c:pt idx="0">
                  <c:v>0.208</c:v>
                </c:pt>
                <c:pt idx="1">
                  <c:v>0.463</c:v>
                </c:pt>
                <c:pt idx="2">
                  <c:v>0.736</c:v>
                </c:pt>
              </c:numCache>
            </c:numRef>
          </c:val>
        </c:ser>
        <c:ser>
          <c:idx val="2"/>
          <c:order val="2"/>
          <c:tx>
            <c:strRef>
              <c:f>Sheet1!$D$1</c:f>
              <c:strCache>
                <c:ptCount val="1"/>
                <c:pt idx="0">
                  <c:v>Gradient boosting</c:v>
                </c:pt>
              </c:strCache>
            </c:strRef>
          </c:tx>
          <c:spPr>
            <a:solidFill>
              <a:srgbClr val="5B6B83"/>
            </a:solidFill>
            <a:effectLst/>
          </c:spPr>
          <c:invertIfNegative val="0"/>
          <c:dLbls>
            <c:numFmt formatCode="0.000" sourceLinked="0"/>
            <c:txPr>
              <a:bodyPr/>
              <a:lstStyle/>
              <a:p>
                <a:pPr>
                  <a:defRPr b="0" i="0" strike="noStrike" sz="1100" u="none">
                    <a:solidFill>
                      <a:srgbClr val="111418"/>
                    </a:solidFill>
                    <a:latin typeface="+mn-lt"/>
                  </a:defRPr>
                </a:pPr>
              </a:p>
            </c:txPr>
            <c:showLegendKey val="0"/>
            <c:showVal val="1"/>
            <c:showCatName val="0"/>
            <c:showSerName val="0"/>
            <c:showPercent val="0"/>
            <c:showBubbleSize val="0"/>
            <c:showLeaderLines val="0"/>
          </c:dLbls>
          <c:cat>
            <c:multiLvlStrRef>
              <c:f>Sheet1!$A$2:$A$4</c:f>
              <c:multiLvlStrCache>
                <c:ptCount val="3"/>
                <c:lvl>
                  <c:pt idx="0">
                    <c:v>1 hour</c:v>
                  </c:pt>
                  <c:pt idx="1">
                    <c:v>6 hours</c:v>
                  </c:pt>
                  <c:pt idx="2">
                    <c:v>24 hours</c:v>
                  </c:pt>
                </c:lvl>
              </c:multiLvlStrCache>
            </c:multiLvlStrRef>
          </c:cat>
          <c:val>
            <c:numRef>
              <c:f>Sheet1!$D$2:$D$4</c:f>
              <c:numCache>
                <c:formatCode>General</c:formatCode>
                <c:ptCount val="3"/>
                <c:pt idx="0">
                  <c:v>0.178</c:v>
                </c:pt>
                <c:pt idx="1">
                  <c:v>0.451</c:v>
                </c:pt>
                <c:pt idx="2">
                  <c:v>0.736</c:v>
                </c:pt>
              </c:numCache>
            </c:numRef>
          </c:val>
        </c:ser>
        <c:ser>
          <c:idx val="3"/>
          <c:order val="3"/>
          <c:tx>
            <c:strRef>
              <c:f>Sheet1!$E$1</c:f>
              <c:strCache>
                <c:ptCount val="1"/>
                <c:pt idx="0">
                  <c:v>Independent cascade</c:v>
                </c:pt>
              </c:strCache>
            </c:strRef>
          </c:tx>
          <c:spPr>
            <a:solidFill>
              <a:srgbClr val="9AA7B8"/>
            </a:solidFill>
            <a:effectLst/>
          </c:spPr>
          <c:invertIfNegative val="0"/>
          <c:dLbls>
            <c:numFmt formatCode="0.000" sourceLinked="0"/>
            <c:txPr>
              <a:bodyPr/>
              <a:lstStyle/>
              <a:p>
                <a:pPr>
                  <a:defRPr b="0" i="0" strike="noStrike" sz="1100" u="none">
                    <a:solidFill>
                      <a:srgbClr val="111418"/>
                    </a:solidFill>
                    <a:latin typeface="+mn-lt"/>
                  </a:defRPr>
                </a:pPr>
              </a:p>
            </c:txPr>
            <c:showLegendKey val="0"/>
            <c:showVal val="1"/>
            <c:showCatName val="0"/>
            <c:showSerName val="0"/>
            <c:showPercent val="0"/>
            <c:showBubbleSize val="0"/>
            <c:showLeaderLines val="0"/>
          </c:dLbls>
          <c:cat>
            <c:multiLvlStrRef>
              <c:f>Sheet1!$A$2:$A$4</c:f>
              <c:multiLvlStrCache>
                <c:ptCount val="3"/>
                <c:lvl>
                  <c:pt idx="0">
                    <c:v>1 hour</c:v>
                  </c:pt>
                  <c:pt idx="1">
                    <c:v>6 hours</c:v>
                  </c:pt>
                  <c:pt idx="2">
                    <c:v>24 hours</c:v>
                  </c:pt>
                </c:lvl>
              </c:multiLvlStrCache>
            </c:multiLvlStrRef>
          </c:cat>
          <c:val>
            <c:numRef>
              <c:f>Sheet1!$E$2:$E$4</c:f>
              <c:numCache>
                <c:formatCode>General</c:formatCode>
                <c:ptCount val="3"/>
                <c:pt idx="0">
                  <c:v>0.159</c:v>
                </c:pt>
                <c:pt idx="1">
                  <c:v>0.381</c:v>
                </c:pt>
                <c:pt idx="2">
                  <c:v>0.672</c:v>
                </c:pt>
              </c:numCache>
            </c:numRef>
          </c:val>
        </c:ser>
        <c:ser>
          <c:idx val="4"/>
          <c:order val="4"/>
          <c:tx>
            <c:strRef>
              <c:f>Sheet1!$F$1</c:f>
              <c:strCache>
                <c:ptCount val="1"/>
                <c:pt idx="0">
                  <c:v>Random (positive rate)</c:v>
                </c:pt>
              </c:strCache>
            </c:strRef>
          </c:tx>
          <c:spPr>
            <a:solidFill>
              <a:srgbClr val="C9D0DB"/>
            </a:solidFill>
            <a:effectLst/>
          </c:spPr>
          <c:invertIfNegative val="0"/>
          <c:dLbls>
            <c:numFmt formatCode="0.000" sourceLinked="0"/>
            <c:txPr>
              <a:bodyPr/>
              <a:lstStyle/>
              <a:p>
                <a:pPr>
                  <a:defRPr b="0" i="0" strike="noStrike" sz="1100" u="none">
                    <a:solidFill>
                      <a:srgbClr val="111418"/>
                    </a:solidFill>
                    <a:latin typeface="+mn-lt"/>
                  </a:defRPr>
                </a:pPr>
              </a:p>
            </c:txPr>
            <c:showLegendKey val="0"/>
            <c:showVal val="1"/>
            <c:showCatName val="0"/>
            <c:showSerName val="0"/>
            <c:showPercent val="0"/>
            <c:showBubbleSize val="0"/>
            <c:showLeaderLines val="0"/>
          </c:dLbls>
          <c:cat>
            <c:multiLvlStrRef>
              <c:f>Sheet1!$A$2:$A$4</c:f>
              <c:multiLvlStrCache>
                <c:ptCount val="3"/>
                <c:lvl>
                  <c:pt idx="0">
                    <c:v>1 hour</c:v>
                  </c:pt>
                  <c:pt idx="1">
                    <c:v>6 hours</c:v>
                  </c:pt>
                  <c:pt idx="2">
                    <c:v>24 hours</c:v>
                  </c:pt>
                </c:lvl>
              </c:multiLvlStrCache>
            </c:multiLvlStrRef>
          </c:cat>
          <c:val>
            <c:numRef>
              <c:f>Sheet1!$F$2:$F$4</c:f>
              <c:numCache>
                <c:formatCode>General</c:formatCode>
                <c:ptCount val="3"/>
                <c:pt idx="0">
                  <c:v>0.105</c:v>
                </c:pt>
                <c:pt idx="1">
                  <c:v>0.31</c:v>
                </c:pt>
                <c:pt idx="2">
                  <c:v>0.627</c:v>
                </c:pt>
              </c:numCache>
            </c:numRef>
          </c:val>
        </c:ser>
        <c:dLbls>
          <c:numFmt formatCode="0.000" sourceLinked="0"/>
          <c:txPr>
            <a:bodyPr/>
            <a:lstStyle/>
            <a:p>
              <a:pPr>
                <a:defRPr b="0" i="0" strike="noStrike" sz="1100" u="none">
                  <a:solidFill>
                    <a:srgbClr val="111418"/>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5B6B83"/>
                </a:solidFill>
                <a:latin typeface="+mn-lt"/>
              </a:defRPr>
            </a:pPr>
            <a:endParaRPr lang="en-US"/>
          </a:p>
        </c:txPr>
        <c:crossAx val="2094734552"/>
        <c:crosses val="autoZero"/>
        <c:auto val="1"/>
        <c:lblAlgn val="ctr"/>
        <c:noMultiLvlLbl val="1"/>
      </c:catAx>
      <c:valAx>
        <c:axId val="2094734552"/>
        <c:scaling>
          <c:orientation val="minMax"/>
          <c:max val="0.85"/>
          <c:min val="0"/>
        </c:scaling>
        <c:delete val="0"/>
        <c:axPos val="l"/>
        <c:majorGridlines>
          <c:spPr>
            <a:ln w="9525" cap="flat">
              <a:solidFill>
                <a:srgbClr val="E3E7EE"/>
              </a:solidFill>
              <a:prstDash val="solid"/>
              <a:round/>
            </a:ln>
          </c:spPr>
        </c:majorGridlines>
        <c:numFmt formatCode="0.0" sourceLinked="0"/>
        <c:majorTickMark val="out"/>
        <c:minorTickMark val="none"/>
        <c:tickLblPos val="nextTo"/>
        <c:spPr>
          <a:ln w="12700" cap="flat">
            <a:noFill/>
            <a:prstDash val="solid"/>
            <a:round/>
          </a:ln>
        </c:spPr>
        <c:txPr>
          <a:bodyPr/>
          <a:lstStyle/>
          <a:p>
            <a:pPr>
              <a:defRPr sz="1200" b="0" i="0" u="none" strike="noStrike">
                <a:solidFill>
                  <a:srgbClr val="5B6B8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B6B8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11418"/>
                </a:solidFill>
                <a:latin typeface="+mn-lt"/>
              </a:defRPr>
            </a:pPr>
            <a:r>
              <a:rPr sz="1400" b="0" i="0" u="none" strike="noStrike">
                <a:solidFill>
                  <a:srgbClr val="111418"/>
                </a:solidFill>
                <a:latin typeface="+mn-lt"/>
              </a:rPr>
              <a:t>Test AUPRC at 1 hour, by type of source shock</a:t>
            </a:r>
          </a:p>
        </c:rich>
      </c:tx>
      <c:layout/>
      <c:overlay val="0"/>
    </c:title>
    <c:autoTitleDeleted val="0"/>
    <c:plotArea>
      <c:layout/>
      <c:barChart>
        <c:barDir val="col"/>
        <c:grouping val="clustered"/>
        <c:varyColors val="0"/>
        <c:ser>
          <c:idx val="0"/>
          <c:order val="0"/>
          <c:tx>
            <c:strRef>
              <c:f>Sheet1!$B$1</c:f>
              <c:strCache>
                <c:ptCount val="1"/>
                <c:pt idx="0">
                  <c:v>TGN</c:v>
                </c:pt>
              </c:strCache>
            </c:strRef>
          </c:tx>
          <c:spPr>
            <a:solidFill>
              <a:srgbClr val="E8553D"/>
            </a:solidFill>
            <a:effectLst/>
          </c:spPr>
          <c:invertIfNegative val="0"/>
          <c:dLbls>
            <c:numFmt formatCode="0.000" sourceLinked="0"/>
            <c:txPr>
              <a:bodyPr/>
              <a:lstStyle/>
              <a:p>
                <a:pPr>
                  <a:defRPr b="0" i="0" strike="noStrike" sz="1100" u="none">
                    <a:solidFill>
                      <a:srgbClr val="111418"/>
                    </a:solidFill>
                    <a:latin typeface="+mn-lt"/>
                  </a:defRPr>
                </a:pPr>
              </a:p>
            </c:txPr>
            <c:showLegendKey val="0"/>
            <c:showVal val="1"/>
            <c:showCatName val="0"/>
            <c:showSerName val="0"/>
            <c:showPercent val="0"/>
            <c:showBubbleSize val="0"/>
            <c:showLeaderLines val="0"/>
          </c:dLbls>
          <c:cat>
            <c:multiLvlStrRef>
              <c:f>Sheet1!$A$2:$A$7</c:f>
              <c:multiLvlStrCache>
                <c:ptCount val="6"/>
                <c:lvl>
                  <c:pt idx="0">
                    <c:v>Market-wide crash</c:v>
                  </c:pt>
                  <c:pt idx="1">
                    <c:v>Market-wide pump</c:v>
                  </c:pt>
                  <c:pt idx="2">
                    <c:v>Partial crash</c:v>
                  </c:pt>
                  <c:pt idx="3">
                    <c:v>Partial pump</c:v>
                  </c:pt>
                  <c:pt idx="4">
                    <c:v>Isolated crash</c:v>
                  </c:pt>
                  <c:pt idx="5">
                    <c:v>Isolated pump</c:v>
                  </c:pt>
                </c:lvl>
              </c:multiLvlStrCache>
            </c:multiLvlStrRef>
          </c:cat>
          <c:val>
            <c:numRef>
              <c:f>Sheet1!$B$2:$B$7</c:f>
              <c:numCache>
                <c:formatCode>General</c:formatCode>
                <c:ptCount val="6"/>
                <c:pt idx="0">
                  <c:v>0.245</c:v>
                </c:pt>
                <c:pt idx="1">
                  <c:v>0.225</c:v>
                </c:pt>
                <c:pt idx="2">
                  <c:v>0.13</c:v>
                </c:pt>
                <c:pt idx="3">
                  <c:v>0.129</c:v>
                </c:pt>
                <c:pt idx="4">
                  <c:v>0.114</c:v>
                </c:pt>
                <c:pt idx="5">
                  <c:v>0.086</c:v>
                </c:pt>
              </c:numCache>
            </c:numRef>
          </c:val>
        </c:ser>
        <c:ser>
          <c:idx val="1"/>
          <c:order val="1"/>
          <c:tx>
            <c:strRef>
              <c:f>Sheet1!$C$1</c:f>
              <c:strCache>
                <c:ptCount val="1"/>
                <c:pt idx="0">
                  <c:v>Gradient boosting</c:v>
                </c:pt>
              </c:strCache>
            </c:strRef>
          </c:tx>
          <c:spPr>
            <a:solidFill>
              <a:srgbClr val="5B6B83"/>
            </a:solidFill>
            <a:effectLst/>
          </c:spPr>
          <c:invertIfNegative val="0"/>
          <c:dLbls>
            <c:numFmt formatCode="0.000" sourceLinked="0"/>
            <c:txPr>
              <a:bodyPr/>
              <a:lstStyle/>
              <a:p>
                <a:pPr>
                  <a:defRPr b="0" i="0" strike="noStrike" sz="1100" u="none">
                    <a:solidFill>
                      <a:srgbClr val="111418"/>
                    </a:solidFill>
                    <a:latin typeface="+mn-lt"/>
                  </a:defRPr>
                </a:pPr>
              </a:p>
            </c:txPr>
            <c:showLegendKey val="0"/>
            <c:showVal val="1"/>
            <c:showCatName val="0"/>
            <c:showSerName val="0"/>
            <c:showPercent val="0"/>
            <c:showBubbleSize val="0"/>
            <c:showLeaderLines val="0"/>
          </c:dLbls>
          <c:cat>
            <c:multiLvlStrRef>
              <c:f>Sheet1!$A$2:$A$7</c:f>
              <c:multiLvlStrCache>
                <c:ptCount val="6"/>
                <c:lvl>
                  <c:pt idx="0">
                    <c:v>Market-wide crash</c:v>
                  </c:pt>
                  <c:pt idx="1">
                    <c:v>Market-wide pump</c:v>
                  </c:pt>
                  <c:pt idx="2">
                    <c:v>Partial crash</c:v>
                  </c:pt>
                  <c:pt idx="3">
                    <c:v>Partial pump</c:v>
                  </c:pt>
                  <c:pt idx="4">
                    <c:v>Isolated crash</c:v>
                  </c:pt>
                  <c:pt idx="5">
                    <c:v>Isolated pump</c:v>
                  </c:pt>
                </c:lvl>
              </c:multiLvlStrCache>
            </c:multiLvlStrRef>
          </c:cat>
          <c:val>
            <c:numRef>
              <c:f>Sheet1!$C$2:$C$7</c:f>
              <c:numCache>
                <c:formatCode>General</c:formatCode>
                <c:ptCount val="6"/>
                <c:pt idx="0">
                  <c:v>0.205</c:v>
                </c:pt>
                <c:pt idx="1">
                  <c:v>0.201</c:v>
                </c:pt>
                <c:pt idx="2">
                  <c:v>0.103</c:v>
                </c:pt>
                <c:pt idx="3">
                  <c:v>0.111</c:v>
                </c:pt>
                <c:pt idx="4">
                  <c:v>0.117</c:v>
                </c:pt>
                <c:pt idx="5">
                  <c:v>0.088</c:v>
                </c:pt>
              </c:numCache>
            </c:numRef>
          </c:val>
        </c:ser>
        <c:dLbls>
          <c:numFmt formatCode="0.000" sourceLinked="0"/>
          <c:txPr>
            <a:bodyPr/>
            <a:lstStyle/>
            <a:p>
              <a:pPr>
                <a:defRPr b="0" i="0" strike="noStrike" sz="1100" u="none">
                  <a:solidFill>
                    <a:srgbClr val="111418"/>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83"/>
                </a:solidFill>
                <a:latin typeface="+mn-lt"/>
              </a:defRPr>
            </a:pPr>
            <a:endParaRPr lang="en-US"/>
          </a:p>
        </c:txPr>
        <c:crossAx val="2094734552"/>
        <c:crosses val="autoZero"/>
        <c:auto val="1"/>
        <c:lblAlgn val="ctr"/>
        <c:noMultiLvlLbl val="1"/>
      </c:catAx>
      <c:valAx>
        <c:axId val="2094734552"/>
        <c:scaling>
          <c:orientation val="minMax"/>
          <c:max val="0.3"/>
          <c:min val="0"/>
        </c:scaling>
        <c:delete val="0"/>
        <c:axPos val="l"/>
        <c:majorGridlines>
          <c:spPr>
            <a:ln w="9525" cap="flat">
              <a:solidFill>
                <a:srgbClr val="E3E7EE"/>
              </a:solidFill>
              <a:prstDash val="solid"/>
              <a:round/>
            </a:ln>
          </c:spPr>
        </c:majorGridlines>
        <c:numFmt formatCode="0.00" sourceLinked="0"/>
        <c:majorTickMark val="out"/>
        <c:minorTickMark val="none"/>
        <c:tickLblPos val="nextTo"/>
        <c:spPr>
          <a:ln w="12700" cap="flat">
            <a:noFill/>
            <a:prstDash val="solid"/>
            <a:round/>
          </a:ln>
        </c:spPr>
        <c:txPr>
          <a:bodyPr/>
          <a:lstStyle/>
          <a:p>
            <a:pPr>
              <a:defRPr sz="1200" b="0" i="0" u="none" strike="noStrike">
                <a:solidFill>
                  <a:srgbClr val="5B6B8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B6B8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11418"/>
                </a:solidFill>
                <a:latin typeface="+mn-lt"/>
              </a:defRPr>
            </a:pPr>
            <a:r>
              <a:rPr sz="1400" b="0" i="0" u="none" strike="noStrike">
                <a:solidFill>
                  <a:srgbClr val="111418"/>
                </a:solidFill>
                <a:latin typeface="+mn-lt"/>
              </a:rPr>
              <a:t>Where an alert's score comes from</a:t>
            </a:r>
          </a:p>
        </c:rich>
      </c:tx>
      <c:layout/>
      <c:overlay val="0"/>
    </c:title>
    <c:autoTitleDeleted val="0"/>
    <c:plotArea>
      <c:layout/>
      <c:doughnutChart>
        <c:varyColors val="1"/>
        <c:ser>
          <c:idx val="0"/>
          <c:order val="0"/>
          <c:tx>
            <c:strRef>
              <c:f>Sheet1!$B$1</c:f>
              <c:strCache>
                <c:ptCount val="1"/>
                <c:pt idx="0">
                  <c:v>Share of the prediction</c:v>
                </c:pt>
              </c:strCache>
            </c:strRef>
          </c:tx>
          <c:spPr>
            <a:solidFill>
              <a:schemeClr val="accent1"/>
            </a:solidFill>
            <a:ln w="9525" cap="flat">
              <a:solidFill>
                <a:srgbClr val="F9F9F9"/>
              </a:solidFill>
              <a:prstDash val="solid"/>
              <a:round/>
            </a:ln>
            <a:effectLst/>
          </c:spPr>
          <c:dPt>
            <c:idx val="0"/>
            <c:bubble3D val="0"/>
            <c:spPr>
              <a:solidFill>
                <a:srgbClr val="E8553D"/>
              </a:solidFill>
              <a:ln w="25400" cap="flat">
                <a:solidFill>
                  <a:srgbClr val="FFFFFF"/>
                </a:solidFill>
                <a:prstDash val="solid"/>
                <a:round/>
              </a:ln>
              <a:effectLst/>
            </c:spPr>
          </c:dPt>
          <c:dPt>
            <c:idx val="1"/>
            <c:bubble3D val="0"/>
            <c:spPr>
              <a:solidFill>
                <a:srgbClr val="1F8A8A"/>
              </a:solidFill>
              <a:ln w="25400" cap="flat">
                <a:solidFill>
                  <a:srgbClr val="FFFFFF"/>
                </a:solidFill>
                <a:prstDash val="solid"/>
                <a:round/>
              </a:ln>
              <a:effectLst/>
            </c:spPr>
          </c:dPt>
          <c:dPt>
            <c:idx val="2"/>
            <c:bubble3D val="0"/>
            <c:spPr>
              <a:solidFill>
                <a:srgbClr val="5B6B83"/>
              </a:solidFill>
              <a:ln w="25400" cap="flat">
                <a:solidFill>
                  <a:srgbClr val="FFFFFF"/>
                </a:solidFill>
                <a:prstDash val="solid"/>
                <a:round/>
              </a:ln>
              <a:effectLst/>
            </c:spPr>
          </c:dPt>
          <c:dLbls>
            <c:dLbl>
              <c:idx val="0"/>
              <c:numFmt formatCode="0%" sourceLinked="0"/>
              <c:spPr/>
              <c:txPr>
                <a:bodyPr/>
                <a:lstStyle/>
                <a:p>
                  <a:pPr>
                    <a:defRPr sz="1600" b="1"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600" b="1"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600" b="1"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Receiving coin's state</c:v>
                </c:pt>
                <c:pt idx="1">
                  <c:v>Shocking coin's state</c:v>
                </c:pt>
                <c:pt idx="2">
                  <c:v>The shock event</c:v>
                </c:pt>
              </c:strCache>
            </c:strRef>
          </c:cat>
          <c:val>
            <c:numRef>
              <c:f>Sheet1!$B$2:$B$4</c:f>
              <c:numCache>
                <c:ptCount val="3"/>
                <c:pt idx="0">
                  <c:v>65</c:v>
                </c:pt>
                <c:pt idx="1">
                  <c:v>25</c:v>
                </c:pt>
                <c:pt idx="2">
                  <c:v>10</c:v>
                </c:pt>
              </c:numCache>
            </c:numRef>
          </c:val>
        </c:ser>
        <c:firstSliceAng val="0"/>
        <c:holeSize val="55"/>
      </c:doughnutChart>
      <c:spPr>
        <a:noFill/>
        <a:ln>
          <a:noFill/>
        </a:ln>
        <a:effectLst/>
      </c:spPr>
    </c:plotArea>
    <c:legend>
      <c:legendPos val="b"/>
      <c:overlay val="0"/>
      <c:txPr>
        <a:bodyPr/>
        <a:lstStyle/>
        <a:p>
          <a:pPr>
            <a:defRPr sz="1300">
              <a:solidFill>
                <a:srgbClr val="5B6B8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11418"/>
                </a:solidFill>
                <a:latin typeface="+mn-lt"/>
              </a:defRPr>
            </a:pPr>
            <a:r>
              <a:rPr sz="1400" b="0" i="0" u="none" strike="noStrike">
                <a:solidFill>
                  <a:srgbClr val="111418"/>
                </a:solidFill>
                <a:latin typeface="+mn-lt"/>
              </a:rPr>
              <a:t>Faithfulness of event-level explanations (higher is better)</a:t>
            </a:r>
          </a:p>
        </c:rich>
      </c:tx>
      <c:layout/>
      <c:overlay val="0"/>
    </c:title>
    <c:autoTitleDeleted val="0"/>
    <c:plotArea>
      <c:layout/>
      <c:barChart>
        <c:barDir val="bar"/>
        <c:grouping val="clustered"/>
        <c:varyColors val="0"/>
        <c:ser>
          <c:idx val="0"/>
          <c:order val="0"/>
          <c:tx>
            <c:strRef>
              <c:f>Sheet1!$B$1</c:f>
              <c:strCache>
                <c:ptCount val="1"/>
                <c:pt idx="0">
                  <c:v>Characterization score</c:v>
                </c:pt>
              </c:strCache>
            </c:strRef>
          </c:tx>
          <c:spPr>
            <a:solidFill>
              <a:srgbClr val="9AA7B8"/>
            </a:solidFill>
            <a:effectLst/>
          </c:spPr>
          <c:invertIfNegative val="0"/>
          <c:dLbls>
            <c:numFmt formatCode="0.000" sourceLinked="0"/>
            <c:txPr>
              <a:bodyPr/>
              <a:lstStyle/>
              <a:p>
                <a:pPr>
                  <a:defRPr b="0" i="0" strike="noStrike" sz="1300" u="none">
                    <a:solidFill>
                      <a:srgbClr val="111418"/>
                    </a:solidFill>
                    <a:latin typeface="+mn-lt"/>
                  </a:defRPr>
                </a:pPr>
              </a:p>
            </c:txPr>
            <c:showLegendKey val="0"/>
            <c:showVal val="1"/>
            <c:showCatName val="0"/>
            <c:showSerName val="0"/>
            <c:showPercent val="0"/>
            <c:showBubbleSize val="0"/>
            <c:showLeaderLines val="0"/>
          </c:dLbls>
          <c:dPt>
            <c:idx val="0"/>
            <c:invertIfNegative val="0"/>
            <c:bubble3D val="0"/>
            <c:spPr>
              <a:solidFill>
                <a:srgbClr val="9AA7B8"/>
              </a:solidFill>
              <a:effectLst/>
            </c:spPr>
          </c:dPt>
          <c:dPt>
            <c:idx val="1"/>
            <c:invertIfNegative val="0"/>
            <c:bubble3D val="0"/>
            <c:spPr>
              <a:solidFill>
                <a:srgbClr val="9AA7B8"/>
              </a:solidFill>
              <a:effectLst/>
            </c:spPr>
          </c:dPt>
          <c:dPt>
            <c:idx val="2"/>
            <c:invertIfNegative val="0"/>
            <c:bubble3D val="0"/>
            <c:spPr>
              <a:solidFill>
                <a:srgbClr val="E8553D"/>
              </a:solidFill>
              <a:effectLst/>
            </c:spPr>
          </c:dPt>
          <c:dPt>
            <c:idx val="3"/>
            <c:invertIfNegative val="0"/>
            <c:bubble3D val="0"/>
            <c:spPr>
              <a:solidFill>
                <a:srgbClr val="9AA7B8"/>
              </a:solidFill>
              <a:effectLst/>
            </c:spPr>
          </c:dPt>
          <c:dPt>
            <c:idx val="4"/>
            <c:invertIfNegative val="0"/>
            <c:bubble3D val="0"/>
            <c:spPr>
              <a:solidFill>
                <a:srgbClr val="9AA7B8"/>
              </a:solidFill>
              <a:effectLst/>
            </c:spPr>
          </c:dPt>
          <c:cat>
            <c:multiLvlStrRef>
              <c:f>Sheet1!$A$2:$A$6</c:f>
              <c:multiLvlStrCache>
                <c:ptCount val="5"/>
                <c:lvl>
                  <c:pt idx="0">
                    <c:v>Fitted per alert</c:v>
                  </c:pt>
                  <c:pt idx="1">
                    <c:v>Recent events</c:v>
                  </c:pt>
                  <c:pt idx="2">
                    <c:v>TempME</c:v>
                  </c:pt>
                  <c:pt idx="3">
                    <c:v>Random</c:v>
                  </c:pt>
                  <c:pt idx="4">
                    <c:v>TGN attention</c:v>
                  </c:pt>
                </c:lvl>
              </c:multiLvlStrCache>
            </c:multiLvlStrRef>
          </c:cat>
          <c:val>
            <c:numRef>
              <c:f>Sheet1!$B$2:$B$6</c:f>
              <c:numCache>
                <c:formatCode>General</c:formatCode>
                <c:ptCount val="5"/>
                <c:pt idx="0">
                  <c:v>0.248</c:v>
                </c:pt>
                <c:pt idx="1">
                  <c:v>0.192</c:v>
                </c:pt>
                <c:pt idx="2">
                  <c:v>0.157</c:v>
                </c:pt>
                <c:pt idx="3">
                  <c:v>0.152</c:v>
                </c:pt>
                <c:pt idx="4">
                  <c:v>0.147</c:v>
                </c:pt>
              </c:numCache>
            </c:numRef>
          </c:val>
        </c:ser>
        <c:dLbls>
          <c:numFmt formatCode="0.000" sourceLinked="0"/>
          <c:txPr>
            <a:bodyPr/>
            <a:lstStyle/>
            <a:p>
              <a:pPr>
                <a:defRPr b="0" i="0" strike="noStrike" sz="1300" u="none">
                  <a:solidFill>
                    <a:srgbClr val="111418"/>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5B6B83"/>
                </a:solidFill>
                <a:latin typeface="+mn-lt"/>
              </a:defRPr>
            </a:pPr>
            <a:endParaRPr lang="en-US"/>
          </a:p>
        </c:txPr>
        <c:crossAx val="2094734552"/>
        <c:crosses val="autoZero"/>
        <c:auto val="1"/>
        <c:lblAlgn val="ctr"/>
        <c:noMultiLvlLbl val="1"/>
      </c:catAx>
      <c:valAx>
        <c:axId val="2094734552"/>
        <c:scaling>
          <c:orientation val="minMax"/>
          <c:max val="0.3"/>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5B6B8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11418"/>
                </a:solidFill>
                <a:latin typeface="+mn-lt"/>
              </a:defRPr>
            </a:pPr>
            <a:r>
              <a:rPr sz="1400" b="0" i="0" u="none" strike="noStrike">
                <a:solidFill>
                  <a:srgbClr val="111418"/>
                </a:solidFill>
                <a:latin typeface="+mn-lt"/>
              </a:rPr>
              <a:t>Other coins that shock within 6 hours, by type of shock</a:t>
            </a:r>
          </a:p>
        </c:rich>
      </c:tx>
      <c:layout/>
      <c:overlay val="0"/>
    </c:title>
    <c:autoTitleDeleted val="0"/>
    <c:plotArea>
      <c:layout/>
      <c:barChart>
        <c:barDir val="bar"/>
        <c:grouping val="clustered"/>
        <c:varyColors val="0"/>
        <c:ser>
          <c:idx val="0"/>
          <c:order val="0"/>
          <c:tx>
            <c:strRef>
              <c:f>Sheet1!$B$1</c:f>
              <c:strCache>
                <c:ptCount val="1"/>
                <c:pt idx="0">
                  <c:v>Followers within 6 h</c:v>
                </c:pt>
              </c:strCache>
            </c:strRef>
          </c:tx>
          <c:spPr>
            <a:solidFill>
              <a:srgbClr val="E8553D"/>
            </a:solidFill>
            <a:effectLst/>
          </c:spPr>
          <c:invertIfNegative val="0"/>
          <c:dLbls>
            <c:numFmt formatCode="0.0" sourceLinked="0"/>
            <c:txPr>
              <a:bodyPr/>
              <a:lstStyle/>
              <a:p>
                <a:pPr>
                  <a:defRPr b="0" i="0" strike="noStrike" sz="1300" u="none">
                    <a:solidFill>
                      <a:srgbClr val="111418"/>
                    </a:solidFill>
                    <a:latin typeface="+mn-lt"/>
                  </a:defRPr>
                </a:pPr>
              </a:p>
            </c:txPr>
            <c:showLegendKey val="0"/>
            <c:showVal val="1"/>
            <c:showCatName val="0"/>
            <c:showSerName val="0"/>
            <c:showPercent val="0"/>
            <c:showBubbleSize val="0"/>
            <c:showLeaderLines val="0"/>
          </c:dLbls>
          <c:dPt>
            <c:idx val="0"/>
            <c:invertIfNegative val="0"/>
            <c:bubble3D val="0"/>
            <c:spPr>
              <a:solidFill>
                <a:srgbClr val="E8553D"/>
              </a:solidFill>
              <a:effectLst/>
            </c:spPr>
          </c:dPt>
          <c:dPt>
            <c:idx val="1"/>
            <c:invertIfNegative val="0"/>
            <c:bubble3D val="0"/>
            <c:spPr>
              <a:solidFill>
                <a:srgbClr val="E8553D"/>
              </a:solidFill>
              <a:effectLst/>
            </c:spPr>
          </c:dPt>
          <c:dPt>
            <c:idx val="2"/>
            <c:invertIfNegative val="0"/>
            <c:bubble3D val="0"/>
            <c:spPr>
              <a:solidFill>
                <a:srgbClr val="5B6B83"/>
              </a:solidFill>
              <a:effectLst/>
            </c:spPr>
          </c:dPt>
          <c:dPt>
            <c:idx val="3"/>
            <c:invertIfNegative val="0"/>
            <c:bubble3D val="0"/>
            <c:spPr>
              <a:solidFill>
                <a:srgbClr val="5B6B83"/>
              </a:solidFill>
              <a:effectLst/>
            </c:spPr>
          </c:dPt>
          <c:dPt>
            <c:idx val="4"/>
            <c:invertIfNegative val="0"/>
            <c:bubble3D val="0"/>
            <c:spPr>
              <a:solidFill>
                <a:srgbClr val="9AA7B8"/>
              </a:solidFill>
              <a:effectLst/>
            </c:spPr>
          </c:dPt>
          <c:dPt>
            <c:idx val="5"/>
            <c:invertIfNegative val="0"/>
            <c:bubble3D val="0"/>
            <c:spPr>
              <a:solidFill>
                <a:srgbClr val="9AA7B8"/>
              </a:solidFill>
              <a:effectLst/>
            </c:spPr>
          </c:dPt>
          <c:cat>
            <c:multiLvlStrRef>
              <c:f>Sheet1!$A$2:$A$7</c:f>
              <c:multiLvlStrCache>
                <c:ptCount val="6"/>
                <c:lvl>
                  <c:pt idx="0">
                    <c:v>Market-wide crash</c:v>
                  </c:pt>
                  <c:pt idx="1">
                    <c:v>Market-wide pump</c:v>
                  </c:pt>
                  <c:pt idx="2">
                    <c:v>Partial crash</c:v>
                  </c:pt>
                  <c:pt idx="3">
                    <c:v>Partial pump</c:v>
                  </c:pt>
                  <c:pt idx="4">
                    <c:v>Isolated crash</c:v>
                  </c:pt>
                  <c:pt idx="5">
                    <c:v>Isolated pump</c:v>
                  </c:pt>
                </c:lvl>
              </c:multiLvlStrCache>
            </c:multiLvlStrRef>
          </c:cat>
          <c:val>
            <c:numRef>
              <c:f>Sheet1!$B$2:$B$7</c:f>
              <c:numCache>
                <c:formatCode>General</c:formatCode>
                <c:ptCount val="6"/>
                <c:pt idx="0">
                  <c:v>8.1</c:v>
                </c:pt>
                <c:pt idx="1">
                  <c:v>7.2</c:v>
                </c:pt>
                <c:pt idx="2">
                  <c:v>6.2</c:v>
                </c:pt>
                <c:pt idx="3">
                  <c:v>6.2</c:v>
                </c:pt>
                <c:pt idx="4">
                  <c:v>5.1</c:v>
                </c:pt>
                <c:pt idx="5">
                  <c:v>4.5</c:v>
                </c:pt>
              </c:numCache>
            </c:numRef>
          </c:val>
        </c:ser>
        <c:dLbls>
          <c:numFmt formatCode="0.0" sourceLinked="0"/>
          <c:txPr>
            <a:bodyPr/>
            <a:lstStyle/>
            <a:p>
              <a:pPr>
                <a:defRPr b="0" i="0" strike="noStrike" sz="1300" u="none">
                  <a:solidFill>
                    <a:srgbClr val="111418"/>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5B6B83"/>
                </a:solidFill>
                <a:latin typeface="+mn-lt"/>
              </a:defRPr>
            </a:pPr>
            <a:endParaRPr lang="en-US"/>
          </a:p>
        </c:txPr>
        <c:crossAx val="2094734552"/>
        <c:crosses val="autoZero"/>
        <c:auto val="1"/>
        <c:lblAlgn val="ctr"/>
        <c:noMultiLvlLbl val="1"/>
      </c:catAx>
      <c:valAx>
        <c:axId val="2094734552"/>
        <c:scaling>
          <c:orientation val="minMax"/>
          <c:max val="10"/>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5B6B8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11418"/>
                </a:solidFill>
                <a:latin typeface="+mn-lt"/>
              </a:defRPr>
            </a:pPr>
            <a:r>
              <a:rPr sz="1400" b="0" i="0" u="none" strike="noStrike">
                <a:solidFill>
                  <a:srgbClr val="111418"/>
                </a:solidFill>
                <a:latin typeface="+mn-lt"/>
              </a:rPr>
              <a:t>AUPRC lost at 1 hour (%), in standard deviations of the inputs</a:t>
            </a:r>
          </a:p>
        </c:rich>
      </c:tx>
      <c:layout/>
      <c:overlay val="0"/>
    </c:title>
    <c:autoTitleDeleted val="0"/>
    <c:plotArea>
      <c:layout/>
      <c:barChart>
        <c:barDir val="col"/>
        <c:grouping val="clustered"/>
        <c:varyColors val="0"/>
        <c:ser>
          <c:idx val="0"/>
          <c:order val="0"/>
          <c:tx>
            <c:strRef>
              <c:f>Sheet1!$B$1</c:f>
              <c:strCache>
                <c:ptCount val="1"/>
                <c:pt idx="0">
                  <c:v>Random noise</c:v>
                </c:pt>
              </c:strCache>
            </c:strRef>
          </c:tx>
          <c:spPr>
            <a:solidFill>
              <a:srgbClr val="5B6B83"/>
            </a:solidFill>
            <a:effectLst/>
          </c:spPr>
          <c:invertIfNegative val="0"/>
          <c:dLbls>
            <c:numFmt formatCode="0.0&quot;%&quot;" sourceLinked="0"/>
            <c:txPr>
              <a:bodyPr/>
              <a:lstStyle/>
              <a:p>
                <a:pPr>
                  <a:defRPr b="0" i="0" strike="noStrike" sz="1400" u="none">
                    <a:solidFill>
                      <a:srgbClr val="111418"/>
                    </a:solidFill>
                    <a:latin typeface="+mn-lt"/>
                  </a:defRPr>
                </a:pPr>
              </a:p>
            </c:txPr>
            <c:showLegendKey val="0"/>
            <c:showVal val="1"/>
            <c:showCatName val="0"/>
            <c:showSerName val="0"/>
            <c:showPercent val="0"/>
            <c:showBubbleSize val="0"/>
            <c:showLeaderLines val="0"/>
          </c:dLbls>
          <c:cat>
            <c:multiLvlStrRef>
              <c:f>Sheet1!$A$2:$A$3</c:f>
              <c:multiLvlStrCache>
                <c:ptCount val="2"/>
                <c:lvl>
                  <c:pt idx="0">
                    <c:v>Perturbation size 0.1</c:v>
                  </c:pt>
                  <c:pt idx="1">
                    <c:v>Perturbation size 0.25</c:v>
                  </c:pt>
                </c:lvl>
              </c:multiLvlStrCache>
            </c:multiLvlStrRef>
          </c:cat>
          <c:val>
            <c:numRef>
              <c:f>Sheet1!$B$2:$B$3</c:f>
              <c:numCache>
                <c:formatCode>General</c:formatCode>
                <c:ptCount val="2"/>
                <c:pt idx="0">
                  <c:v>0.2</c:v>
                </c:pt>
                <c:pt idx="1">
                  <c:v>1.6</c:v>
                </c:pt>
              </c:numCache>
            </c:numRef>
          </c:val>
        </c:ser>
        <c:ser>
          <c:idx val="1"/>
          <c:order val="1"/>
          <c:tx>
            <c:strRef>
              <c:f>Sheet1!$C$1</c:f>
              <c:strCache>
                <c:ptCount val="1"/>
                <c:pt idx="0">
                  <c:v>FGSM attack</c:v>
                </c:pt>
              </c:strCache>
            </c:strRef>
          </c:tx>
          <c:spPr>
            <a:solidFill>
              <a:srgbClr val="E8553D"/>
            </a:solidFill>
            <a:effectLst/>
          </c:spPr>
          <c:invertIfNegative val="0"/>
          <c:dLbls>
            <c:numFmt formatCode="0.0&quot;%&quot;" sourceLinked="0"/>
            <c:txPr>
              <a:bodyPr/>
              <a:lstStyle/>
              <a:p>
                <a:pPr>
                  <a:defRPr b="0" i="0" strike="noStrike" sz="1400" u="none">
                    <a:solidFill>
                      <a:srgbClr val="111418"/>
                    </a:solidFill>
                    <a:latin typeface="+mn-lt"/>
                  </a:defRPr>
                </a:pPr>
              </a:p>
            </c:txPr>
            <c:showLegendKey val="0"/>
            <c:showVal val="1"/>
            <c:showCatName val="0"/>
            <c:showSerName val="0"/>
            <c:showPercent val="0"/>
            <c:showBubbleSize val="0"/>
            <c:showLeaderLines val="0"/>
          </c:dLbls>
          <c:cat>
            <c:multiLvlStrRef>
              <c:f>Sheet1!$A$2:$A$3</c:f>
              <c:multiLvlStrCache>
                <c:ptCount val="2"/>
                <c:lvl>
                  <c:pt idx="0">
                    <c:v>Perturbation size 0.1</c:v>
                  </c:pt>
                  <c:pt idx="1">
                    <c:v>Perturbation size 0.25</c:v>
                  </c:pt>
                </c:lvl>
              </c:multiLvlStrCache>
            </c:multiLvlStrRef>
          </c:cat>
          <c:val>
            <c:numRef>
              <c:f>Sheet1!$C$2:$C$3</c:f>
              <c:numCache>
                <c:formatCode>General</c:formatCode>
                <c:ptCount val="2"/>
                <c:pt idx="0">
                  <c:v>35.4</c:v>
                </c:pt>
                <c:pt idx="1">
                  <c:v>60.6</c:v>
                </c:pt>
              </c:numCache>
            </c:numRef>
          </c:val>
        </c:ser>
        <c:dLbls>
          <c:numFmt formatCode="0.0&quot;%&quot;" sourceLinked="0"/>
          <c:txPr>
            <a:bodyPr/>
            <a:lstStyle/>
            <a:p>
              <a:pPr>
                <a:defRPr b="0" i="0" strike="noStrike" sz="1400" u="none">
                  <a:solidFill>
                    <a:srgbClr val="111418"/>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5B6B83"/>
                </a:solidFill>
                <a:latin typeface="+mn-lt"/>
              </a:defRPr>
            </a:pPr>
            <a:endParaRPr lang="en-US"/>
          </a:p>
        </c:txPr>
        <c:crossAx val="2094734552"/>
        <c:crosses val="autoZero"/>
        <c:auto val="1"/>
        <c:lblAlgn val="ctr"/>
        <c:noMultiLvlLbl val="1"/>
      </c:catAx>
      <c:valAx>
        <c:axId val="2094734552"/>
        <c:scaling>
          <c:orientation val="minMax"/>
          <c:max val="70"/>
          <c:min val="0"/>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5B6B8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B6B8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11418"/>
                </a:solidFill>
                <a:latin typeface="+mn-lt"/>
              </a:defRPr>
            </a:pPr>
            <a:r>
              <a:rPr sz="1400" b="0" i="0" u="none" strike="noStrike">
                <a:solidFill>
                  <a:srgbClr val="111418"/>
                </a:solidFill>
                <a:latin typeface="+mn-lt"/>
              </a:rPr>
              <a:t>Coins that shocked within 6 hours (out of 5)</a:t>
            </a:r>
          </a:p>
        </c:rich>
      </c:tx>
      <c:layout/>
      <c:overlay val="0"/>
    </c:title>
    <c:autoTitleDeleted val="0"/>
    <c:plotArea>
      <c:layout/>
      <c:barChart>
        <c:barDir val="col"/>
        <c:grouping val="clustered"/>
        <c:varyColors val="0"/>
        <c:ser>
          <c:idx val="0"/>
          <c:order val="0"/>
          <c:tx>
            <c:strRef>
              <c:f>Sheet1!$B$1</c:f>
              <c:strCache>
                <c:ptCount val="1"/>
                <c:pt idx="0">
                  <c:v>Model's five riskiest coins</c:v>
                </c:pt>
              </c:strCache>
            </c:strRef>
          </c:tx>
          <c:spPr>
            <a:solidFill>
              <a:srgbClr val="E8553D"/>
            </a:solidFill>
            <a:effectLst/>
          </c:spPr>
          <c:invertIfNegative val="0"/>
          <c:dLbls>
            <c:numFmt formatCode="0.0" sourceLinked="0"/>
            <c:txPr>
              <a:bodyPr/>
              <a:lstStyle/>
              <a:p>
                <a:pPr>
                  <a:defRPr b="0" i="0" strike="noStrike" sz="1100" u="none">
                    <a:solidFill>
                      <a:srgbClr val="111418"/>
                    </a:solidFill>
                    <a:latin typeface="+mn-lt"/>
                  </a:defRPr>
                </a:pPr>
              </a:p>
            </c:txPr>
            <c:showLegendKey val="0"/>
            <c:showVal val="1"/>
            <c:showCatName val="0"/>
            <c:showSerName val="0"/>
            <c:showPercent val="0"/>
            <c:showBubbleSize val="0"/>
            <c:showLeaderLines val="0"/>
          </c:dLbls>
          <c:cat>
            <c:multiLvlStrRef>
              <c:f>Sheet1!$A$2:$A$10</c:f>
              <c:multiLvlStrCache>
                <c:ptCount val="9"/>
                <c:lvl>
                  <c:pt idx="0">
                    <c:v>COVID 2020</c:v>
                  </c:pt>
                  <c:pt idx="1">
                    <c:v>China ban 2021</c:v>
                  </c:pt>
                  <c:pt idx="2">
                    <c:v>LUNA 2022</c:v>
                  </c:pt>
                  <c:pt idx="3">
                    <c:v>Celsius 2022</c:v>
                  </c:pt>
                  <c:pt idx="4">
                    <c:v>FTX 2022</c:v>
                  </c:pt>
                  <c:pt idx="5">
                    <c:v>SVB 2023</c:v>
                  </c:pt>
                  <c:pt idx="6">
                    <c:v>BTC ETF 2024</c:v>
                  </c:pt>
                  <c:pt idx="7">
                    <c:v>Yen 2024</c:v>
                  </c:pt>
                  <c:pt idx="8">
                    <c:v>Oct-10 2025</c:v>
                  </c:pt>
                </c:lvl>
              </c:multiLvlStrCache>
            </c:multiLvlStrRef>
          </c:cat>
          <c:val>
            <c:numRef>
              <c:f>Sheet1!$B$2:$B$10</c:f>
              <c:numCache>
                <c:formatCode>General</c:formatCode>
                <c:ptCount val="9"/>
                <c:pt idx="0">
                  <c:v>3</c:v>
                </c:pt>
                <c:pt idx="1">
                  <c:v>4</c:v>
                </c:pt>
                <c:pt idx="2">
                  <c:v>3</c:v>
                </c:pt>
                <c:pt idx="3">
                  <c:v>2</c:v>
                </c:pt>
                <c:pt idx="4">
                  <c:v>5</c:v>
                </c:pt>
                <c:pt idx="5">
                  <c:v>2</c:v>
                </c:pt>
                <c:pt idx="6">
                  <c:v>3</c:v>
                </c:pt>
                <c:pt idx="7">
                  <c:v>5</c:v>
                </c:pt>
                <c:pt idx="8">
                  <c:v>5</c:v>
                </c:pt>
              </c:numCache>
            </c:numRef>
          </c:val>
        </c:ser>
        <c:ser>
          <c:idx val="1"/>
          <c:order val="1"/>
          <c:tx>
            <c:strRef>
              <c:f>Sheet1!$C$1</c:f>
              <c:strCache>
                <c:ptCount val="1"/>
                <c:pt idx="0">
                  <c:v>Five random coins (expected)</c:v>
                </c:pt>
              </c:strCache>
            </c:strRef>
          </c:tx>
          <c:spPr>
            <a:solidFill>
              <a:srgbClr val="C9D0DB"/>
            </a:solidFill>
            <a:effectLst/>
          </c:spPr>
          <c:invertIfNegative val="0"/>
          <c:dLbls>
            <c:numFmt formatCode="0.0" sourceLinked="0"/>
            <c:txPr>
              <a:bodyPr/>
              <a:lstStyle/>
              <a:p>
                <a:pPr>
                  <a:defRPr b="0" i="0" strike="noStrike" sz="1100" u="none">
                    <a:solidFill>
                      <a:srgbClr val="111418"/>
                    </a:solidFill>
                    <a:latin typeface="+mn-lt"/>
                  </a:defRPr>
                </a:pPr>
              </a:p>
            </c:txPr>
            <c:showLegendKey val="0"/>
            <c:showVal val="1"/>
            <c:showCatName val="0"/>
            <c:showSerName val="0"/>
            <c:showPercent val="0"/>
            <c:showBubbleSize val="0"/>
            <c:showLeaderLines val="0"/>
          </c:dLbls>
          <c:cat>
            <c:multiLvlStrRef>
              <c:f>Sheet1!$A$2:$A$10</c:f>
              <c:multiLvlStrCache>
                <c:ptCount val="9"/>
                <c:lvl>
                  <c:pt idx="0">
                    <c:v>COVID 2020</c:v>
                  </c:pt>
                  <c:pt idx="1">
                    <c:v>China ban 2021</c:v>
                  </c:pt>
                  <c:pt idx="2">
                    <c:v>LUNA 2022</c:v>
                  </c:pt>
                  <c:pt idx="3">
                    <c:v>Celsius 2022</c:v>
                  </c:pt>
                  <c:pt idx="4">
                    <c:v>FTX 2022</c:v>
                  </c:pt>
                  <c:pt idx="5">
                    <c:v>SVB 2023</c:v>
                  </c:pt>
                  <c:pt idx="6">
                    <c:v>BTC ETF 2024</c:v>
                  </c:pt>
                  <c:pt idx="7">
                    <c:v>Yen 2024</c:v>
                  </c:pt>
                  <c:pt idx="8">
                    <c:v>Oct-10 2025</c:v>
                  </c:pt>
                </c:lvl>
              </c:multiLvlStrCache>
            </c:multiLvlStrRef>
          </c:cat>
          <c:val>
            <c:numRef>
              <c:f>Sheet1!$C$2:$C$10</c:f>
              <c:numCache>
                <c:formatCode>General</c:formatCode>
                <c:ptCount val="9"/>
                <c:pt idx="0">
                  <c:v>3.7</c:v>
                </c:pt>
                <c:pt idx="1">
                  <c:v>4.1</c:v>
                </c:pt>
                <c:pt idx="2">
                  <c:v>2.5</c:v>
                </c:pt>
                <c:pt idx="3">
                  <c:v>1.9</c:v>
                </c:pt>
                <c:pt idx="4">
                  <c:v>5</c:v>
                </c:pt>
                <c:pt idx="5">
                  <c:v>1.2</c:v>
                </c:pt>
                <c:pt idx="6">
                  <c:v>1.6</c:v>
                </c:pt>
                <c:pt idx="7">
                  <c:v>5</c:v>
                </c:pt>
                <c:pt idx="8">
                  <c:v>5</c:v>
                </c:pt>
              </c:numCache>
            </c:numRef>
          </c:val>
        </c:ser>
        <c:dLbls>
          <c:numFmt formatCode="0.0" sourceLinked="0"/>
          <c:txPr>
            <a:bodyPr/>
            <a:lstStyle/>
            <a:p>
              <a:pPr>
                <a:defRPr b="0" i="0" strike="noStrike" sz="1100" u="none">
                  <a:solidFill>
                    <a:srgbClr val="111418"/>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83"/>
                </a:solidFill>
                <a:latin typeface="+mn-lt"/>
              </a:defRPr>
            </a:pPr>
            <a:endParaRPr lang="en-US"/>
          </a:p>
        </c:txPr>
        <c:crossAx val="2094734552"/>
        <c:crosses val="autoZero"/>
        <c:auto val="1"/>
        <c:lblAlgn val="ctr"/>
        <c:noMultiLvlLbl val="1"/>
      </c:catAx>
      <c:valAx>
        <c:axId val="2094734552"/>
        <c:scaling>
          <c:orientation val="minMax"/>
          <c:max val="6"/>
          <c:min val="0"/>
        </c:scaling>
        <c:delete val="0"/>
        <c:axPos val="l"/>
        <c:majorGridlines>
          <c:spPr>
            <a:ln w="9525" cap="flat">
              <a:solidFill>
                <a:srgbClr val="E3E7EE"/>
              </a:solidFill>
              <a:prstDash val="solid"/>
              <a:round/>
            </a:ln>
          </c:spPr>
        </c:majorGridlines>
        <c:numFmt formatCode="0" sourceLinked="0"/>
        <c:majorTickMark val="out"/>
        <c:minorTickMark val="none"/>
        <c:tickLblPos val="nextTo"/>
        <c:spPr>
          <a:ln w="12700" cap="flat">
            <a:noFill/>
            <a:prstDash val="solid"/>
            <a:round/>
          </a:ln>
        </c:spPr>
        <c:txPr>
          <a:bodyPr/>
          <a:lstStyle/>
          <a:p>
            <a:pPr>
              <a:defRPr sz="1200" b="0" i="0" u="none" strike="noStrike">
                <a:solidFill>
                  <a:srgbClr val="5B6B8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B6B8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we predict, for every pair of coins, whether a volatility shock in one coin will be followed by a shock in another within hours. The graphic is the idea in one picture: coin i shocks, and the shock may spread to the other coins in the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Classical contagion studies use correlations and spillover indices. They describe how strongly assets are linked on average, but do not say which asset will shock next. We cast this as a supervised prediction task. The class is rare: only 10.5% of test events are positive at one hour, so accuracy would be misleading.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research questions from the report. The teal line in each card is the short answer; the rest of the talk shows the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Hourly spot candles from the Binance public data archive, 30 coins chosen from a CoinGecko market-cap ranking. Daily Yahoo Finance and Coin Metrics data are used only to cross-check the hourly prices and flag USDT depegs. Splits are by date, never random, with a 7-day embargo at each boundary so no sample straddles two periods. Test is 2024 to September 2026 and was scored once per final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shock is a move that is large relative to the coin's own recent volatility: the de-seasonalised hourly return divided by the standard deviation of the previous 168 hourly returns, up to hour t minus 1. The threshold 2.29 was fitted on the training period so that about 4% of hours are shocks, then frozen. A contagion event is created for every other coin whenever a coin shocks; its label says whether that coin shocks in a strictly later hour within k hours. Shocks are typed by breadth, the share of other coins shocking in the same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is a set of scripted stages that can be re-run from the raw download. Everything that is fitted (scalers, seasonality profile, shock threshold, graph threshold, model weights) uses the training period only, and every run is logged with its configuration, seed and git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correlation networks, minimum spanning trees, Diebold-Yilmaz spillover networks and a shock-transmission network. The largest correlation eigenvalue is 19.3 out of 30, so one market factor explains 64% of hourly variance. Communities partly follow sectors, but the probability that another coin shocks within an hour is the same inside and across sectors, except for meme coins. In all nine crises in the hourly period the network tightens.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model is a Temporal Graph Network. Every coin carries a 64-dimensional memory that a GRU updates after each event. For an event i to j at hour t, a one-layer temporal attention over each coin's ten most recent events gives a 64-dimensional embedding. The prediction head concatenates both embeddings, both 14-dimensional node vectors and the 5-dimensional event vector, which is 161 inputs, applies a 64-unit ReLU layer and outputs five logits, one per horizon. The model has 70,021 parameters. Memory and neighbour lists are updated only after a batch has been scored, which prevents look-ahead.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model was chosen to answer one question. The cascade is the network-science baseline, boosting uses the same inputs without the graph, the LSTM sees only one coin, the no-memory TGN isolates memory, and DyGFormer checks that the result does not depend on one architecture. Accuracy is meaningless here, so we use average precision, and we test differences with a day-block bootstrap because one crash creates hundreds of correlated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AUPRC: at one hour the TGN reaches 0.205 against a random level of 0.105 and 0.159 for the independent cascade; at 24 hours it reaches 0.739. DyGFormer ties the TGN at every horizon, so the result does not depend on one architecture. The TGN beats the cascade at every horizon in the day-block bootstrap. Against gradient boosting the TGN is better at 1 to 3 hours, but the intervals only just include zero, so the evidence is borderline; from 6 hours on they are tied. The riskiest 1% of TGN alerts come true 61% of the time within 3 hours and 76% within 6 hours, against 21% and 31% for random selection.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split the test events by how widely the source shock spreads. After market-wide and partial shocks the TGN beats gradient boosting; after isolated shocks the two are level, because when one coin moves on its own news the network adds nothing beyond that coin's own state. Removing memory and attention leaves the one-hour score unchanged but lowers it by 0.010 to 0.013 at 6 to 24 hours. Boosting matched the TGN on validation but had memorised the training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Integrated gradients on the prediction head split each prediction exactly into contributions from its inputs, with completeness checked. About 65% comes from the receiving coin's own state, led by its volume surge against its past week, its 24-hour volatility and its latest return; about 25% from the shocking coin and about 10% from the shock event itself. We also ported TempME, an event-level explainer for temporal graph networks. Its score is barely above random choice, because the TGN's attention is almost uniform and event motifs look the same as in a time-shuffled stream: shocks spread market-wide within the hour, not along chains. For that reason the tool and dashboard explain alerts with integrated gradients.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18,171 fresh shocks, meaning no shock of the same coin in the previous 24 hours, a coin's volatility returns to its pre-shock level after a median of 8 to 10 hours for every shock type. Shocks cluster: 55 to 65% are followed by another shock of the same coin within 24 hours. Compared with an ordinary hour of the same coin in the same month, the extra volatility halves in about 2.5 hours in every sector, with no sector differences. A market-wide crash is followed by about 8 other coins shocking within 6 hours. Crises differ in intensity rather than reach: LUNA raised the shock rate most, the BTC ETF approval least.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tests use the seed-0 TGN checkpoint. Removing up to half of the past events changes the AUPRC by under 0.5%, and random Gaussian noise of 0.5 standard deviations costs 5.7%. A white-box FGSM attack of size 0.1 reduces the one-hour AUPRC by about 35%, while random noise of the same size costs under 1%: the real risk is deliberate manipulation. A stronger 10-step PGD attack is within 0.002 AUPRC of FGSM. The top driver of an alert stays the same for 97 to 99% of alerts under input noise. The graph autoencoder for anomaly detection was a negative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trained model is usable without touching the research code. The prediction command loads the final TGN and the latest data and reports each coin's chance of a shock within 1 to 24 hours with the main reasons for each alert. The raw scores are calibrated on the validation period only. We also tested whether a compressed model is better for CPU serving: 8-bit quantisation makes the file three times smaller but slower and costs a small, significant amount of accuracy, and pruning brings nothing, so we serve the full model. The dashboard is written for readers with no data-science background. Its What if? tab lets the user move one coin's price and watch the move spread to the other coins hour by hour, from a vector autoregression fitted on recent hourly returns; most of the spread happens within the same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catalogued crisis, anchored at the hour of its date with the most coins in shock, we took the model's five riskiest coins at that hour and counted how many shocked within six hours, against the number expected from picking five coins at random. Only the three test-period crises are genuine forecasts: the model learned from the training-period ones and the validation ones were used to tune it. In the FTX collapse, the yen carry-trade unwind and the 10 October 2025 cascade, every coin shocked, so the comparison says nothing. The BTC ETF approval is the one clean test win: 3 of 5 against 1.6 by chance.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Engineering matters for credibility. The code has 208 automated tests that run on GitHub on every push, with pinned library versions. Data is shared as a package with a SHA-256 checksum for every file and is never stored in git. Every run logs its configuration, seed, git commit and library versions. All tuning used validation data and the test period was scored once per final model; every variant scored on test is listed in the report. An internal review found a leaky label and a broken baseline in the first version; everything was rebuilt and re-run.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edge over chance is modest, between 1.2 and 2 times random, so this is a ranking tool, not a precise forecaster. It covers one market and one exchange, and the test period holds only three catalogued crises. The model is vulnerable to targeted manipulation of its inputs. Next steps are a rolling second test window, defences such as adversarial training and cross-source input checks, a live data feed with periodic re-calibration, social-media and order-book features, an economic evaluation of alerts, and a written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three messages: contagion is partly predictable; the signal is the receiving coin's state and it is a market-wide, within-the-hour effect; and the work is deployed, with targeted manipulation as the main risk. Then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600200"/>
            <a:ext cx="6400800" cy="914400"/>
          </a:xfrm>
          <a:prstGeom prst="rect">
            <a:avLst/>
          </a:prstGeom>
          <a:noFill/>
          <a:ln/>
        </p:spPr>
        <p:txBody>
          <a:bodyPr wrap="square" rtlCol="0"/>
          <a:lstStyle>
            <a:lvl1pPr algn="l" indent="0" marL="0">
              <a:buNone/>
              <a:defRPr lang="en-US" sz="4600" b="1" dirty="0">
                <a:solidFill>
                  <a:schemeClr val="bg1"/>
                </a:solidFill>
              </a:defRPr>
            </a:lvl1pPr>
          </a:lstStyle>
          <a:p>
            <a:pPr algn="l" indent="0" marL="0">
              <a:buNone/>
            </a:pPr>
            <a:endParaRPr lang="en-US" sz="4600" dirty="0"/>
          </a:p>
        </p:txBody>
      </p:sp>
      <p:sp>
        <p:nvSpPr>
          <p:cNvPr id="3" name="Text 0"/>
          <p:cNvSpPr/>
          <p:nvPr>
            <p:ph idx="101" type="body" hasCustomPrompt="1"/>
          </p:nvPr>
        </p:nvSpPr>
        <p:spPr>
          <a:xfrm>
            <a:off x="731520" y="2651760"/>
            <a:ext cx="6035040" cy="1097280"/>
          </a:xfrm>
          <a:prstGeom prst="rect">
            <a:avLst/>
          </a:prstGeom>
          <a:noFill/>
          <a:ln/>
        </p:spPr>
        <p:txBody>
          <a:bodyPr wrap="square" rtlCol="0"/>
          <a:lstStyle>
            <a:lvl1pPr algn="l" indent="0" marL="0">
              <a:buNone/>
              <a:defRPr lang="en-US" sz="2400" dirty="0">
                <a:solidFill>
                  <a:schemeClr val="bg2"/>
                </a:solidFill>
              </a:defRPr>
            </a:lvl1pPr>
          </a:lstStyle>
          <a:p>
            <a:pPr algn="l"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3152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p:nvPr>
            <p:ph idx="101" type="body" hasCustomPrompt="1"/>
          </p:nvPr>
        </p:nvSpPr>
        <p:spPr>
          <a:xfrm>
            <a:off x="548640" y="1097280"/>
            <a:ext cx="11094415" cy="457200"/>
          </a:xfrm>
          <a:prstGeom prst="rect">
            <a:avLst/>
          </a:prstGeom>
          <a:noFill/>
          <a:ln/>
        </p:spPr>
        <p:txBody>
          <a:bodyPr wrap="square" rtlCol="0"/>
          <a:lstStyle>
            <a:lvl1pPr algn="l" indent="0" marL="0">
              <a:buNone/>
              <a:defRPr lang="en-US" sz="1700" dirty="0">
                <a:solidFill>
                  <a:schemeClr val="accent4"/>
                </a:solidFill>
              </a:defRPr>
            </a:lvl1pPr>
          </a:lstStyle>
          <a:p>
            <a:pPr algn="l" indent="0" marL="0">
              <a:buNone/>
            </a:pPr>
            <a:endParaRPr lang="en-US" sz="1700" dirty="0"/>
          </a:p>
        </p:txBody>
      </p:sp>
      <p:sp>
        <p:nvSpPr>
          <p:cNvPr id="4" name="Text 0"/>
          <p:cNvSpPr/>
          <p:nvPr/>
        </p:nvSpPr>
        <p:spPr>
          <a:xfrm>
            <a:off x="548640" y="6437376"/>
            <a:ext cx="8229600" cy="256032"/>
          </a:xfrm>
          <a:prstGeom prst="rect">
            <a:avLst/>
          </a:prstGeom>
          <a:noFill/>
          <a:ln/>
        </p:spPr>
        <p:txBody>
          <a:bodyPr wrap="square" lIns="0" tIns="0" rIns="0" bIns="0" rtlCol="0" anchor="ctr"/>
          <a:lstStyle/>
          <a:p>
            <a:pPr indent="0" marL="0">
              <a:buNone/>
            </a:pPr>
            <a:r>
              <a:rPr lang="en-US" sz="1000" dirty="0">
                <a:solidFill>
                  <a:schemeClr val="accent4"/>
                </a:solidFill>
              </a:rPr>
              <a:t>CryptoGraph-Secure  ·  Predicting shock contagion with temporal graph networks</a:t>
            </a:r>
            <a:endParaRPr lang="en-US" sz="1000" dirty="0"/>
          </a:p>
        </p:txBody>
      </p:sp>
      <p:sp>
        <p:nvSpPr>
          <p:cNvPr id="25" name="Slide Number Placeholder 0"/>
          <p:cNvSpPr>
            <a:spLocks noGrp="1"/>
          </p:cNvSpPr>
          <p:nvPr>
            <p:ph type="sldNum" sz="quarter" idx="4294967295"/>
          </p:nvPr>
        </p:nvSpPr>
        <p:spPr>
          <a:xfrm>
            <a:off x="11094415" y="6437376"/>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4415" cy="8229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nvSpPr>
        <p:spPr>
          <a:xfrm>
            <a:off x="548640" y="6437376"/>
            <a:ext cx="8229600" cy="256032"/>
          </a:xfrm>
          <a:prstGeom prst="rect">
            <a:avLst/>
          </a:prstGeom>
          <a:noFill/>
          <a:ln/>
        </p:spPr>
        <p:txBody>
          <a:bodyPr wrap="square" lIns="0" tIns="0" rIns="0" bIns="0" rtlCol="0" anchor="ctr"/>
          <a:lstStyle/>
          <a:p>
            <a:pPr indent="0" marL="0">
              <a:buNone/>
            </a:pPr>
            <a:r>
              <a:rPr lang="en-US" sz="1000" dirty="0">
                <a:solidFill>
                  <a:schemeClr val="accent5"/>
                </a:solidFill>
              </a:rPr>
              <a:t>CryptoGraph-Secure  ·  Predicting shock contagion with temporal graph networks</a:t>
            </a:r>
            <a:endParaRPr lang="en-US" sz="1000" dirty="0"/>
          </a:p>
        </p:txBody>
      </p:sp>
      <p:sp>
        <p:nvSpPr>
          <p:cNvPr id="25" name="Slide Number Placeholder 0"/>
          <p:cNvSpPr>
            <a:spLocks noGrp="1"/>
          </p:cNvSpPr>
          <p:nvPr>
            <p:ph type="sldNum" sz="quarter" idx="4294967295"/>
          </p:nvPr>
        </p:nvSpPr>
        <p:spPr>
          <a:xfrm>
            <a:off x="11094415" y="6437376"/>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37376"/>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097280"/>
            <a:ext cx="5943600" cy="320040"/>
          </a:xfrm>
          <a:prstGeom prst="rect">
            <a:avLst/>
          </a:prstGeom>
          <a:noFill/>
          <a:ln/>
        </p:spPr>
        <p:txBody>
          <a:bodyPr wrap="square" lIns="0" tIns="0" rIns="0" bIns="0" rtlCol="0" anchor="t"/>
          <a:lstStyle/>
          <a:p>
            <a:pPr indent="0" marL="0">
              <a:buNone/>
            </a:pPr>
            <a:r>
              <a:rPr lang="en-US" sz="1400" b="1" spc="300" kern="0" dirty="0">
                <a:solidFill>
                  <a:schemeClr val="accent3"/>
                </a:solidFill>
              </a:rPr>
              <a:t>DEEP LEARNING  ·  CA3 PROJECT</a:t>
            </a:r>
            <a:endParaRPr lang="en-US" sz="1400" dirty="0"/>
          </a:p>
        </p:txBody>
      </p:sp>
      <p:sp>
        <p:nvSpPr>
          <p:cNvPr id="3" name="Text 0"/>
          <p:cNvSpPr/>
          <p:nvPr>
            <p:ph idx="100" type="title" hasCustomPrompt="1"/>
          </p:nvPr>
        </p:nvSpPr>
        <p:spPr>
          <a:xfrm>
            <a:off x="731520" y="1600200"/>
            <a:ext cx="6400800" cy="914400"/>
          </a:xfrm>
          <a:prstGeom prst="rect">
            <a:avLst/>
          </a:prstGeom>
          <a:noFill/>
          <a:ln/>
        </p:spPr>
        <p:txBody>
          <a:bodyPr wrap="square" lIns="0" tIns="0" rIns="0" bIns="0" rtlCol="0" anchor="t"/>
          <a:lstStyle/>
          <a:p>
            <a:pPr algn="l" indent="0" marL="0">
              <a:buNone/>
            </a:pPr>
            <a:r>
              <a:rPr lang="en-US" sz="4600" b="1" dirty="0">
                <a:solidFill>
                  <a:schemeClr val="bg1"/>
                </a:solidFill>
              </a:rPr>
              <a:t>CryptoGraph-Secure</a:t>
            </a:r>
            <a:endParaRPr lang="en-US" sz="4600" dirty="0"/>
          </a:p>
        </p:txBody>
      </p:sp>
      <p:sp>
        <p:nvSpPr>
          <p:cNvPr id="4" name="Text 0"/>
          <p:cNvSpPr/>
          <p:nvPr>
            <p:ph idx="101" type="body" hasCustomPrompt="1"/>
          </p:nvPr>
        </p:nvSpPr>
        <p:spPr>
          <a:xfrm>
            <a:off x="731520" y="2651760"/>
            <a:ext cx="6035040" cy="1097280"/>
          </a:xfrm>
          <a:prstGeom prst="rect">
            <a:avLst/>
          </a:prstGeom>
          <a:noFill/>
          <a:ln/>
        </p:spPr>
        <p:txBody>
          <a:bodyPr wrap="square" lIns="0" tIns="0" rIns="0" bIns="0" rtlCol="0" anchor="t"/>
          <a:lstStyle/>
          <a:p>
            <a:pPr algn="l" indent="0" marL="0">
              <a:buNone/>
            </a:pPr>
            <a:r>
              <a:rPr lang="en-US" sz="2400" dirty="0">
                <a:solidFill>
                  <a:schemeClr val="bg2"/>
                </a:solidFill>
              </a:rPr>
              <a:t>Predicting cryptocurrency shock contagion with temporal graph networks</a:t>
            </a:r>
            <a:endParaRPr lang="en-US" sz="2400" dirty="0"/>
          </a:p>
        </p:txBody>
      </p:sp>
      <p:sp>
        <p:nvSpPr>
          <p:cNvPr id="5" name="Text 3"/>
          <p:cNvSpPr txBox="1"/>
          <p:nvPr/>
        </p:nvSpPr>
        <p:spPr>
          <a:xfrm>
            <a:off x="731520" y="4251960"/>
            <a:ext cx="6035040" cy="365760"/>
          </a:xfrm>
          <a:prstGeom prst="rect">
            <a:avLst/>
          </a:prstGeom>
          <a:noFill/>
          <a:ln/>
        </p:spPr>
        <p:txBody>
          <a:bodyPr wrap="square" lIns="0" tIns="0" rIns="0" bIns="0" rtlCol="0" anchor="t"/>
          <a:lstStyle/>
          <a:p>
            <a:pPr indent="0" marL="0">
              <a:buNone/>
            </a:pPr>
            <a:r>
              <a:rPr lang="en-US" sz="2000" b="1" dirty="0">
                <a:solidFill>
                  <a:schemeClr val="bg1"/>
                </a:solidFill>
              </a:rPr>
              <a:t>Hardik Gulati  ·  Dakshesh Chauhan</a:t>
            </a:r>
            <a:endParaRPr lang="en-US" sz="2000" dirty="0"/>
          </a:p>
        </p:txBody>
      </p:sp>
      <p:sp>
        <p:nvSpPr>
          <p:cNvPr id="6" name="Text 4"/>
          <p:cNvSpPr txBox="1"/>
          <p:nvPr/>
        </p:nvSpPr>
        <p:spPr>
          <a:xfrm>
            <a:off x="731520" y="4709160"/>
            <a:ext cx="6035040" cy="274320"/>
          </a:xfrm>
          <a:prstGeom prst="rect">
            <a:avLst/>
          </a:prstGeom>
          <a:noFill/>
          <a:ln/>
        </p:spPr>
        <p:txBody>
          <a:bodyPr wrap="square" lIns="0" tIns="0" rIns="0" bIns="0" rtlCol="0" anchor="t"/>
          <a:lstStyle/>
          <a:p>
            <a:pPr indent="0" marL="0">
              <a:buNone/>
            </a:pPr>
            <a:r>
              <a:rPr lang="en-US" sz="1400" dirty="0">
                <a:solidFill>
                  <a:schemeClr val="accent5"/>
                </a:solidFill>
              </a:rPr>
              <a:t>Division AIML–A  ·  Symbiosis Institute of Technology, Pune</a:t>
            </a:r>
            <a:endParaRPr lang="en-US" sz="1400" dirty="0"/>
          </a:p>
        </p:txBody>
      </p:sp>
      <p:sp>
        <p:nvSpPr>
          <p:cNvPr id="7" name="Text 5"/>
          <p:cNvSpPr txBox="1"/>
          <p:nvPr/>
        </p:nvSpPr>
        <p:spPr>
          <a:xfrm>
            <a:off x="731520" y="5029200"/>
            <a:ext cx="6035040" cy="274320"/>
          </a:xfrm>
          <a:prstGeom prst="rect">
            <a:avLst/>
          </a:prstGeom>
          <a:noFill/>
          <a:ln/>
        </p:spPr>
        <p:txBody>
          <a:bodyPr wrap="square" lIns="0" tIns="0" rIns="0" bIns="0" rtlCol="0" anchor="t"/>
          <a:lstStyle/>
          <a:p>
            <a:pPr indent="0" marL="0">
              <a:buNone/>
            </a:pPr>
            <a:r>
              <a:rPr lang="en-US" sz="1400" dirty="0">
                <a:solidFill>
                  <a:schemeClr val="accent5"/>
                </a:solidFill>
              </a:rPr>
              <a:t>October 2026</a:t>
            </a:r>
            <a:endParaRPr lang="en-US" sz="1400" dirty="0"/>
          </a:p>
        </p:txBody>
      </p:sp>
      <p:sp>
        <p:nvSpPr>
          <p:cNvPr id="8" name="Network edge"/>
          <p:cNvSpPr/>
          <p:nvPr/>
        </p:nvSpPr>
        <p:spPr>
          <a:xfrm flipH="1">
            <a:off x="11008579" y="3458285"/>
            <a:ext cx="238468" cy="1090700"/>
          </a:xfrm>
          <a:prstGeom prst="line">
            <a:avLst/>
          </a:prstGeom>
          <a:noFill/>
          <a:ln w="12700">
            <a:solidFill>
              <a:schemeClr val="accent4">
                <a:alpha val="30000"/>
              </a:schemeClr>
            </a:solidFill>
            <a:prstDash val="solid"/>
          </a:ln>
        </p:spPr>
      </p:sp>
      <p:sp>
        <p:nvSpPr>
          <p:cNvPr id="9" name="Network edge"/>
          <p:cNvSpPr/>
          <p:nvPr/>
        </p:nvSpPr>
        <p:spPr>
          <a:xfrm flipH="1">
            <a:off x="10055125" y="4548984"/>
            <a:ext cx="953454" cy="364411"/>
          </a:xfrm>
          <a:prstGeom prst="line">
            <a:avLst/>
          </a:prstGeom>
          <a:noFill/>
          <a:ln w="12700">
            <a:solidFill>
              <a:schemeClr val="accent4">
                <a:alpha val="30000"/>
              </a:schemeClr>
            </a:solidFill>
            <a:prstDash val="solid"/>
          </a:ln>
        </p:spPr>
      </p:sp>
      <p:sp>
        <p:nvSpPr>
          <p:cNvPr id="10" name="Network edge"/>
          <p:cNvSpPr/>
          <p:nvPr/>
        </p:nvSpPr>
        <p:spPr>
          <a:xfrm flipH="1">
            <a:off x="9121067" y="4913395"/>
            <a:ext cx="934058" cy="356784"/>
          </a:xfrm>
          <a:prstGeom prst="line">
            <a:avLst/>
          </a:prstGeom>
          <a:noFill/>
          <a:ln w="12700">
            <a:solidFill>
              <a:schemeClr val="accent4">
                <a:alpha val="30000"/>
              </a:schemeClr>
            </a:solidFill>
            <a:prstDash val="solid"/>
          </a:ln>
        </p:spPr>
      </p:sp>
      <p:sp>
        <p:nvSpPr>
          <p:cNvPr id="11" name="Network edge"/>
          <p:cNvSpPr/>
          <p:nvPr/>
        </p:nvSpPr>
        <p:spPr>
          <a:xfrm flipH="1" flipV="1">
            <a:off x="8273816" y="4685020"/>
            <a:ext cx="847251" cy="585160"/>
          </a:xfrm>
          <a:prstGeom prst="line">
            <a:avLst/>
          </a:prstGeom>
          <a:noFill/>
          <a:ln w="12700">
            <a:solidFill>
              <a:schemeClr val="accent4">
                <a:alpha val="30000"/>
              </a:schemeClr>
            </a:solidFill>
            <a:prstDash val="solid"/>
          </a:ln>
        </p:spPr>
      </p:sp>
      <p:sp>
        <p:nvSpPr>
          <p:cNvPr id="12" name="Network edge"/>
          <p:cNvSpPr/>
          <p:nvPr/>
        </p:nvSpPr>
        <p:spPr>
          <a:xfrm flipH="1" flipV="1">
            <a:off x="7530716" y="3890818"/>
            <a:ext cx="743099" cy="794202"/>
          </a:xfrm>
          <a:prstGeom prst="line">
            <a:avLst/>
          </a:prstGeom>
          <a:noFill/>
          <a:ln w="12700">
            <a:solidFill>
              <a:schemeClr val="accent4">
                <a:alpha val="30000"/>
              </a:schemeClr>
            </a:solidFill>
            <a:prstDash val="solid"/>
          </a:ln>
        </p:spPr>
      </p:sp>
      <p:sp>
        <p:nvSpPr>
          <p:cNvPr id="13" name="Network edge"/>
          <p:cNvSpPr/>
          <p:nvPr/>
        </p:nvSpPr>
        <p:spPr>
          <a:xfrm flipV="1">
            <a:off x="7530716" y="2767575"/>
            <a:ext cx="190840" cy="1123243"/>
          </a:xfrm>
          <a:prstGeom prst="line">
            <a:avLst/>
          </a:prstGeom>
          <a:noFill/>
          <a:ln w="12700">
            <a:solidFill>
              <a:schemeClr val="accent4">
                <a:alpha val="30000"/>
              </a:schemeClr>
            </a:solidFill>
            <a:prstDash val="solid"/>
          </a:ln>
        </p:spPr>
      </p:sp>
      <p:sp>
        <p:nvSpPr>
          <p:cNvPr id="14" name="Network edge"/>
          <p:cNvSpPr/>
          <p:nvPr/>
        </p:nvSpPr>
        <p:spPr>
          <a:xfrm flipV="1">
            <a:off x="7721557" y="1698324"/>
            <a:ext cx="229466" cy="1069251"/>
          </a:xfrm>
          <a:prstGeom prst="line">
            <a:avLst/>
          </a:prstGeom>
          <a:noFill/>
          <a:ln w="12700">
            <a:solidFill>
              <a:schemeClr val="accent4">
                <a:alpha val="30000"/>
              </a:schemeClr>
            </a:solidFill>
            <a:prstDash val="solid"/>
          </a:ln>
        </p:spPr>
      </p:sp>
      <p:sp>
        <p:nvSpPr>
          <p:cNvPr id="15" name="Network edge"/>
          <p:cNvSpPr/>
          <p:nvPr/>
        </p:nvSpPr>
        <p:spPr>
          <a:xfrm flipV="1">
            <a:off x="7951023" y="1218599"/>
            <a:ext cx="893786" cy="479725"/>
          </a:xfrm>
          <a:prstGeom prst="line">
            <a:avLst/>
          </a:prstGeom>
          <a:noFill/>
          <a:ln w="12700">
            <a:solidFill>
              <a:schemeClr val="accent4">
                <a:alpha val="30000"/>
              </a:schemeClr>
            </a:solidFill>
            <a:prstDash val="solid"/>
          </a:ln>
        </p:spPr>
      </p:sp>
      <p:sp>
        <p:nvSpPr>
          <p:cNvPr id="16" name="Network edge"/>
          <p:cNvSpPr/>
          <p:nvPr/>
        </p:nvSpPr>
        <p:spPr>
          <a:xfrm flipV="1">
            <a:off x="8844808" y="902715"/>
            <a:ext cx="969350" cy="315884"/>
          </a:xfrm>
          <a:prstGeom prst="line">
            <a:avLst/>
          </a:prstGeom>
          <a:noFill/>
          <a:ln w="12700">
            <a:solidFill>
              <a:schemeClr val="accent4">
                <a:alpha val="30000"/>
              </a:schemeClr>
            </a:solidFill>
            <a:prstDash val="solid"/>
          </a:ln>
        </p:spPr>
      </p:sp>
      <p:sp>
        <p:nvSpPr>
          <p:cNvPr id="17" name="Network edge"/>
          <p:cNvSpPr/>
          <p:nvPr/>
        </p:nvSpPr>
        <p:spPr>
          <a:xfrm>
            <a:off x="9814158" y="902715"/>
            <a:ext cx="760757" cy="735256"/>
          </a:xfrm>
          <a:prstGeom prst="line">
            <a:avLst/>
          </a:prstGeom>
          <a:noFill/>
          <a:ln w="12700">
            <a:solidFill>
              <a:schemeClr val="accent4">
                <a:alpha val="30000"/>
              </a:schemeClr>
            </a:solidFill>
            <a:prstDash val="solid"/>
          </a:ln>
        </p:spPr>
      </p:sp>
      <p:sp>
        <p:nvSpPr>
          <p:cNvPr id="18" name="Network edge"/>
          <p:cNvSpPr/>
          <p:nvPr/>
        </p:nvSpPr>
        <p:spPr>
          <a:xfrm>
            <a:off x="10574916" y="1637971"/>
            <a:ext cx="706448" cy="736043"/>
          </a:xfrm>
          <a:prstGeom prst="line">
            <a:avLst/>
          </a:prstGeom>
          <a:noFill/>
          <a:ln w="12700">
            <a:solidFill>
              <a:schemeClr val="accent4">
                <a:alpha val="30000"/>
              </a:schemeClr>
            </a:solidFill>
            <a:prstDash val="solid"/>
          </a:ln>
        </p:spPr>
      </p:sp>
      <p:sp>
        <p:nvSpPr>
          <p:cNvPr id="19" name="Network edge"/>
          <p:cNvSpPr/>
          <p:nvPr/>
        </p:nvSpPr>
        <p:spPr>
          <a:xfrm flipH="1">
            <a:off x="11247046" y="2374013"/>
            <a:ext cx="34318" cy="1084271"/>
          </a:xfrm>
          <a:prstGeom prst="line">
            <a:avLst/>
          </a:prstGeom>
          <a:noFill/>
          <a:ln w="12700">
            <a:solidFill>
              <a:schemeClr val="accent4">
                <a:alpha val="30000"/>
              </a:schemeClr>
            </a:solidFill>
            <a:prstDash val="solid"/>
          </a:ln>
        </p:spPr>
      </p:sp>
      <p:sp>
        <p:nvSpPr>
          <p:cNvPr id="20" name="Network edge"/>
          <p:cNvSpPr/>
          <p:nvPr/>
        </p:nvSpPr>
        <p:spPr>
          <a:xfrm flipH="1">
            <a:off x="8273816" y="3458285"/>
            <a:ext cx="2973230" cy="1226735"/>
          </a:xfrm>
          <a:prstGeom prst="line">
            <a:avLst/>
          </a:prstGeom>
          <a:noFill/>
          <a:ln w="12700">
            <a:solidFill>
              <a:schemeClr val="accent4">
                <a:alpha val="22000"/>
              </a:schemeClr>
            </a:solidFill>
            <a:prstDash val="solid"/>
          </a:ln>
        </p:spPr>
      </p:sp>
      <p:sp>
        <p:nvSpPr>
          <p:cNvPr id="21" name="Network edge"/>
          <p:cNvSpPr/>
          <p:nvPr/>
        </p:nvSpPr>
        <p:spPr>
          <a:xfrm flipH="1" flipV="1">
            <a:off x="7721557" y="2767575"/>
            <a:ext cx="2333568" cy="2145821"/>
          </a:xfrm>
          <a:prstGeom prst="line">
            <a:avLst/>
          </a:prstGeom>
          <a:noFill/>
          <a:ln w="12700">
            <a:solidFill>
              <a:schemeClr val="accent4">
                <a:alpha val="22000"/>
              </a:schemeClr>
            </a:solidFill>
            <a:prstDash val="solid"/>
          </a:ln>
        </p:spPr>
      </p:sp>
      <p:sp>
        <p:nvSpPr>
          <p:cNvPr id="22" name="Network edge"/>
          <p:cNvSpPr/>
          <p:nvPr/>
        </p:nvSpPr>
        <p:spPr>
          <a:xfrm flipV="1">
            <a:off x="9121067" y="902715"/>
            <a:ext cx="693092" cy="4367465"/>
          </a:xfrm>
          <a:prstGeom prst="line">
            <a:avLst/>
          </a:prstGeom>
          <a:noFill/>
          <a:ln w="12700">
            <a:solidFill>
              <a:schemeClr val="accent4">
                <a:alpha val="22000"/>
              </a:schemeClr>
            </a:solidFill>
            <a:prstDash val="solid"/>
          </a:ln>
        </p:spPr>
      </p:sp>
      <p:sp>
        <p:nvSpPr>
          <p:cNvPr id="23" name="Network edge"/>
          <p:cNvSpPr/>
          <p:nvPr/>
        </p:nvSpPr>
        <p:spPr>
          <a:xfrm flipV="1">
            <a:off x="7530716" y="1637971"/>
            <a:ext cx="3044199" cy="2252847"/>
          </a:xfrm>
          <a:prstGeom prst="line">
            <a:avLst/>
          </a:prstGeom>
          <a:noFill/>
          <a:ln w="12700">
            <a:solidFill>
              <a:schemeClr val="accent4">
                <a:alpha val="22000"/>
              </a:schemeClr>
            </a:solidFill>
            <a:prstDash val="solid"/>
          </a:ln>
        </p:spPr>
      </p:sp>
      <p:sp>
        <p:nvSpPr>
          <p:cNvPr id="24" name="Network edge"/>
          <p:cNvSpPr/>
          <p:nvPr/>
        </p:nvSpPr>
        <p:spPr>
          <a:xfrm flipH="1" flipV="1">
            <a:off x="7951023" y="1698324"/>
            <a:ext cx="3057556" cy="2850660"/>
          </a:xfrm>
          <a:prstGeom prst="line">
            <a:avLst/>
          </a:prstGeom>
          <a:noFill/>
          <a:ln w="12700">
            <a:solidFill>
              <a:schemeClr val="accent4">
                <a:alpha val="22000"/>
              </a:schemeClr>
            </a:solidFill>
            <a:prstDash val="solid"/>
          </a:ln>
        </p:spPr>
      </p:sp>
      <p:sp>
        <p:nvSpPr>
          <p:cNvPr id="25" name="Network edge"/>
          <p:cNvSpPr/>
          <p:nvPr/>
        </p:nvSpPr>
        <p:spPr>
          <a:xfrm>
            <a:off x="8844808" y="1218599"/>
            <a:ext cx="2436556" cy="1155414"/>
          </a:xfrm>
          <a:prstGeom prst="line">
            <a:avLst/>
          </a:prstGeom>
          <a:noFill/>
          <a:ln w="12700">
            <a:solidFill>
              <a:schemeClr val="accent4">
                <a:alpha val="22000"/>
              </a:schemeClr>
            </a:solidFill>
            <a:prstDash val="solid"/>
          </a:ln>
        </p:spPr>
      </p:sp>
      <p:sp>
        <p:nvSpPr>
          <p:cNvPr id="26" name="Spread edge"/>
          <p:cNvSpPr/>
          <p:nvPr/>
        </p:nvSpPr>
        <p:spPr>
          <a:xfrm>
            <a:off x="9464040" y="3108960"/>
            <a:ext cx="1783006" cy="349325"/>
          </a:xfrm>
          <a:prstGeom prst="line">
            <a:avLst/>
          </a:prstGeom>
          <a:noFill/>
          <a:ln w="25400">
            <a:solidFill>
              <a:schemeClr val="accent1">
                <a:alpha val="80000"/>
              </a:schemeClr>
            </a:solidFill>
            <a:prstDash val="solid"/>
          </a:ln>
        </p:spPr>
      </p:sp>
      <p:sp>
        <p:nvSpPr>
          <p:cNvPr id="27" name="Spread edge"/>
          <p:cNvSpPr/>
          <p:nvPr/>
        </p:nvSpPr>
        <p:spPr>
          <a:xfrm>
            <a:off x="9464040" y="3108960"/>
            <a:ext cx="1544539" cy="1440024"/>
          </a:xfrm>
          <a:prstGeom prst="line">
            <a:avLst/>
          </a:prstGeom>
          <a:noFill/>
          <a:ln w="25400">
            <a:solidFill>
              <a:schemeClr val="accent1">
                <a:alpha val="80000"/>
              </a:schemeClr>
            </a:solidFill>
            <a:prstDash val="solid"/>
          </a:ln>
        </p:spPr>
      </p:sp>
      <p:sp>
        <p:nvSpPr>
          <p:cNvPr id="28" name="Spread edge"/>
          <p:cNvSpPr/>
          <p:nvPr/>
        </p:nvSpPr>
        <p:spPr>
          <a:xfrm>
            <a:off x="9464040" y="3108960"/>
            <a:ext cx="591085" cy="1804435"/>
          </a:xfrm>
          <a:prstGeom prst="line">
            <a:avLst/>
          </a:prstGeom>
          <a:noFill/>
          <a:ln w="25400">
            <a:solidFill>
              <a:schemeClr val="accent1">
                <a:alpha val="80000"/>
              </a:schemeClr>
            </a:solidFill>
            <a:prstDash val="solid"/>
          </a:ln>
        </p:spPr>
      </p:sp>
      <p:sp>
        <p:nvSpPr>
          <p:cNvPr id="29" name="Spread edge"/>
          <p:cNvSpPr/>
          <p:nvPr/>
        </p:nvSpPr>
        <p:spPr>
          <a:xfrm flipH="1">
            <a:off x="9121067" y="3108960"/>
            <a:ext cx="342973" cy="2161220"/>
          </a:xfrm>
          <a:prstGeom prst="line">
            <a:avLst/>
          </a:prstGeom>
          <a:noFill/>
          <a:ln w="25400">
            <a:solidFill>
              <a:schemeClr val="accent1">
                <a:alpha val="80000"/>
              </a:schemeClr>
            </a:solidFill>
            <a:prstDash val="solid"/>
          </a:ln>
        </p:spPr>
      </p:sp>
      <p:sp>
        <p:nvSpPr>
          <p:cNvPr id="30" name="Spread edge"/>
          <p:cNvSpPr/>
          <p:nvPr/>
        </p:nvSpPr>
        <p:spPr>
          <a:xfrm flipH="1">
            <a:off x="8273816" y="3108960"/>
            <a:ext cx="1190224" cy="1576060"/>
          </a:xfrm>
          <a:prstGeom prst="line">
            <a:avLst/>
          </a:prstGeom>
          <a:noFill/>
          <a:ln w="12700">
            <a:solidFill>
              <a:schemeClr val="accent4">
                <a:alpha val="35000"/>
              </a:schemeClr>
            </a:solidFill>
            <a:prstDash val="solid"/>
          </a:ln>
        </p:spPr>
      </p:sp>
      <p:sp>
        <p:nvSpPr>
          <p:cNvPr id="31" name="Spread edge"/>
          <p:cNvSpPr/>
          <p:nvPr/>
        </p:nvSpPr>
        <p:spPr>
          <a:xfrm flipH="1">
            <a:off x="7530716" y="3108960"/>
            <a:ext cx="1933324" cy="781858"/>
          </a:xfrm>
          <a:prstGeom prst="line">
            <a:avLst/>
          </a:prstGeom>
          <a:noFill/>
          <a:ln w="25400">
            <a:solidFill>
              <a:schemeClr val="accent1">
                <a:alpha val="80000"/>
              </a:schemeClr>
            </a:solidFill>
            <a:prstDash val="solid"/>
          </a:ln>
        </p:spPr>
      </p:sp>
      <p:sp>
        <p:nvSpPr>
          <p:cNvPr id="32" name="Spread edge"/>
          <p:cNvSpPr/>
          <p:nvPr/>
        </p:nvSpPr>
        <p:spPr>
          <a:xfrm flipH="1" flipV="1">
            <a:off x="7721557" y="2767575"/>
            <a:ext cx="1742483" cy="341385"/>
          </a:xfrm>
          <a:prstGeom prst="line">
            <a:avLst/>
          </a:prstGeom>
          <a:noFill/>
          <a:ln w="12700">
            <a:solidFill>
              <a:schemeClr val="accent4">
                <a:alpha val="35000"/>
              </a:schemeClr>
            </a:solidFill>
            <a:prstDash val="solid"/>
          </a:ln>
        </p:spPr>
      </p:sp>
      <p:sp>
        <p:nvSpPr>
          <p:cNvPr id="33" name="Spread edge"/>
          <p:cNvSpPr/>
          <p:nvPr/>
        </p:nvSpPr>
        <p:spPr>
          <a:xfrm flipH="1" flipV="1">
            <a:off x="7951023" y="1698324"/>
            <a:ext cx="1513017" cy="1410636"/>
          </a:xfrm>
          <a:prstGeom prst="line">
            <a:avLst/>
          </a:prstGeom>
          <a:noFill/>
          <a:ln w="12700">
            <a:solidFill>
              <a:schemeClr val="accent4">
                <a:alpha val="35000"/>
              </a:schemeClr>
            </a:solidFill>
            <a:prstDash val="solid"/>
          </a:ln>
        </p:spPr>
      </p:sp>
      <p:sp>
        <p:nvSpPr>
          <p:cNvPr id="34" name="Spread edge"/>
          <p:cNvSpPr/>
          <p:nvPr/>
        </p:nvSpPr>
        <p:spPr>
          <a:xfrm flipH="1" flipV="1">
            <a:off x="8844808" y="1218599"/>
            <a:ext cx="619232" cy="1890361"/>
          </a:xfrm>
          <a:prstGeom prst="line">
            <a:avLst/>
          </a:prstGeom>
          <a:noFill/>
          <a:ln w="25400">
            <a:solidFill>
              <a:schemeClr val="accent1">
                <a:alpha val="80000"/>
              </a:schemeClr>
            </a:solidFill>
            <a:prstDash val="solid"/>
          </a:ln>
        </p:spPr>
      </p:sp>
      <p:sp>
        <p:nvSpPr>
          <p:cNvPr id="35" name="Spread edge"/>
          <p:cNvSpPr/>
          <p:nvPr/>
        </p:nvSpPr>
        <p:spPr>
          <a:xfrm flipV="1">
            <a:off x="9464040" y="902715"/>
            <a:ext cx="350118" cy="2206245"/>
          </a:xfrm>
          <a:prstGeom prst="line">
            <a:avLst/>
          </a:prstGeom>
          <a:noFill/>
          <a:ln w="12700">
            <a:solidFill>
              <a:schemeClr val="accent4">
                <a:alpha val="35000"/>
              </a:schemeClr>
            </a:solidFill>
            <a:prstDash val="solid"/>
          </a:ln>
        </p:spPr>
      </p:sp>
      <p:sp>
        <p:nvSpPr>
          <p:cNvPr id="36" name="Spread edge"/>
          <p:cNvSpPr/>
          <p:nvPr/>
        </p:nvSpPr>
        <p:spPr>
          <a:xfrm flipV="1">
            <a:off x="9464040" y="1637971"/>
            <a:ext cx="1110876" cy="1470989"/>
          </a:xfrm>
          <a:prstGeom prst="line">
            <a:avLst/>
          </a:prstGeom>
          <a:noFill/>
          <a:ln w="12700">
            <a:solidFill>
              <a:schemeClr val="accent4">
                <a:alpha val="35000"/>
              </a:schemeClr>
            </a:solidFill>
            <a:prstDash val="solid"/>
          </a:ln>
        </p:spPr>
      </p:sp>
      <p:sp>
        <p:nvSpPr>
          <p:cNvPr id="37" name="Spread edge"/>
          <p:cNvSpPr/>
          <p:nvPr/>
        </p:nvSpPr>
        <p:spPr>
          <a:xfrm flipV="1">
            <a:off x="9464040" y="2374013"/>
            <a:ext cx="1817324" cy="734947"/>
          </a:xfrm>
          <a:prstGeom prst="line">
            <a:avLst/>
          </a:prstGeom>
          <a:noFill/>
          <a:ln w="25400">
            <a:solidFill>
              <a:schemeClr val="accent1">
                <a:alpha val="80000"/>
              </a:schemeClr>
            </a:solidFill>
            <a:prstDash val="solid"/>
          </a:ln>
        </p:spPr>
      </p:sp>
      <p:sp>
        <p:nvSpPr>
          <p:cNvPr id="38" name="Halo"/>
          <p:cNvSpPr/>
          <p:nvPr/>
        </p:nvSpPr>
        <p:spPr>
          <a:xfrm>
            <a:off x="8801100" y="2446020"/>
            <a:ext cx="1325880" cy="1325880"/>
          </a:xfrm>
          <a:prstGeom prst="ellipse">
            <a:avLst/>
          </a:prstGeom>
          <a:solidFill>
            <a:schemeClr val="accent1">
              <a:alpha val="18000"/>
            </a:schemeClr>
          </a:solidFill>
          <a:ln/>
        </p:spPr>
      </p:sp>
      <p:sp>
        <p:nvSpPr>
          <p:cNvPr id="39" name="Halo"/>
          <p:cNvSpPr/>
          <p:nvPr/>
        </p:nvSpPr>
        <p:spPr>
          <a:xfrm>
            <a:off x="10812706" y="3023945"/>
            <a:ext cx="868680" cy="868680"/>
          </a:xfrm>
          <a:prstGeom prst="ellipse">
            <a:avLst/>
          </a:prstGeom>
          <a:solidFill>
            <a:schemeClr val="accent1">
              <a:alpha val="16000"/>
            </a:schemeClr>
          </a:solidFill>
          <a:ln/>
        </p:spPr>
      </p:sp>
      <p:sp>
        <p:nvSpPr>
          <p:cNvPr id="40" name="Halo"/>
          <p:cNvSpPr/>
          <p:nvPr/>
        </p:nvSpPr>
        <p:spPr>
          <a:xfrm>
            <a:off x="10574239" y="4114644"/>
            <a:ext cx="868680" cy="868680"/>
          </a:xfrm>
          <a:prstGeom prst="ellipse">
            <a:avLst/>
          </a:prstGeom>
          <a:solidFill>
            <a:schemeClr val="accent1">
              <a:alpha val="16000"/>
            </a:schemeClr>
          </a:solidFill>
          <a:ln/>
        </p:spPr>
      </p:sp>
      <p:sp>
        <p:nvSpPr>
          <p:cNvPr id="41" name="Halo"/>
          <p:cNvSpPr/>
          <p:nvPr/>
        </p:nvSpPr>
        <p:spPr>
          <a:xfrm>
            <a:off x="9620785" y="4479055"/>
            <a:ext cx="868680" cy="868680"/>
          </a:xfrm>
          <a:prstGeom prst="ellipse">
            <a:avLst/>
          </a:prstGeom>
          <a:solidFill>
            <a:schemeClr val="accent1">
              <a:alpha val="16000"/>
            </a:schemeClr>
          </a:solidFill>
          <a:ln/>
        </p:spPr>
      </p:sp>
      <p:sp>
        <p:nvSpPr>
          <p:cNvPr id="42" name="Halo"/>
          <p:cNvSpPr/>
          <p:nvPr/>
        </p:nvSpPr>
        <p:spPr>
          <a:xfrm>
            <a:off x="8686727" y="4835840"/>
            <a:ext cx="868680" cy="868680"/>
          </a:xfrm>
          <a:prstGeom prst="ellipse">
            <a:avLst/>
          </a:prstGeom>
          <a:solidFill>
            <a:schemeClr val="accent1">
              <a:alpha val="16000"/>
            </a:schemeClr>
          </a:solidFill>
          <a:ln/>
        </p:spPr>
      </p:sp>
      <p:sp>
        <p:nvSpPr>
          <p:cNvPr id="43" name="Halo"/>
          <p:cNvSpPr/>
          <p:nvPr/>
        </p:nvSpPr>
        <p:spPr>
          <a:xfrm>
            <a:off x="7096376" y="3456478"/>
            <a:ext cx="868680" cy="868680"/>
          </a:xfrm>
          <a:prstGeom prst="ellipse">
            <a:avLst/>
          </a:prstGeom>
          <a:solidFill>
            <a:schemeClr val="accent1">
              <a:alpha val="16000"/>
            </a:schemeClr>
          </a:solidFill>
          <a:ln/>
        </p:spPr>
      </p:sp>
      <p:sp>
        <p:nvSpPr>
          <p:cNvPr id="44" name="Halo"/>
          <p:cNvSpPr/>
          <p:nvPr/>
        </p:nvSpPr>
        <p:spPr>
          <a:xfrm>
            <a:off x="8410468" y="784259"/>
            <a:ext cx="868680" cy="868680"/>
          </a:xfrm>
          <a:prstGeom prst="ellipse">
            <a:avLst/>
          </a:prstGeom>
          <a:solidFill>
            <a:schemeClr val="accent1">
              <a:alpha val="16000"/>
            </a:schemeClr>
          </a:solidFill>
          <a:ln/>
        </p:spPr>
      </p:sp>
      <p:sp>
        <p:nvSpPr>
          <p:cNvPr id="45" name="Halo"/>
          <p:cNvSpPr/>
          <p:nvPr/>
        </p:nvSpPr>
        <p:spPr>
          <a:xfrm>
            <a:off x="10847024" y="1939673"/>
            <a:ext cx="868680" cy="868680"/>
          </a:xfrm>
          <a:prstGeom prst="ellipse">
            <a:avLst/>
          </a:prstGeom>
          <a:solidFill>
            <a:schemeClr val="accent1">
              <a:alpha val="16000"/>
            </a:schemeClr>
          </a:solidFill>
          <a:ln/>
        </p:spPr>
      </p:sp>
      <p:sp>
        <p:nvSpPr>
          <p:cNvPr id="46" name="Coin BTC"/>
          <p:cNvSpPr/>
          <p:nvPr/>
        </p:nvSpPr>
        <p:spPr>
          <a:xfrm>
            <a:off x="10991014" y="3202253"/>
            <a:ext cx="512064" cy="512064"/>
          </a:xfrm>
          <a:prstGeom prst="ellipse">
            <a:avLst/>
          </a:prstGeom>
          <a:solidFill>
            <a:schemeClr val="accent1"/>
          </a:solidFill>
          <a:ln/>
        </p:spPr>
      </p:sp>
      <p:sp>
        <p:nvSpPr>
          <p:cNvPr id="47" name="Text 45"/>
          <p:cNvSpPr txBox="1"/>
          <p:nvPr/>
        </p:nvSpPr>
        <p:spPr>
          <a:xfrm>
            <a:off x="10991014" y="3202253"/>
            <a:ext cx="512064" cy="512064"/>
          </a:xfrm>
          <a:prstGeom prst="rect">
            <a:avLst/>
          </a:prstGeom>
          <a:noFill/>
          <a:ln/>
        </p:spPr>
        <p:txBody>
          <a:bodyPr wrap="square" lIns="0" tIns="0" rIns="0" bIns="0" rtlCol="0" anchor="ctr"/>
          <a:lstStyle/>
          <a:p>
            <a:pPr algn="ctr" indent="0" marL="0">
              <a:buNone/>
            </a:pPr>
            <a:r>
              <a:rPr lang="en-US" sz="1000" b="1" dirty="0">
                <a:solidFill>
                  <a:schemeClr val="bg1"/>
                </a:solidFill>
              </a:rPr>
              <a:t>BTC</a:t>
            </a:r>
            <a:endParaRPr lang="en-US" sz="1000" dirty="0"/>
          </a:p>
        </p:txBody>
      </p:sp>
      <p:sp>
        <p:nvSpPr>
          <p:cNvPr id="48" name="Coin ETH"/>
          <p:cNvSpPr/>
          <p:nvPr/>
        </p:nvSpPr>
        <p:spPr>
          <a:xfrm>
            <a:off x="10752547" y="4292952"/>
            <a:ext cx="512064" cy="512064"/>
          </a:xfrm>
          <a:prstGeom prst="ellipse">
            <a:avLst/>
          </a:prstGeom>
          <a:solidFill>
            <a:schemeClr val="accent1"/>
          </a:solidFill>
          <a:ln/>
        </p:spPr>
      </p:sp>
      <p:sp>
        <p:nvSpPr>
          <p:cNvPr id="49" name="Text 47"/>
          <p:cNvSpPr txBox="1"/>
          <p:nvPr/>
        </p:nvSpPr>
        <p:spPr>
          <a:xfrm>
            <a:off x="10752547" y="4292952"/>
            <a:ext cx="512064" cy="512064"/>
          </a:xfrm>
          <a:prstGeom prst="rect">
            <a:avLst/>
          </a:prstGeom>
          <a:noFill/>
          <a:ln/>
        </p:spPr>
        <p:txBody>
          <a:bodyPr wrap="square" lIns="0" tIns="0" rIns="0" bIns="0" rtlCol="0" anchor="ctr"/>
          <a:lstStyle/>
          <a:p>
            <a:pPr algn="ctr" indent="0" marL="0">
              <a:buNone/>
            </a:pPr>
            <a:r>
              <a:rPr lang="en-US" sz="1000" b="1" dirty="0">
                <a:solidFill>
                  <a:schemeClr val="bg1"/>
                </a:solidFill>
              </a:rPr>
              <a:t>ETH</a:t>
            </a:r>
            <a:endParaRPr lang="en-US" sz="1000" dirty="0"/>
          </a:p>
        </p:txBody>
      </p:sp>
      <p:sp>
        <p:nvSpPr>
          <p:cNvPr id="50" name="Coin BNB"/>
          <p:cNvSpPr/>
          <p:nvPr/>
        </p:nvSpPr>
        <p:spPr>
          <a:xfrm>
            <a:off x="9799093" y="4657363"/>
            <a:ext cx="512064" cy="512064"/>
          </a:xfrm>
          <a:prstGeom prst="ellipse">
            <a:avLst/>
          </a:prstGeom>
          <a:solidFill>
            <a:schemeClr val="accent1"/>
          </a:solidFill>
          <a:ln/>
        </p:spPr>
      </p:sp>
      <p:sp>
        <p:nvSpPr>
          <p:cNvPr id="51" name="Text 49"/>
          <p:cNvSpPr txBox="1"/>
          <p:nvPr/>
        </p:nvSpPr>
        <p:spPr>
          <a:xfrm>
            <a:off x="9799093" y="4657363"/>
            <a:ext cx="512064" cy="512064"/>
          </a:xfrm>
          <a:prstGeom prst="rect">
            <a:avLst/>
          </a:prstGeom>
          <a:noFill/>
          <a:ln/>
        </p:spPr>
        <p:txBody>
          <a:bodyPr wrap="square" lIns="0" tIns="0" rIns="0" bIns="0" rtlCol="0" anchor="ctr"/>
          <a:lstStyle/>
          <a:p>
            <a:pPr algn="ctr" indent="0" marL="0">
              <a:buNone/>
            </a:pPr>
            <a:r>
              <a:rPr lang="en-US" sz="1000" b="1" dirty="0">
                <a:solidFill>
                  <a:schemeClr val="bg1"/>
                </a:solidFill>
              </a:rPr>
              <a:t>BNB</a:t>
            </a:r>
            <a:endParaRPr lang="en-US" sz="1000" dirty="0"/>
          </a:p>
        </p:txBody>
      </p:sp>
      <p:sp>
        <p:nvSpPr>
          <p:cNvPr id="52" name="Coin XRP"/>
          <p:cNvSpPr/>
          <p:nvPr/>
        </p:nvSpPr>
        <p:spPr>
          <a:xfrm>
            <a:off x="8865035" y="5014148"/>
            <a:ext cx="512064" cy="512064"/>
          </a:xfrm>
          <a:prstGeom prst="ellipse">
            <a:avLst/>
          </a:prstGeom>
          <a:solidFill>
            <a:schemeClr val="accent1"/>
          </a:solidFill>
          <a:ln/>
        </p:spPr>
      </p:sp>
      <p:sp>
        <p:nvSpPr>
          <p:cNvPr id="53" name="Text 51"/>
          <p:cNvSpPr txBox="1"/>
          <p:nvPr/>
        </p:nvSpPr>
        <p:spPr>
          <a:xfrm>
            <a:off x="8865035" y="5014148"/>
            <a:ext cx="512064" cy="512064"/>
          </a:xfrm>
          <a:prstGeom prst="rect">
            <a:avLst/>
          </a:prstGeom>
          <a:noFill/>
          <a:ln/>
        </p:spPr>
        <p:txBody>
          <a:bodyPr wrap="square" lIns="0" tIns="0" rIns="0" bIns="0" rtlCol="0" anchor="ctr"/>
          <a:lstStyle/>
          <a:p>
            <a:pPr algn="ctr" indent="0" marL="0">
              <a:buNone/>
            </a:pPr>
            <a:r>
              <a:rPr lang="en-US" sz="1000" b="1" dirty="0">
                <a:solidFill>
                  <a:schemeClr val="bg1"/>
                </a:solidFill>
              </a:rPr>
              <a:t>XRP</a:t>
            </a:r>
            <a:endParaRPr lang="en-US" sz="1000" dirty="0"/>
          </a:p>
        </p:txBody>
      </p:sp>
      <p:sp>
        <p:nvSpPr>
          <p:cNvPr id="54" name="Coin SOL"/>
          <p:cNvSpPr/>
          <p:nvPr/>
        </p:nvSpPr>
        <p:spPr>
          <a:xfrm>
            <a:off x="8017784" y="4428988"/>
            <a:ext cx="512064" cy="512064"/>
          </a:xfrm>
          <a:prstGeom prst="ellipse">
            <a:avLst/>
          </a:prstGeom>
          <a:solidFill>
            <a:schemeClr val="accent2"/>
          </a:solidFill>
          <a:ln/>
        </p:spPr>
      </p:sp>
      <p:sp>
        <p:nvSpPr>
          <p:cNvPr id="55" name="Text 53"/>
          <p:cNvSpPr txBox="1"/>
          <p:nvPr/>
        </p:nvSpPr>
        <p:spPr>
          <a:xfrm>
            <a:off x="8017784" y="4428988"/>
            <a:ext cx="512064" cy="512064"/>
          </a:xfrm>
          <a:prstGeom prst="rect">
            <a:avLst/>
          </a:prstGeom>
          <a:noFill/>
          <a:ln/>
        </p:spPr>
        <p:txBody>
          <a:bodyPr wrap="square" lIns="0" tIns="0" rIns="0" bIns="0" rtlCol="0" anchor="ctr"/>
          <a:lstStyle/>
          <a:p>
            <a:pPr algn="ctr" indent="0" marL="0">
              <a:buNone/>
            </a:pPr>
            <a:r>
              <a:rPr lang="en-US" sz="1000" b="1" dirty="0">
                <a:solidFill>
                  <a:schemeClr val="bg1"/>
                </a:solidFill>
              </a:rPr>
              <a:t>SOL</a:t>
            </a:r>
            <a:endParaRPr lang="en-US" sz="1000" dirty="0"/>
          </a:p>
        </p:txBody>
      </p:sp>
      <p:sp>
        <p:nvSpPr>
          <p:cNvPr id="56" name="Coin ADA"/>
          <p:cNvSpPr/>
          <p:nvPr/>
        </p:nvSpPr>
        <p:spPr>
          <a:xfrm>
            <a:off x="7274684" y="3634786"/>
            <a:ext cx="512064" cy="512064"/>
          </a:xfrm>
          <a:prstGeom prst="ellipse">
            <a:avLst/>
          </a:prstGeom>
          <a:solidFill>
            <a:schemeClr val="accent1"/>
          </a:solidFill>
          <a:ln/>
        </p:spPr>
      </p:sp>
      <p:sp>
        <p:nvSpPr>
          <p:cNvPr id="57" name="Text 55"/>
          <p:cNvSpPr txBox="1"/>
          <p:nvPr/>
        </p:nvSpPr>
        <p:spPr>
          <a:xfrm>
            <a:off x="7274684" y="3634786"/>
            <a:ext cx="512064" cy="512064"/>
          </a:xfrm>
          <a:prstGeom prst="rect">
            <a:avLst/>
          </a:prstGeom>
          <a:noFill/>
          <a:ln/>
        </p:spPr>
        <p:txBody>
          <a:bodyPr wrap="square" lIns="0" tIns="0" rIns="0" bIns="0" rtlCol="0" anchor="ctr"/>
          <a:lstStyle/>
          <a:p>
            <a:pPr algn="ctr" indent="0" marL="0">
              <a:buNone/>
            </a:pPr>
            <a:r>
              <a:rPr lang="en-US" sz="1000" b="1" dirty="0">
                <a:solidFill>
                  <a:schemeClr val="bg1"/>
                </a:solidFill>
              </a:rPr>
              <a:t>ADA</a:t>
            </a:r>
            <a:endParaRPr lang="en-US" sz="1000" dirty="0"/>
          </a:p>
        </p:txBody>
      </p:sp>
      <p:sp>
        <p:nvSpPr>
          <p:cNvPr id="58" name="Coin DOGE"/>
          <p:cNvSpPr/>
          <p:nvPr/>
        </p:nvSpPr>
        <p:spPr>
          <a:xfrm>
            <a:off x="7465525" y="2511543"/>
            <a:ext cx="512064" cy="512064"/>
          </a:xfrm>
          <a:prstGeom prst="ellipse">
            <a:avLst/>
          </a:prstGeom>
          <a:solidFill>
            <a:schemeClr val="accent2"/>
          </a:solidFill>
          <a:ln/>
        </p:spPr>
      </p:sp>
      <p:sp>
        <p:nvSpPr>
          <p:cNvPr id="59" name="Text 57"/>
          <p:cNvSpPr txBox="1"/>
          <p:nvPr/>
        </p:nvSpPr>
        <p:spPr>
          <a:xfrm>
            <a:off x="7465525" y="2511543"/>
            <a:ext cx="512064" cy="512064"/>
          </a:xfrm>
          <a:prstGeom prst="rect">
            <a:avLst/>
          </a:prstGeom>
          <a:noFill/>
          <a:ln/>
        </p:spPr>
        <p:txBody>
          <a:bodyPr wrap="square" lIns="0" tIns="0" rIns="0" bIns="0" rtlCol="0" anchor="ctr"/>
          <a:lstStyle/>
          <a:p>
            <a:pPr algn="ctr" indent="0" marL="0">
              <a:buNone/>
            </a:pPr>
            <a:r>
              <a:rPr lang="en-US" sz="1000" b="1" dirty="0">
                <a:solidFill>
                  <a:schemeClr val="bg1"/>
                </a:solidFill>
              </a:rPr>
              <a:t>DOGE</a:t>
            </a:r>
            <a:endParaRPr lang="en-US" sz="1000" dirty="0"/>
          </a:p>
        </p:txBody>
      </p:sp>
      <p:sp>
        <p:nvSpPr>
          <p:cNvPr id="60" name="Coin LINK"/>
          <p:cNvSpPr/>
          <p:nvPr/>
        </p:nvSpPr>
        <p:spPr>
          <a:xfrm>
            <a:off x="7694991" y="1442292"/>
            <a:ext cx="512064" cy="512064"/>
          </a:xfrm>
          <a:prstGeom prst="ellipse">
            <a:avLst/>
          </a:prstGeom>
          <a:solidFill>
            <a:schemeClr val="accent2"/>
          </a:solidFill>
          <a:ln/>
        </p:spPr>
      </p:sp>
      <p:sp>
        <p:nvSpPr>
          <p:cNvPr id="61" name="Text 59"/>
          <p:cNvSpPr txBox="1"/>
          <p:nvPr/>
        </p:nvSpPr>
        <p:spPr>
          <a:xfrm>
            <a:off x="7694991" y="1442292"/>
            <a:ext cx="512064" cy="512064"/>
          </a:xfrm>
          <a:prstGeom prst="rect">
            <a:avLst/>
          </a:prstGeom>
          <a:noFill/>
          <a:ln/>
        </p:spPr>
        <p:txBody>
          <a:bodyPr wrap="square" lIns="0" tIns="0" rIns="0" bIns="0" rtlCol="0" anchor="ctr"/>
          <a:lstStyle/>
          <a:p>
            <a:pPr algn="ctr" indent="0" marL="0">
              <a:buNone/>
            </a:pPr>
            <a:r>
              <a:rPr lang="en-US" sz="1000" b="1" dirty="0">
                <a:solidFill>
                  <a:schemeClr val="bg1"/>
                </a:solidFill>
              </a:rPr>
              <a:t>LINK</a:t>
            </a:r>
            <a:endParaRPr lang="en-US" sz="1000" dirty="0"/>
          </a:p>
        </p:txBody>
      </p:sp>
      <p:sp>
        <p:nvSpPr>
          <p:cNvPr id="62" name="Coin AVAX"/>
          <p:cNvSpPr/>
          <p:nvPr/>
        </p:nvSpPr>
        <p:spPr>
          <a:xfrm>
            <a:off x="8588776" y="962567"/>
            <a:ext cx="512064" cy="512064"/>
          </a:xfrm>
          <a:prstGeom prst="ellipse">
            <a:avLst/>
          </a:prstGeom>
          <a:solidFill>
            <a:schemeClr val="accent1"/>
          </a:solidFill>
          <a:ln/>
        </p:spPr>
      </p:sp>
      <p:sp>
        <p:nvSpPr>
          <p:cNvPr id="63" name="Text 61"/>
          <p:cNvSpPr txBox="1"/>
          <p:nvPr/>
        </p:nvSpPr>
        <p:spPr>
          <a:xfrm>
            <a:off x="8588776" y="962567"/>
            <a:ext cx="512064" cy="512064"/>
          </a:xfrm>
          <a:prstGeom prst="rect">
            <a:avLst/>
          </a:prstGeom>
          <a:noFill/>
          <a:ln/>
        </p:spPr>
        <p:txBody>
          <a:bodyPr wrap="square" lIns="0" tIns="0" rIns="0" bIns="0" rtlCol="0" anchor="ctr"/>
          <a:lstStyle/>
          <a:p>
            <a:pPr algn="ctr" indent="0" marL="0">
              <a:buNone/>
            </a:pPr>
            <a:r>
              <a:rPr lang="en-US" sz="1000" b="1" dirty="0">
                <a:solidFill>
                  <a:schemeClr val="bg1"/>
                </a:solidFill>
              </a:rPr>
              <a:t>AVAX</a:t>
            </a:r>
            <a:endParaRPr lang="en-US" sz="1000" dirty="0"/>
          </a:p>
        </p:txBody>
      </p:sp>
      <p:sp>
        <p:nvSpPr>
          <p:cNvPr id="64" name="Coin DOT"/>
          <p:cNvSpPr/>
          <p:nvPr/>
        </p:nvSpPr>
        <p:spPr>
          <a:xfrm>
            <a:off x="9558126" y="646683"/>
            <a:ext cx="512064" cy="512064"/>
          </a:xfrm>
          <a:prstGeom prst="ellipse">
            <a:avLst/>
          </a:prstGeom>
          <a:solidFill>
            <a:schemeClr val="accent2"/>
          </a:solidFill>
          <a:ln/>
        </p:spPr>
      </p:sp>
      <p:sp>
        <p:nvSpPr>
          <p:cNvPr id="65" name="Text 63"/>
          <p:cNvSpPr txBox="1"/>
          <p:nvPr/>
        </p:nvSpPr>
        <p:spPr>
          <a:xfrm>
            <a:off x="9558126" y="646683"/>
            <a:ext cx="512064" cy="512064"/>
          </a:xfrm>
          <a:prstGeom prst="rect">
            <a:avLst/>
          </a:prstGeom>
          <a:noFill/>
          <a:ln/>
        </p:spPr>
        <p:txBody>
          <a:bodyPr wrap="square" lIns="0" tIns="0" rIns="0" bIns="0" rtlCol="0" anchor="ctr"/>
          <a:lstStyle/>
          <a:p>
            <a:pPr algn="ctr" indent="0" marL="0">
              <a:buNone/>
            </a:pPr>
            <a:r>
              <a:rPr lang="en-US" sz="1000" b="1" dirty="0">
                <a:solidFill>
                  <a:schemeClr val="bg1"/>
                </a:solidFill>
              </a:rPr>
              <a:t>DOT</a:t>
            </a:r>
            <a:endParaRPr lang="en-US" sz="1000" dirty="0"/>
          </a:p>
        </p:txBody>
      </p:sp>
      <p:sp>
        <p:nvSpPr>
          <p:cNvPr id="66" name="Coin LTC"/>
          <p:cNvSpPr/>
          <p:nvPr/>
        </p:nvSpPr>
        <p:spPr>
          <a:xfrm>
            <a:off x="10318884" y="1381939"/>
            <a:ext cx="512064" cy="512064"/>
          </a:xfrm>
          <a:prstGeom prst="ellipse">
            <a:avLst/>
          </a:prstGeom>
          <a:solidFill>
            <a:schemeClr val="accent2"/>
          </a:solidFill>
          <a:ln/>
        </p:spPr>
      </p:sp>
      <p:sp>
        <p:nvSpPr>
          <p:cNvPr id="67" name="Text 65"/>
          <p:cNvSpPr txBox="1"/>
          <p:nvPr/>
        </p:nvSpPr>
        <p:spPr>
          <a:xfrm>
            <a:off x="10318884" y="1381939"/>
            <a:ext cx="512064" cy="512064"/>
          </a:xfrm>
          <a:prstGeom prst="rect">
            <a:avLst/>
          </a:prstGeom>
          <a:noFill/>
          <a:ln/>
        </p:spPr>
        <p:txBody>
          <a:bodyPr wrap="square" lIns="0" tIns="0" rIns="0" bIns="0" rtlCol="0" anchor="ctr"/>
          <a:lstStyle/>
          <a:p>
            <a:pPr algn="ctr" indent="0" marL="0">
              <a:buNone/>
            </a:pPr>
            <a:r>
              <a:rPr lang="en-US" sz="1000" b="1" dirty="0">
                <a:solidFill>
                  <a:schemeClr val="bg1"/>
                </a:solidFill>
              </a:rPr>
              <a:t>LTC</a:t>
            </a:r>
            <a:endParaRPr lang="en-US" sz="1000" dirty="0"/>
          </a:p>
        </p:txBody>
      </p:sp>
      <p:sp>
        <p:nvSpPr>
          <p:cNvPr id="68" name="Coin UNI"/>
          <p:cNvSpPr/>
          <p:nvPr/>
        </p:nvSpPr>
        <p:spPr>
          <a:xfrm>
            <a:off x="11025332" y="2117981"/>
            <a:ext cx="512064" cy="512064"/>
          </a:xfrm>
          <a:prstGeom prst="ellipse">
            <a:avLst/>
          </a:prstGeom>
          <a:solidFill>
            <a:schemeClr val="accent1"/>
          </a:solidFill>
          <a:ln/>
        </p:spPr>
      </p:sp>
      <p:sp>
        <p:nvSpPr>
          <p:cNvPr id="69" name="Text 67"/>
          <p:cNvSpPr txBox="1"/>
          <p:nvPr/>
        </p:nvSpPr>
        <p:spPr>
          <a:xfrm>
            <a:off x="11025332" y="2117981"/>
            <a:ext cx="512064" cy="512064"/>
          </a:xfrm>
          <a:prstGeom prst="rect">
            <a:avLst/>
          </a:prstGeom>
          <a:noFill/>
          <a:ln/>
        </p:spPr>
        <p:txBody>
          <a:bodyPr wrap="square" lIns="0" tIns="0" rIns="0" bIns="0" rtlCol="0" anchor="ctr"/>
          <a:lstStyle/>
          <a:p>
            <a:pPr algn="ctr" indent="0" marL="0">
              <a:buNone/>
            </a:pPr>
            <a:r>
              <a:rPr lang="en-US" sz="1000" b="1" dirty="0">
                <a:solidFill>
                  <a:schemeClr val="bg1"/>
                </a:solidFill>
              </a:rPr>
              <a:t>UNI</a:t>
            </a:r>
            <a:endParaRPr lang="en-US" sz="1000" dirty="0"/>
          </a:p>
        </p:txBody>
      </p:sp>
      <p:sp>
        <p:nvSpPr>
          <p:cNvPr id="70" name="Coin i"/>
          <p:cNvSpPr/>
          <p:nvPr/>
        </p:nvSpPr>
        <p:spPr>
          <a:xfrm>
            <a:off x="9107424" y="2752344"/>
            <a:ext cx="713232" cy="713232"/>
          </a:xfrm>
          <a:prstGeom prst="ellipse">
            <a:avLst/>
          </a:prstGeom>
          <a:solidFill>
            <a:schemeClr val="accent1"/>
          </a:solidFill>
          <a:ln/>
        </p:spPr>
      </p:sp>
      <p:sp>
        <p:nvSpPr>
          <p:cNvPr id="71" name="Text 69"/>
          <p:cNvSpPr txBox="1"/>
          <p:nvPr/>
        </p:nvSpPr>
        <p:spPr>
          <a:xfrm>
            <a:off x="9107424" y="2752344"/>
            <a:ext cx="713232" cy="713232"/>
          </a:xfrm>
          <a:prstGeom prst="rect">
            <a:avLst/>
          </a:prstGeom>
          <a:noFill/>
          <a:ln/>
        </p:spPr>
        <p:txBody>
          <a:bodyPr wrap="square" lIns="0" tIns="0" rIns="0" bIns="0" rtlCol="0" anchor="ctr"/>
          <a:lstStyle/>
          <a:p>
            <a:pPr algn="ctr" indent="0" marL="0">
              <a:buNone/>
            </a:pPr>
            <a:r>
              <a:rPr lang="en-US" sz="2800" b="1" i="1" dirty="0">
                <a:solidFill>
                  <a:schemeClr val="bg1"/>
                </a:solidFill>
                <a:latin typeface="+mj-lt" pitchFamily="34" charset="0"/>
                <a:ea typeface="+mj-lt" pitchFamily="34" charset="-122"/>
                <a:cs typeface="+mj-lt" pitchFamily="34" charset="-120"/>
              </a:rPr>
              <a:t>i</a:t>
            </a:r>
            <a:endParaRPr lang="en-US" sz="2800" dirty="0"/>
          </a:p>
        </p:txBody>
      </p:sp>
      <p:sp>
        <p:nvSpPr>
          <p:cNvPr id="72" name="Text 70"/>
          <p:cNvSpPr txBox="1"/>
          <p:nvPr/>
        </p:nvSpPr>
        <p:spPr>
          <a:xfrm>
            <a:off x="7315200" y="6126480"/>
            <a:ext cx="4206240" cy="320040"/>
          </a:xfrm>
          <a:prstGeom prst="rect">
            <a:avLst/>
          </a:prstGeom>
          <a:noFill/>
          <a:ln/>
        </p:spPr>
        <p:txBody>
          <a:bodyPr wrap="square" lIns="0" tIns="0" rIns="0" bIns="0" rtlCol="0" anchor="t"/>
          <a:lstStyle/>
          <a:p>
            <a:pPr algn="ctr" indent="0" marL="0">
              <a:buNone/>
            </a:pPr>
            <a:r>
              <a:rPr lang="en-US" sz="1400" dirty="0">
                <a:solidFill>
                  <a:schemeClr val="accent5"/>
                </a:solidFill>
              </a:rPr>
              <a:t>Coin i shocks. Which coin j is next?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31520"/>
          </a:xfrm>
          <a:prstGeom prst="rect">
            <a:avLst/>
          </a:prstGeom>
          <a:noFill/>
          <a:ln/>
        </p:spPr>
        <p:txBody>
          <a:bodyPr wrap="square" lIns="0" tIns="0" rIns="0" bIns="0" rtlCol="0" anchor="ctr"/>
          <a:lstStyle/>
          <a:p>
            <a:pPr algn="l" indent="0" marL="0">
              <a:buNone/>
            </a:pPr>
            <a:r>
              <a:rPr lang="en-US" sz="3400" b="1" dirty="0">
                <a:solidFill>
                  <a:schemeClr val="tx2"/>
                </a:solidFill>
              </a:rPr>
              <a:t>The problem: who gets hit next?</a:t>
            </a:r>
            <a:endParaRPr lang="en-US" sz="3400" dirty="0"/>
          </a:p>
        </p:txBody>
      </p:sp>
      <p:sp>
        <p:nvSpPr>
          <p:cNvPr id="3" name="Text 0"/>
          <p:cNvSpPr/>
          <p:nvPr>
            <p:ph idx="101" type="body" hasCustomPrompt="1"/>
          </p:nvPr>
        </p:nvSpPr>
        <p:spPr>
          <a:xfrm>
            <a:off x="548640" y="1097280"/>
            <a:ext cx="11094415" cy="457200"/>
          </a:xfrm>
          <a:prstGeom prst="rect">
            <a:avLst/>
          </a:prstGeom>
          <a:noFill/>
          <a:ln/>
        </p:spPr>
        <p:txBody>
          <a:bodyPr wrap="square" lIns="0" tIns="0" rIns="0" bIns="0" rtlCol="0" anchor="t"/>
          <a:lstStyle/>
          <a:p>
            <a:pPr algn="l" indent="0" marL="0">
              <a:buNone/>
            </a:pPr>
            <a:r>
              <a:rPr lang="en-US" sz="1700" dirty="0">
                <a:solidFill>
                  <a:schemeClr val="accent4"/>
                </a:solidFill>
              </a:rPr>
              <a:t>Existing tools measure how strongly coins move together; none predicts which coin is hit next</a:t>
            </a:r>
            <a:endParaRPr lang="en-US" sz="1700" dirty="0"/>
          </a:p>
        </p:txBody>
      </p:sp>
      <p:sp>
        <p:nvSpPr>
          <p:cNvPr id="5" name="Question card"/>
          <p:cNvSpPr/>
          <p:nvPr/>
        </p:nvSpPr>
        <p:spPr>
          <a:xfrm>
            <a:off x="548640" y="1783080"/>
            <a:ext cx="5394960" cy="2057400"/>
          </a:xfrm>
          <a:prstGeom prst="roundRect">
            <a:avLst>
              <a:gd name="adj" fmla="val 4444"/>
            </a:avLst>
          </a:prstGeom>
          <a:solidFill>
            <a:schemeClr val="bg2"/>
          </a:solidFill>
          <a:ln/>
        </p:spPr>
      </p:sp>
      <p:sp>
        <p:nvSpPr>
          <p:cNvPr id="6" name="Text 3"/>
          <p:cNvSpPr txBox="1"/>
          <p:nvPr/>
        </p:nvSpPr>
        <p:spPr>
          <a:xfrm>
            <a:off x="822960" y="1938528"/>
            <a:ext cx="484632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THE QUESTION</a:t>
            </a:r>
            <a:endParaRPr lang="en-US" sz="1200" dirty="0"/>
          </a:p>
        </p:txBody>
      </p:sp>
      <p:sp>
        <p:nvSpPr>
          <p:cNvPr id="7" name="Text 4"/>
          <p:cNvSpPr txBox="1"/>
          <p:nvPr/>
        </p:nvSpPr>
        <p:spPr>
          <a:xfrm>
            <a:off x="822960" y="2240280"/>
            <a:ext cx="4846320" cy="777240"/>
          </a:xfrm>
          <a:prstGeom prst="rect">
            <a:avLst/>
          </a:prstGeom>
          <a:noFill/>
          <a:ln/>
        </p:spPr>
        <p:txBody>
          <a:bodyPr wrap="square" lIns="0" tIns="0" rIns="0" bIns="0" rtlCol="0" anchor="t"/>
          <a:lstStyle/>
          <a:p>
            <a:pPr indent="0" marL="0">
              <a:buNone/>
            </a:pPr>
            <a:r>
              <a:rPr lang="en-US" sz="2100" dirty="0">
                <a:solidFill>
                  <a:schemeClr val="tx2"/>
                </a:solidFill>
              </a:rPr>
              <a:t>When coin </a:t>
            </a:r>
            <a:pPr indent="0" marL="0">
              <a:buNone/>
            </a:pPr>
            <a:r>
              <a:rPr lang="en-US" sz="2100" b="1" i="1" dirty="0">
                <a:solidFill>
                  <a:schemeClr val="tx2"/>
                </a:solidFill>
              </a:rPr>
              <a:t>i</a:t>
            </a:r>
            <a:pPr indent="0" marL="0">
              <a:buNone/>
            </a:pPr>
            <a:r>
              <a:rPr lang="en-US" sz="2100" dirty="0">
                <a:solidFill>
                  <a:schemeClr val="tx2"/>
                </a:solidFill>
              </a:rPr>
              <a:t> shocks at hour </a:t>
            </a:r>
            <a:pPr indent="0" marL="0">
              <a:buNone/>
            </a:pPr>
            <a:r>
              <a:rPr lang="en-US" sz="2100" b="1" i="1" dirty="0">
                <a:solidFill>
                  <a:schemeClr val="tx2"/>
                </a:solidFill>
              </a:rPr>
              <a:t>t</a:t>
            </a:r>
            <a:pPr indent="0" marL="0">
              <a:buNone/>
            </a:pPr>
            <a:r>
              <a:rPr lang="en-US" sz="2100" dirty="0">
                <a:solidFill>
                  <a:schemeClr val="tx2"/>
                </a:solidFill>
              </a:rPr>
              <a:t>, will coin </a:t>
            </a:r>
            <a:pPr indent="0" marL="0">
              <a:buNone/>
            </a:pPr>
            <a:r>
              <a:rPr lang="en-US" sz="2100" b="1" i="1" dirty="0">
                <a:solidFill>
                  <a:schemeClr val="tx2"/>
                </a:solidFill>
              </a:rPr>
              <a:t>j</a:t>
            </a:r>
            <a:pPr indent="0" marL="0">
              <a:buNone/>
            </a:pPr>
            <a:r>
              <a:rPr lang="en-US" sz="2100" dirty="0">
                <a:solidFill>
                  <a:schemeClr val="tx2"/>
                </a:solidFill>
              </a:rPr>
              <a:t> also shock within </a:t>
            </a:r>
            <a:pPr indent="0" marL="0">
              <a:buNone/>
            </a:pPr>
            <a:r>
              <a:rPr lang="en-US" sz="2100" b="1" i="1" dirty="0">
                <a:solidFill>
                  <a:schemeClr val="tx2"/>
                </a:solidFill>
              </a:rPr>
              <a:t>k</a:t>
            </a:r>
            <a:pPr indent="0" marL="0">
              <a:buNone/>
            </a:pPr>
            <a:r>
              <a:rPr lang="en-US" sz="2100" dirty="0">
                <a:solidFill>
                  <a:schemeClr val="tx2"/>
                </a:solidFill>
              </a:rPr>
              <a:t> hours?</a:t>
            </a:r>
            <a:endParaRPr lang="en-US" sz="2100" dirty="0"/>
          </a:p>
        </p:txBody>
      </p:sp>
      <p:sp>
        <p:nvSpPr>
          <p:cNvPr id="8" name="Dot"/>
          <p:cNvSpPr/>
          <p:nvPr/>
        </p:nvSpPr>
        <p:spPr>
          <a:xfrm>
            <a:off x="886968" y="3108960"/>
            <a:ext cx="457200" cy="457200"/>
          </a:xfrm>
          <a:prstGeom prst="ellipse">
            <a:avLst/>
          </a:prstGeom>
          <a:solidFill>
            <a:schemeClr val="accent1"/>
          </a:solidFill>
          <a:ln/>
        </p:spPr>
      </p:sp>
      <p:sp>
        <p:nvSpPr>
          <p:cNvPr id="9" name="Text 6"/>
          <p:cNvSpPr txBox="1"/>
          <p:nvPr/>
        </p:nvSpPr>
        <p:spPr>
          <a:xfrm>
            <a:off x="886968" y="3108960"/>
            <a:ext cx="457200" cy="457200"/>
          </a:xfrm>
          <a:prstGeom prst="rect">
            <a:avLst/>
          </a:prstGeom>
          <a:noFill/>
          <a:ln/>
        </p:spPr>
        <p:txBody>
          <a:bodyPr wrap="square" lIns="0" tIns="0" rIns="0" bIns="0" rtlCol="0" anchor="ctr"/>
          <a:lstStyle/>
          <a:p>
            <a:pPr algn="ctr" indent="0" marL="0">
              <a:buNone/>
            </a:pPr>
            <a:r>
              <a:rPr lang="en-US" sz="1800" b="1" i="1" dirty="0">
                <a:solidFill>
                  <a:schemeClr val="bg1"/>
                </a:solidFill>
                <a:latin typeface="+mj-lt" pitchFamily="34" charset="0"/>
                <a:ea typeface="+mj-lt" pitchFamily="34" charset="-122"/>
                <a:cs typeface="+mj-lt" pitchFamily="34" charset="-120"/>
              </a:rPr>
              <a:t>i</a:t>
            </a:r>
            <a:endParaRPr lang="en-US" sz="1800" dirty="0"/>
          </a:p>
        </p:txBody>
      </p:sp>
      <p:sp>
        <p:nvSpPr>
          <p:cNvPr id="10" name="Arrow i to j"/>
          <p:cNvSpPr/>
          <p:nvPr/>
        </p:nvSpPr>
        <p:spPr>
          <a:xfrm>
            <a:off x="1417320" y="3337560"/>
            <a:ext cx="960120" cy="0"/>
          </a:xfrm>
          <a:prstGeom prst="line">
            <a:avLst/>
          </a:prstGeom>
          <a:noFill/>
          <a:ln w="31750">
            <a:solidFill>
              <a:schemeClr val="accent1"/>
            </a:solidFill>
            <a:prstDash val="solid"/>
            <a:tailEnd type="triangle"/>
          </a:ln>
        </p:spPr>
      </p:sp>
      <p:sp>
        <p:nvSpPr>
          <p:cNvPr id="11" name="Dot"/>
          <p:cNvSpPr/>
          <p:nvPr/>
        </p:nvSpPr>
        <p:spPr>
          <a:xfrm>
            <a:off x="2450592" y="3108960"/>
            <a:ext cx="457200" cy="457200"/>
          </a:xfrm>
          <a:prstGeom prst="ellipse">
            <a:avLst/>
          </a:prstGeom>
          <a:solidFill>
            <a:schemeClr val="accent2"/>
          </a:solidFill>
          <a:ln/>
        </p:spPr>
      </p:sp>
      <p:sp>
        <p:nvSpPr>
          <p:cNvPr id="12" name="Text 9"/>
          <p:cNvSpPr txBox="1"/>
          <p:nvPr/>
        </p:nvSpPr>
        <p:spPr>
          <a:xfrm>
            <a:off x="2450592" y="3108960"/>
            <a:ext cx="457200" cy="457200"/>
          </a:xfrm>
          <a:prstGeom prst="rect">
            <a:avLst/>
          </a:prstGeom>
          <a:noFill/>
          <a:ln/>
        </p:spPr>
        <p:txBody>
          <a:bodyPr wrap="square" lIns="0" tIns="0" rIns="0" bIns="0" rtlCol="0" anchor="ctr"/>
          <a:lstStyle/>
          <a:p>
            <a:pPr algn="ctr" indent="0" marL="0">
              <a:buNone/>
            </a:pPr>
            <a:r>
              <a:rPr lang="en-US" sz="1800" b="1" i="1" dirty="0">
                <a:solidFill>
                  <a:schemeClr val="bg1"/>
                </a:solidFill>
                <a:latin typeface="+mj-lt" pitchFamily="34" charset="0"/>
                <a:ea typeface="+mj-lt" pitchFamily="34" charset="-122"/>
                <a:cs typeface="+mj-lt" pitchFamily="34" charset="-120"/>
              </a:rPr>
              <a:t>j</a:t>
            </a:r>
            <a:endParaRPr lang="en-US" sz="1800" dirty="0"/>
          </a:p>
        </p:txBody>
      </p:sp>
      <p:sp>
        <p:nvSpPr>
          <p:cNvPr id="13" name="Text 10"/>
          <p:cNvSpPr txBox="1"/>
          <p:nvPr/>
        </p:nvSpPr>
        <p:spPr>
          <a:xfrm>
            <a:off x="3154680" y="3108960"/>
            <a:ext cx="2651760" cy="457200"/>
          </a:xfrm>
          <a:prstGeom prst="rect">
            <a:avLst/>
          </a:prstGeom>
          <a:noFill/>
          <a:ln/>
        </p:spPr>
        <p:txBody>
          <a:bodyPr wrap="square" lIns="0" tIns="0" rIns="0" bIns="0" rtlCol="0" anchor="ctr"/>
          <a:lstStyle/>
          <a:p>
            <a:pPr indent="0" marL="0">
              <a:buNone/>
            </a:pPr>
            <a:r>
              <a:rPr lang="en-US" sz="1400" dirty="0">
                <a:solidFill>
                  <a:schemeClr val="tx2"/>
                </a:solidFill>
              </a:rPr>
              <a:t>k = 1, 3, 6, 12 or 24 hours</a:t>
            </a:r>
            <a:endParaRPr lang="en-US" sz="1400" dirty="0"/>
          </a:p>
        </p:txBody>
      </p:sp>
      <p:sp>
        <p:nvSpPr>
          <p:cNvPr id="14" name="Dot"/>
          <p:cNvSpPr/>
          <p:nvPr/>
        </p:nvSpPr>
        <p:spPr>
          <a:xfrm>
            <a:off x="594360" y="4133088"/>
            <a:ext cx="310896" cy="310896"/>
          </a:xfrm>
          <a:prstGeom prst="ellipse">
            <a:avLst/>
          </a:prstGeom>
          <a:solidFill>
            <a:schemeClr val="accent1"/>
          </a:solidFill>
          <a:ln/>
        </p:spPr>
      </p:sp>
      <p:sp>
        <p:nvSpPr>
          <p:cNvPr id="15" name="Text 12"/>
          <p:cNvSpPr txBox="1"/>
          <p:nvPr/>
        </p:nvSpPr>
        <p:spPr>
          <a:xfrm>
            <a:off x="594360" y="4133088"/>
            <a:ext cx="310896" cy="310896"/>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6" name="Text 13"/>
          <p:cNvSpPr txBox="1"/>
          <p:nvPr/>
        </p:nvSpPr>
        <p:spPr>
          <a:xfrm>
            <a:off x="1097280" y="4069080"/>
            <a:ext cx="4754880" cy="274320"/>
          </a:xfrm>
          <a:prstGeom prst="rect">
            <a:avLst/>
          </a:prstGeom>
          <a:noFill/>
          <a:ln/>
        </p:spPr>
        <p:txBody>
          <a:bodyPr wrap="square" lIns="0" tIns="0" rIns="0" bIns="0" rtlCol="0" anchor="t"/>
          <a:lstStyle/>
          <a:p>
            <a:pPr indent="0" marL="0">
              <a:buNone/>
            </a:pPr>
            <a:r>
              <a:rPr lang="en-US" sz="1600" b="1" dirty="0">
                <a:solidFill>
                  <a:schemeClr val="tx2"/>
                </a:solidFill>
              </a:rPr>
              <a:t>Rare</a:t>
            </a:r>
            <a:endParaRPr lang="en-US" sz="1600" dirty="0"/>
          </a:p>
        </p:txBody>
      </p:sp>
      <p:sp>
        <p:nvSpPr>
          <p:cNvPr id="17" name="Text 14"/>
          <p:cNvSpPr txBox="1"/>
          <p:nvPr/>
        </p:nvSpPr>
        <p:spPr>
          <a:xfrm>
            <a:off x="1097280" y="4334256"/>
            <a:ext cx="4846320" cy="457200"/>
          </a:xfrm>
          <a:prstGeom prst="rect">
            <a:avLst/>
          </a:prstGeom>
          <a:noFill/>
          <a:ln/>
        </p:spPr>
        <p:txBody>
          <a:bodyPr wrap="square" lIns="0" tIns="0" rIns="0" bIns="0" rtlCol="0" anchor="t"/>
          <a:lstStyle/>
          <a:p>
            <a:pPr indent="0" marL="0">
              <a:buNone/>
            </a:pPr>
            <a:r>
              <a:rPr lang="en-US" sz="1400" dirty="0">
                <a:solidFill>
                  <a:schemeClr val="accent4"/>
                </a:solidFill>
              </a:rPr>
              <a:t>Only 10.5% of events are positive at 1 hour, so accuracy is meaningless.</a:t>
            </a:r>
            <a:endParaRPr lang="en-US" sz="1400" dirty="0"/>
          </a:p>
        </p:txBody>
      </p:sp>
      <p:sp>
        <p:nvSpPr>
          <p:cNvPr id="18" name="Dot"/>
          <p:cNvSpPr/>
          <p:nvPr/>
        </p:nvSpPr>
        <p:spPr>
          <a:xfrm>
            <a:off x="594360" y="4882896"/>
            <a:ext cx="310896" cy="310896"/>
          </a:xfrm>
          <a:prstGeom prst="ellipse">
            <a:avLst/>
          </a:prstGeom>
          <a:solidFill>
            <a:schemeClr val="accent1"/>
          </a:solidFill>
          <a:ln/>
        </p:spPr>
      </p:sp>
      <p:sp>
        <p:nvSpPr>
          <p:cNvPr id="19" name="Text 16"/>
          <p:cNvSpPr txBox="1"/>
          <p:nvPr/>
        </p:nvSpPr>
        <p:spPr>
          <a:xfrm>
            <a:off x="594360" y="4882896"/>
            <a:ext cx="310896" cy="310896"/>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0" name="Text 17"/>
          <p:cNvSpPr txBox="1"/>
          <p:nvPr/>
        </p:nvSpPr>
        <p:spPr>
          <a:xfrm>
            <a:off x="1097280" y="4818888"/>
            <a:ext cx="4754880" cy="274320"/>
          </a:xfrm>
          <a:prstGeom prst="rect">
            <a:avLst/>
          </a:prstGeom>
          <a:noFill/>
          <a:ln/>
        </p:spPr>
        <p:txBody>
          <a:bodyPr wrap="square" lIns="0" tIns="0" rIns="0" bIns="0" rtlCol="0" anchor="t"/>
          <a:lstStyle/>
          <a:p>
            <a:pPr indent="0" marL="0">
              <a:buNone/>
            </a:pPr>
            <a:r>
              <a:rPr lang="en-US" sz="1600" b="1" dirty="0">
                <a:solidFill>
                  <a:schemeClr val="tx2"/>
                </a:solidFill>
              </a:rPr>
              <a:t>Simultaneous</a:t>
            </a:r>
            <a:endParaRPr lang="en-US" sz="1600" dirty="0"/>
          </a:p>
        </p:txBody>
      </p:sp>
      <p:sp>
        <p:nvSpPr>
          <p:cNvPr id="21" name="Text 18"/>
          <p:cNvSpPr txBox="1"/>
          <p:nvPr/>
        </p:nvSpPr>
        <p:spPr>
          <a:xfrm>
            <a:off x="1097280" y="5084064"/>
            <a:ext cx="4846320" cy="457200"/>
          </a:xfrm>
          <a:prstGeom prst="rect">
            <a:avLst/>
          </a:prstGeom>
          <a:noFill/>
          <a:ln/>
        </p:spPr>
        <p:txBody>
          <a:bodyPr wrap="square" lIns="0" tIns="0" rIns="0" bIns="0" rtlCol="0" anchor="t"/>
          <a:lstStyle/>
          <a:p>
            <a:pPr indent="0" marL="0">
              <a:buNone/>
            </a:pPr>
            <a:r>
              <a:rPr lang="en-US" sz="1400" dirty="0">
                <a:solidFill>
                  <a:schemeClr val="accent4"/>
                </a:solidFill>
              </a:rPr>
              <a:t>Shocks spread within the same hour: there are few clean chains to learn.</a:t>
            </a:r>
            <a:endParaRPr lang="en-US" sz="1400" dirty="0"/>
          </a:p>
        </p:txBody>
      </p:sp>
      <p:sp>
        <p:nvSpPr>
          <p:cNvPr id="22" name="Dot"/>
          <p:cNvSpPr/>
          <p:nvPr/>
        </p:nvSpPr>
        <p:spPr>
          <a:xfrm>
            <a:off x="594360" y="5632704"/>
            <a:ext cx="310896" cy="310896"/>
          </a:xfrm>
          <a:prstGeom prst="ellipse">
            <a:avLst/>
          </a:prstGeom>
          <a:solidFill>
            <a:schemeClr val="accent1"/>
          </a:solidFill>
          <a:ln/>
        </p:spPr>
      </p:sp>
      <p:sp>
        <p:nvSpPr>
          <p:cNvPr id="23" name="Text 20"/>
          <p:cNvSpPr txBox="1"/>
          <p:nvPr/>
        </p:nvSpPr>
        <p:spPr>
          <a:xfrm>
            <a:off x="594360" y="5632704"/>
            <a:ext cx="310896" cy="310896"/>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4" name="Text 21"/>
          <p:cNvSpPr txBox="1"/>
          <p:nvPr/>
        </p:nvSpPr>
        <p:spPr>
          <a:xfrm>
            <a:off x="1097280" y="5568696"/>
            <a:ext cx="4754880" cy="274320"/>
          </a:xfrm>
          <a:prstGeom prst="rect">
            <a:avLst/>
          </a:prstGeom>
          <a:noFill/>
          <a:ln/>
        </p:spPr>
        <p:txBody>
          <a:bodyPr wrap="square" lIns="0" tIns="0" rIns="0" bIns="0" rtlCol="0" anchor="t"/>
          <a:lstStyle/>
          <a:p>
            <a:pPr indent="0" marL="0">
              <a:buNone/>
            </a:pPr>
            <a:r>
              <a:rPr lang="en-US" sz="1600" b="1" dirty="0">
                <a:solidFill>
                  <a:schemeClr val="tx2"/>
                </a:solidFill>
              </a:rPr>
              <a:t>Easy to leak</a:t>
            </a:r>
            <a:endParaRPr lang="en-US" sz="1600" dirty="0"/>
          </a:p>
        </p:txBody>
      </p:sp>
      <p:sp>
        <p:nvSpPr>
          <p:cNvPr id="25" name="Text 22"/>
          <p:cNvSpPr txBox="1"/>
          <p:nvPr/>
        </p:nvSpPr>
        <p:spPr>
          <a:xfrm>
            <a:off x="1097280" y="5833872"/>
            <a:ext cx="4846320" cy="457200"/>
          </a:xfrm>
          <a:prstGeom prst="rect">
            <a:avLst/>
          </a:prstGeom>
          <a:noFill/>
          <a:ln/>
        </p:spPr>
        <p:txBody>
          <a:bodyPr wrap="square" lIns="0" tIns="0" rIns="0" bIns="0" rtlCol="0" anchor="t"/>
          <a:lstStyle/>
          <a:p>
            <a:pPr indent="0" marL="0">
              <a:buNone/>
            </a:pPr>
            <a:r>
              <a:rPr lang="en-US" sz="1400" dirty="0">
                <a:solidFill>
                  <a:schemeClr val="accent4"/>
                </a:solidFill>
              </a:rPr>
              <a:t>A label that peeks at the future inflates every score.</a:t>
            </a:r>
            <a:endParaRPr lang="en-US" sz="1400" dirty="0"/>
          </a:p>
        </p:txBody>
      </p:sp>
      <p:graphicFrame>
        <p:nvGraphicFramePr>
          <p:cNvPr id="26" name="Chart 0" descr=""/>
          <p:cNvGraphicFramePr/>
          <p:nvPr/>
        </p:nvGraphicFramePr>
        <p:xfrm>
          <a:off x="6263640" y="1783080"/>
          <a:ext cx="5376672" cy="448056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094415" y="6437376"/>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31520"/>
          </a:xfrm>
          <a:prstGeom prst="rect">
            <a:avLst/>
          </a:prstGeom>
          <a:noFill/>
          <a:ln/>
        </p:spPr>
        <p:txBody>
          <a:bodyPr wrap="square" lIns="0" tIns="0" rIns="0" bIns="0" rtlCol="0" anchor="ctr"/>
          <a:lstStyle/>
          <a:p>
            <a:pPr algn="l" indent="0" marL="0">
              <a:buNone/>
            </a:pPr>
            <a:r>
              <a:rPr lang="en-US" sz="3400" b="1" dirty="0">
                <a:solidFill>
                  <a:schemeClr val="tx2"/>
                </a:solidFill>
              </a:rPr>
              <a:t>What we set out to answer</a:t>
            </a:r>
            <a:endParaRPr lang="en-US" sz="3400" dirty="0"/>
          </a:p>
        </p:txBody>
      </p:sp>
      <p:sp>
        <p:nvSpPr>
          <p:cNvPr id="3" name="Text 0"/>
          <p:cNvSpPr/>
          <p:nvPr>
            <p:ph idx="101" type="body" hasCustomPrompt="1"/>
          </p:nvPr>
        </p:nvSpPr>
        <p:spPr>
          <a:xfrm>
            <a:off x="548640" y="1097280"/>
            <a:ext cx="11094415" cy="457200"/>
          </a:xfrm>
          <a:prstGeom prst="rect">
            <a:avLst/>
          </a:prstGeom>
          <a:noFill/>
          <a:ln/>
        </p:spPr>
        <p:txBody>
          <a:bodyPr wrap="square" lIns="0" tIns="0" rIns="0" bIns="0" rtlCol="0" anchor="t"/>
          <a:lstStyle/>
          <a:p>
            <a:pPr algn="l" indent="0" marL="0">
              <a:buNone/>
            </a:pPr>
            <a:r>
              <a:rPr lang="en-US" sz="1700" dirty="0">
                <a:solidFill>
                  <a:schemeClr val="accent4"/>
                </a:solidFill>
              </a:rPr>
              <a:t>Four research questions on one leakage-free benchmark</a:t>
            </a:r>
            <a:endParaRPr lang="en-US" sz="1700" dirty="0"/>
          </a:p>
        </p:txBody>
      </p:sp>
      <p:sp>
        <p:nvSpPr>
          <p:cNvPr id="5" name="RQ card"/>
          <p:cNvSpPr/>
          <p:nvPr/>
        </p:nvSpPr>
        <p:spPr>
          <a:xfrm>
            <a:off x="548640" y="1783080"/>
            <a:ext cx="5413248" cy="1828800"/>
          </a:xfrm>
          <a:prstGeom prst="roundRect">
            <a:avLst>
              <a:gd name="adj" fmla="val 5000"/>
            </a:avLst>
          </a:prstGeom>
          <a:solidFill>
            <a:schemeClr val="bg2"/>
          </a:solidFill>
          <a:ln/>
        </p:spPr>
      </p:sp>
      <p:sp>
        <p:nvSpPr>
          <p:cNvPr id="6" name="Text 3"/>
          <p:cNvSpPr txBox="1"/>
          <p:nvPr/>
        </p:nvSpPr>
        <p:spPr>
          <a:xfrm>
            <a:off x="822960" y="2011680"/>
            <a:ext cx="1005840" cy="548640"/>
          </a:xfrm>
          <a:prstGeom prst="rect">
            <a:avLst/>
          </a:prstGeom>
          <a:noFill/>
          <a:ln/>
        </p:spPr>
        <p:txBody>
          <a:bodyPr wrap="square" lIns="0" tIns="0" rIns="0" bIns="0" rtlCol="0" anchor="ctr"/>
          <a:lstStyle/>
          <a:p>
            <a:pPr indent="0" marL="0">
              <a:buNone/>
            </a:pPr>
            <a:r>
              <a:rPr lang="en-US" sz="2800" b="1" dirty="0">
                <a:solidFill>
                  <a:schemeClr val="accent1"/>
                </a:solidFill>
                <a:latin typeface="+mj-lt" pitchFamily="34" charset="0"/>
                <a:ea typeface="+mj-lt" pitchFamily="34" charset="-122"/>
                <a:cs typeface="+mj-lt" pitchFamily="34" charset="-120"/>
              </a:rPr>
              <a:t>RQ1</a:t>
            </a:r>
            <a:endParaRPr lang="en-US" sz="2800" dirty="0"/>
          </a:p>
        </p:txBody>
      </p:sp>
      <p:sp>
        <p:nvSpPr>
          <p:cNvPr id="7" name="Text 4"/>
          <p:cNvSpPr txBox="1"/>
          <p:nvPr/>
        </p:nvSpPr>
        <p:spPr>
          <a:xfrm>
            <a:off x="1874520" y="2039112"/>
            <a:ext cx="3886200" cy="914400"/>
          </a:xfrm>
          <a:prstGeom prst="rect">
            <a:avLst/>
          </a:prstGeom>
          <a:noFill/>
          <a:ln/>
        </p:spPr>
        <p:txBody>
          <a:bodyPr wrap="square" lIns="0" tIns="0" rIns="0" bIns="0" rtlCol="0" anchor="t"/>
          <a:lstStyle/>
          <a:p>
            <a:pPr indent="0" marL="0">
              <a:buNone/>
            </a:pPr>
            <a:r>
              <a:rPr lang="en-US" sz="1700" dirty="0">
                <a:solidFill>
                  <a:schemeClr val="tx2"/>
                </a:solidFill>
              </a:rPr>
              <a:t>Do temporal graph models predict hourly contagion better than a fitted network-diffusion model?</a:t>
            </a:r>
            <a:endParaRPr lang="en-US" sz="1700" dirty="0"/>
          </a:p>
        </p:txBody>
      </p:sp>
      <p:sp>
        <p:nvSpPr>
          <p:cNvPr id="8" name="Text 5"/>
          <p:cNvSpPr txBox="1"/>
          <p:nvPr/>
        </p:nvSpPr>
        <p:spPr>
          <a:xfrm>
            <a:off x="1874520" y="3044952"/>
            <a:ext cx="3886200" cy="457200"/>
          </a:xfrm>
          <a:prstGeom prst="rect">
            <a:avLst/>
          </a:prstGeom>
          <a:noFill/>
          <a:ln/>
        </p:spPr>
        <p:txBody>
          <a:bodyPr wrap="square" lIns="0" tIns="0" rIns="0" bIns="0" rtlCol="0" anchor="t"/>
          <a:lstStyle/>
          <a:p>
            <a:pPr indent="0" marL="0">
              <a:buNone/>
            </a:pPr>
            <a:r>
              <a:rPr lang="en-US" sz="1400" b="1" dirty="0">
                <a:solidFill>
                  <a:schemeClr val="accent2"/>
                </a:solidFill>
              </a:rPr>
              <a:t>Yes, at every horizon</a:t>
            </a:r>
            <a:endParaRPr lang="en-US" sz="1400" dirty="0"/>
          </a:p>
        </p:txBody>
      </p:sp>
      <p:sp>
        <p:nvSpPr>
          <p:cNvPr id="9" name="RQ card"/>
          <p:cNvSpPr/>
          <p:nvPr/>
        </p:nvSpPr>
        <p:spPr>
          <a:xfrm>
            <a:off x="6227064" y="1783080"/>
            <a:ext cx="5413248" cy="1828800"/>
          </a:xfrm>
          <a:prstGeom prst="roundRect">
            <a:avLst>
              <a:gd name="adj" fmla="val 5000"/>
            </a:avLst>
          </a:prstGeom>
          <a:solidFill>
            <a:schemeClr val="bg2"/>
          </a:solidFill>
          <a:ln/>
        </p:spPr>
      </p:sp>
      <p:sp>
        <p:nvSpPr>
          <p:cNvPr id="10" name="Text 7"/>
          <p:cNvSpPr txBox="1"/>
          <p:nvPr/>
        </p:nvSpPr>
        <p:spPr>
          <a:xfrm>
            <a:off x="6501384" y="2011680"/>
            <a:ext cx="1005840" cy="548640"/>
          </a:xfrm>
          <a:prstGeom prst="rect">
            <a:avLst/>
          </a:prstGeom>
          <a:noFill/>
          <a:ln/>
        </p:spPr>
        <p:txBody>
          <a:bodyPr wrap="square" lIns="0" tIns="0" rIns="0" bIns="0" rtlCol="0" anchor="ctr"/>
          <a:lstStyle/>
          <a:p>
            <a:pPr indent="0" marL="0">
              <a:buNone/>
            </a:pPr>
            <a:r>
              <a:rPr lang="en-US" sz="2800" b="1" dirty="0">
                <a:solidFill>
                  <a:schemeClr val="accent1"/>
                </a:solidFill>
                <a:latin typeface="+mj-lt" pitchFamily="34" charset="0"/>
                <a:ea typeface="+mj-lt" pitchFamily="34" charset="-122"/>
                <a:cs typeface="+mj-lt" pitchFamily="34" charset="-120"/>
              </a:rPr>
              <a:t>RQ2</a:t>
            </a:r>
            <a:endParaRPr lang="en-US" sz="2800" dirty="0"/>
          </a:p>
        </p:txBody>
      </p:sp>
      <p:sp>
        <p:nvSpPr>
          <p:cNvPr id="11" name="Text 8"/>
          <p:cNvSpPr txBox="1"/>
          <p:nvPr/>
        </p:nvSpPr>
        <p:spPr>
          <a:xfrm>
            <a:off x="7552944" y="2039112"/>
            <a:ext cx="3886200" cy="914400"/>
          </a:xfrm>
          <a:prstGeom prst="rect">
            <a:avLst/>
          </a:prstGeom>
          <a:noFill/>
          <a:ln/>
        </p:spPr>
        <p:txBody>
          <a:bodyPr wrap="square" lIns="0" tIns="0" rIns="0" bIns="0" rtlCol="0" anchor="t"/>
          <a:lstStyle/>
          <a:p>
            <a:pPr indent="0" marL="0">
              <a:buNone/>
            </a:pPr>
            <a:r>
              <a:rPr lang="en-US" sz="1700" dirty="0">
                <a:solidFill>
                  <a:schemeClr val="tx2"/>
                </a:solidFill>
              </a:rPr>
              <a:t>Do they beat plain machine learning on the same inputs, and does their memory matter?</a:t>
            </a:r>
            <a:endParaRPr lang="en-US" sz="1700" dirty="0"/>
          </a:p>
        </p:txBody>
      </p:sp>
      <p:sp>
        <p:nvSpPr>
          <p:cNvPr id="12" name="Text 9"/>
          <p:cNvSpPr txBox="1"/>
          <p:nvPr/>
        </p:nvSpPr>
        <p:spPr>
          <a:xfrm>
            <a:off x="7552944" y="3044952"/>
            <a:ext cx="3886200" cy="457200"/>
          </a:xfrm>
          <a:prstGeom prst="rect">
            <a:avLst/>
          </a:prstGeom>
          <a:noFill/>
          <a:ln/>
        </p:spPr>
        <p:txBody>
          <a:bodyPr wrap="square" lIns="0" tIns="0" rIns="0" bIns="0" rtlCol="0" anchor="t"/>
          <a:lstStyle/>
          <a:p>
            <a:pPr indent="0" marL="0">
              <a:buNone/>
            </a:pPr>
            <a:r>
              <a:rPr lang="en-US" sz="1400" b="1" dirty="0">
                <a:solidFill>
                  <a:schemeClr val="accent2"/>
                </a:solidFill>
              </a:rPr>
              <a:t>Narrowly at 1–3 h; memory helps at 6–24 h</a:t>
            </a:r>
            <a:endParaRPr lang="en-US" sz="1400" dirty="0"/>
          </a:p>
        </p:txBody>
      </p:sp>
      <p:sp>
        <p:nvSpPr>
          <p:cNvPr id="13" name="RQ card"/>
          <p:cNvSpPr/>
          <p:nvPr/>
        </p:nvSpPr>
        <p:spPr>
          <a:xfrm>
            <a:off x="548640" y="3794760"/>
            <a:ext cx="5413248" cy="1828800"/>
          </a:xfrm>
          <a:prstGeom prst="roundRect">
            <a:avLst>
              <a:gd name="adj" fmla="val 5000"/>
            </a:avLst>
          </a:prstGeom>
          <a:solidFill>
            <a:schemeClr val="bg2"/>
          </a:solidFill>
          <a:ln/>
        </p:spPr>
      </p:sp>
      <p:sp>
        <p:nvSpPr>
          <p:cNvPr id="14" name="Text 11"/>
          <p:cNvSpPr txBox="1"/>
          <p:nvPr/>
        </p:nvSpPr>
        <p:spPr>
          <a:xfrm>
            <a:off x="822960" y="4023360"/>
            <a:ext cx="1005840" cy="548640"/>
          </a:xfrm>
          <a:prstGeom prst="rect">
            <a:avLst/>
          </a:prstGeom>
          <a:noFill/>
          <a:ln/>
        </p:spPr>
        <p:txBody>
          <a:bodyPr wrap="square" lIns="0" tIns="0" rIns="0" bIns="0" rtlCol="0" anchor="ctr"/>
          <a:lstStyle/>
          <a:p>
            <a:pPr indent="0" marL="0">
              <a:buNone/>
            </a:pPr>
            <a:r>
              <a:rPr lang="en-US" sz="2800" b="1" dirty="0">
                <a:solidFill>
                  <a:schemeClr val="accent1"/>
                </a:solidFill>
                <a:latin typeface="+mj-lt" pitchFamily="34" charset="0"/>
                <a:ea typeface="+mj-lt" pitchFamily="34" charset="-122"/>
                <a:cs typeface="+mj-lt" pitchFamily="34" charset="-120"/>
              </a:rPr>
              <a:t>RQ3</a:t>
            </a:r>
            <a:endParaRPr lang="en-US" sz="2800" dirty="0"/>
          </a:p>
        </p:txBody>
      </p:sp>
      <p:sp>
        <p:nvSpPr>
          <p:cNvPr id="15" name="Text 12"/>
          <p:cNvSpPr txBox="1"/>
          <p:nvPr/>
        </p:nvSpPr>
        <p:spPr>
          <a:xfrm>
            <a:off x="1874520" y="4050792"/>
            <a:ext cx="3886200" cy="914400"/>
          </a:xfrm>
          <a:prstGeom prst="rect">
            <a:avLst/>
          </a:prstGeom>
          <a:noFill/>
          <a:ln/>
        </p:spPr>
        <p:txBody>
          <a:bodyPr wrap="square" lIns="0" tIns="0" rIns="0" bIns="0" rtlCol="0" anchor="t"/>
          <a:lstStyle/>
          <a:p>
            <a:pPr indent="0" marL="0">
              <a:buNone/>
            </a:pPr>
            <a:r>
              <a:rPr lang="en-US" sz="1700" dirty="0">
                <a:solidFill>
                  <a:schemeClr val="tx2"/>
                </a:solidFill>
              </a:rPr>
              <a:t>What drives their alerts?</a:t>
            </a:r>
            <a:endParaRPr lang="en-US" sz="1700" dirty="0"/>
          </a:p>
        </p:txBody>
      </p:sp>
      <p:sp>
        <p:nvSpPr>
          <p:cNvPr id="16" name="Text 13"/>
          <p:cNvSpPr txBox="1"/>
          <p:nvPr/>
        </p:nvSpPr>
        <p:spPr>
          <a:xfrm>
            <a:off x="1874520" y="5056632"/>
            <a:ext cx="3886200" cy="457200"/>
          </a:xfrm>
          <a:prstGeom prst="rect">
            <a:avLst/>
          </a:prstGeom>
          <a:noFill/>
          <a:ln/>
        </p:spPr>
        <p:txBody>
          <a:bodyPr wrap="square" lIns="0" tIns="0" rIns="0" bIns="0" rtlCol="0" anchor="t"/>
          <a:lstStyle/>
          <a:p>
            <a:pPr indent="0" marL="0">
              <a:buNone/>
            </a:pPr>
            <a:r>
              <a:rPr lang="en-US" sz="1400" b="1" dirty="0">
                <a:solidFill>
                  <a:schemeClr val="accent2"/>
                </a:solidFill>
              </a:rPr>
              <a:t>The receiving coin's current state</a:t>
            </a:r>
            <a:endParaRPr lang="en-US" sz="1400" dirty="0"/>
          </a:p>
        </p:txBody>
      </p:sp>
      <p:sp>
        <p:nvSpPr>
          <p:cNvPr id="17" name="RQ card"/>
          <p:cNvSpPr/>
          <p:nvPr/>
        </p:nvSpPr>
        <p:spPr>
          <a:xfrm>
            <a:off x="6227064" y="3794760"/>
            <a:ext cx="5413248" cy="1828800"/>
          </a:xfrm>
          <a:prstGeom prst="roundRect">
            <a:avLst>
              <a:gd name="adj" fmla="val 5000"/>
            </a:avLst>
          </a:prstGeom>
          <a:solidFill>
            <a:schemeClr val="bg2"/>
          </a:solidFill>
          <a:ln/>
        </p:spPr>
      </p:sp>
      <p:sp>
        <p:nvSpPr>
          <p:cNvPr id="18" name="Text 15"/>
          <p:cNvSpPr txBox="1"/>
          <p:nvPr/>
        </p:nvSpPr>
        <p:spPr>
          <a:xfrm>
            <a:off x="6501384" y="4023360"/>
            <a:ext cx="1005840" cy="548640"/>
          </a:xfrm>
          <a:prstGeom prst="rect">
            <a:avLst/>
          </a:prstGeom>
          <a:noFill/>
          <a:ln/>
        </p:spPr>
        <p:txBody>
          <a:bodyPr wrap="square" lIns="0" tIns="0" rIns="0" bIns="0" rtlCol="0" anchor="ctr"/>
          <a:lstStyle/>
          <a:p>
            <a:pPr indent="0" marL="0">
              <a:buNone/>
            </a:pPr>
            <a:r>
              <a:rPr lang="en-US" sz="2800" b="1" dirty="0">
                <a:solidFill>
                  <a:schemeClr val="accent1"/>
                </a:solidFill>
                <a:latin typeface="+mj-lt" pitchFamily="34" charset="0"/>
                <a:ea typeface="+mj-lt" pitchFamily="34" charset="-122"/>
                <a:cs typeface="+mj-lt" pitchFamily="34" charset="-120"/>
              </a:rPr>
              <a:t>RQ4</a:t>
            </a:r>
            <a:endParaRPr lang="en-US" sz="2800" dirty="0"/>
          </a:p>
        </p:txBody>
      </p:sp>
      <p:sp>
        <p:nvSpPr>
          <p:cNvPr id="19" name="Text 16"/>
          <p:cNvSpPr txBox="1"/>
          <p:nvPr/>
        </p:nvSpPr>
        <p:spPr>
          <a:xfrm>
            <a:off x="7552944" y="4050792"/>
            <a:ext cx="3886200" cy="914400"/>
          </a:xfrm>
          <a:prstGeom prst="rect">
            <a:avLst/>
          </a:prstGeom>
          <a:noFill/>
          <a:ln/>
        </p:spPr>
        <p:txBody>
          <a:bodyPr wrap="square" lIns="0" tIns="0" rIns="0" bIns="0" rtlCol="0" anchor="t"/>
          <a:lstStyle/>
          <a:p>
            <a:pPr indent="0" marL="0">
              <a:buNone/>
            </a:pPr>
            <a:r>
              <a:rPr lang="en-US" sz="1700" dirty="0">
                <a:solidFill>
                  <a:schemeClr val="tx2"/>
                </a:solidFill>
              </a:rPr>
              <a:t>How long do shocks last, and how robust is the model?</a:t>
            </a:r>
            <a:endParaRPr lang="en-US" sz="1700" dirty="0"/>
          </a:p>
        </p:txBody>
      </p:sp>
      <p:sp>
        <p:nvSpPr>
          <p:cNvPr id="20" name="Text 17"/>
          <p:cNvSpPr txBox="1"/>
          <p:nvPr/>
        </p:nvSpPr>
        <p:spPr>
          <a:xfrm>
            <a:off x="7552944" y="5056632"/>
            <a:ext cx="3886200" cy="457200"/>
          </a:xfrm>
          <a:prstGeom prst="rect">
            <a:avLst/>
          </a:prstGeom>
          <a:noFill/>
          <a:ln/>
        </p:spPr>
        <p:txBody>
          <a:bodyPr wrap="square" lIns="0" tIns="0" rIns="0" bIns="0" rtlCol="0" anchor="t"/>
          <a:lstStyle/>
          <a:p>
            <a:pPr indent="0" marL="0">
              <a:buNone/>
            </a:pPr>
            <a:r>
              <a:rPr lang="en-US" sz="1400" b="1" dirty="0">
                <a:solidFill>
                  <a:schemeClr val="accent2"/>
                </a:solidFill>
              </a:rPr>
              <a:t>8–10 hours; robust to noise, weak against attacks</a:t>
            </a:r>
            <a:endParaRPr lang="en-US" sz="1400" dirty="0"/>
          </a:p>
        </p:txBody>
      </p:sp>
      <p:sp>
        <p:nvSpPr>
          <p:cNvPr id="21" name="Contributions strip"/>
          <p:cNvSpPr/>
          <p:nvPr/>
        </p:nvSpPr>
        <p:spPr>
          <a:xfrm>
            <a:off x="548640" y="5852160"/>
            <a:ext cx="11094415" cy="457200"/>
          </a:xfrm>
          <a:prstGeom prst="roundRect">
            <a:avLst>
              <a:gd name="adj" fmla="val 20000"/>
            </a:avLst>
          </a:prstGeom>
          <a:solidFill>
            <a:schemeClr val="tx2"/>
          </a:solidFill>
          <a:ln/>
        </p:spPr>
      </p:sp>
      <p:sp>
        <p:nvSpPr>
          <p:cNvPr id="22" name="Text 19"/>
          <p:cNvSpPr txBox="1"/>
          <p:nvPr/>
        </p:nvSpPr>
        <p:spPr>
          <a:xfrm>
            <a:off x="822960" y="5852160"/>
            <a:ext cx="10545775" cy="457200"/>
          </a:xfrm>
          <a:prstGeom prst="rect">
            <a:avLst/>
          </a:prstGeom>
          <a:noFill/>
          <a:ln/>
        </p:spPr>
        <p:txBody>
          <a:bodyPr wrap="square" lIns="0" tIns="0" rIns="0" bIns="0" rtlCol="0" anchor="ctr"/>
          <a:lstStyle/>
          <a:p>
            <a:pPr indent="0" marL="0">
              <a:buNone/>
            </a:pPr>
            <a:r>
              <a:rPr lang="en-US" sz="1400" b="1" dirty="0">
                <a:solidFill>
                  <a:schemeClr val="bg1"/>
                </a:solidFill>
              </a:rPr>
              <a:t>Contributions: leakage-free benchmark  ·  five-model comparison  ·  explanations  ·  persistence and robustness  ·  working tool</a:t>
            </a:r>
            <a:endParaRPr lang="en-US" sz="1400" dirty="0"/>
          </a:p>
        </p:txBody>
      </p:sp>
      <p:sp>
        <p:nvSpPr>
          <p:cNvPr id="25" name="Slide Number Placeholder 0"/>
          <p:cNvSpPr>
            <a:spLocks noGrp="1"/>
          </p:cNvSpPr>
          <p:nvPr>
            <p:ph type="sldNum" sz="quarter" idx="4294967295"/>
          </p:nvPr>
        </p:nvSpPr>
        <p:spPr>
          <a:xfrm>
            <a:off x="11094415" y="6437376"/>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31520"/>
          </a:xfrm>
          <a:prstGeom prst="rect">
            <a:avLst/>
          </a:prstGeom>
          <a:noFill/>
          <a:ln/>
        </p:spPr>
        <p:txBody>
          <a:bodyPr wrap="square" lIns="0" tIns="0" rIns="0" bIns="0" rtlCol="0" anchor="ctr"/>
          <a:lstStyle/>
          <a:p>
            <a:pPr algn="l" indent="0" marL="0">
              <a:buNone/>
            </a:pPr>
            <a:r>
              <a:rPr lang="en-US" sz="3400" b="1" dirty="0">
                <a:solidFill>
                  <a:schemeClr val="tx2"/>
                </a:solidFill>
              </a:rPr>
              <a:t>Data: 30 coins, hourly, 2020–2026</a:t>
            </a:r>
            <a:endParaRPr lang="en-US" sz="3400" dirty="0"/>
          </a:p>
        </p:txBody>
      </p:sp>
      <p:sp>
        <p:nvSpPr>
          <p:cNvPr id="3" name="Text 0"/>
          <p:cNvSpPr/>
          <p:nvPr>
            <p:ph idx="101" type="body" hasCustomPrompt="1"/>
          </p:nvPr>
        </p:nvSpPr>
        <p:spPr>
          <a:xfrm>
            <a:off x="548640" y="1097280"/>
            <a:ext cx="11094415" cy="457200"/>
          </a:xfrm>
          <a:prstGeom prst="rect">
            <a:avLst/>
          </a:prstGeom>
          <a:noFill/>
          <a:ln/>
        </p:spPr>
        <p:txBody>
          <a:bodyPr wrap="square" lIns="0" tIns="0" rIns="0" bIns="0" rtlCol="0" anchor="t"/>
          <a:lstStyle/>
          <a:p>
            <a:pPr algn="l" indent="0" marL="0">
              <a:buNone/>
            </a:pPr>
            <a:r>
              <a:rPr lang="en-US" sz="1700" dirty="0">
                <a:solidFill>
                  <a:schemeClr val="accent4"/>
                </a:solidFill>
              </a:rPr>
              <a:t>Binance public archive, checksum-verified; split by date with a 7-day gap between periods</a:t>
            </a:r>
            <a:endParaRPr lang="en-US" sz="1700" dirty="0"/>
          </a:p>
        </p:txBody>
      </p:sp>
      <p:sp>
        <p:nvSpPr>
          <p:cNvPr id="5" name="Stat card"/>
          <p:cNvSpPr/>
          <p:nvPr/>
        </p:nvSpPr>
        <p:spPr>
          <a:xfrm>
            <a:off x="548640" y="1783080"/>
            <a:ext cx="3200400" cy="1325880"/>
          </a:xfrm>
          <a:prstGeom prst="roundRect">
            <a:avLst>
              <a:gd name="adj" fmla="val 6897"/>
            </a:avLst>
          </a:prstGeom>
          <a:solidFill>
            <a:schemeClr val="bg2"/>
          </a:solidFill>
          <a:ln/>
        </p:spPr>
      </p:sp>
      <p:sp>
        <p:nvSpPr>
          <p:cNvPr id="6" name="Text 3"/>
          <p:cNvSpPr txBox="1"/>
          <p:nvPr/>
        </p:nvSpPr>
        <p:spPr>
          <a:xfrm>
            <a:off x="777240" y="1892808"/>
            <a:ext cx="2743200" cy="636422"/>
          </a:xfrm>
          <a:prstGeom prst="rect">
            <a:avLst/>
          </a:prstGeom>
          <a:noFill/>
          <a:ln/>
        </p:spPr>
        <p:txBody>
          <a:bodyPr wrap="square" lIns="0" tIns="0" rIns="0" bIns="0" rtlCol="0" anchor="ctr"/>
          <a:lstStyle/>
          <a:p>
            <a:pPr indent="0" marL="0">
              <a:buNone/>
            </a:pPr>
            <a:r>
              <a:rPr lang="en-US" sz="3600" b="1" dirty="0">
                <a:solidFill>
                  <a:schemeClr val="accent1"/>
                </a:solidFill>
                <a:latin typeface="+mj-lt" pitchFamily="34" charset="0"/>
                <a:ea typeface="+mj-lt" pitchFamily="34" charset="-122"/>
                <a:cs typeface="+mj-lt" pitchFamily="34" charset="-120"/>
              </a:rPr>
              <a:t>30</a:t>
            </a:r>
            <a:endParaRPr lang="en-US" sz="3600" dirty="0"/>
          </a:p>
        </p:txBody>
      </p:sp>
      <p:sp>
        <p:nvSpPr>
          <p:cNvPr id="7" name="Text 4"/>
          <p:cNvSpPr txBox="1"/>
          <p:nvPr/>
        </p:nvSpPr>
        <p:spPr>
          <a:xfrm>
            <a:off x="777240" y="2552090"/>
            <a:ext cx="2743200" cy="503834"/>
          </a:xfrm>
          <a:prstGeom prst="rect">
            <a:avLst/>
          </a:prstGeom>
          <a:noFill/>
          <a:ln/>
        </p:spPr>
        <p:txBody>
          <a:bodyPr wrap="square" lIns="0" tIns="0" rIns="0" bIns="0" rtlCol="0" anchor="t"/>
          <a:lstStyle/>
          <a:p>
            <a:pPr indent="0" marL="0">
              <a:buNone/>
            </a:pPr>
            <a:r>
              <a:rPr lang="en-US" sz="1400" dirty="0">
                <a:solidFill>
                  <a:schemeClr val="tx2"/>
                </a:solidFill>
              </a:rPr>
              <a:t>coins across 9 sectors</a:t>
            </a:r>
            <a:endParaRPr lang="en-US" sz="1400" dirty="0"/>
          </a:p>
        </p:txBody>
      </p:sp>
      <p:sp>
        <p:nvSpPr>
          <p:cNvPr id="8" name="Stat card"/>
          <p:cNvSpPr/>
          <p:nvPr/>
        </p:nvSpPr>
        <p:spPr>
          <a:xfrm>
            <a:off x="548640" y="3273552"/>
            <a:ext cx="3200400" cy="1325880"/>
          </a:xfrm>
          <a:prstGeom prst="roundRect">
            <a:avLst>
              <a:gd name="adj" fmla="val 6897"/>
            </a:avLst>
          </a:prstGeom>
          <a:solidFill>
            <a:schemeClr val="bg2"/>
          </a:solidFill>
          <a:ln/>
        </p:spPr>
      </p:sp>
      <p:sp>
        <p:nvSpPr>
          <p:cNvPr id="9" name="Text 6"/>
          <p:cNvSpPr txBox="1"/>
          <p:nvPr/>
        </p:nvSpPr>
        <p:spPr>
          <a:xfrm>
            <a:off x="777240" y="3383280"/>
            <a:ext cx="2743200" cy="636422"/>
          </a:xfrm>
          <a:prstGeom prst="rect">
            <a:avLst/>
          </a:prstGeom>
          <a:noFill/>
          <a:ln/>
        </p:spPr>
        <p:txBody>
          <a:bodyPr wrap="square" lIns="0" tIns="0" rIns="0" bIns="0" rtlCol="0" anchor="ctr"/>
          <a:lstStyle/>
          <a:p>
            <a:pPr indent="0" marL="0">
              <a:buNone/>
            </a:pPr>
            <a:r>
              <a:rPr lang="en-US" sz="3600" b="1" dirty="0">
                <a:solidFill>
                  <a:schemeClr val="accent1"/>
                </a:solidFill>
                <a:latin typeface="+mj-lt" pitchFamily="34" charset="0"/>
                <a:ea typeface="+mj-lt" pitchFamily="34" charset="-122"/>
                <a:cs typeface="+mj-lt" pitchFamily="34" charset="-120"/>
              </a:rPr>
              <a:t>1.5 M</a:t>
            </a:r>
            <a:endParaRPr lang="en-US" sz="3600" dirty="0"/>
          </a:p>
        </p:txBody>
      </p:sp>
      <p:sp>
        <p:nvSpPr>
          <p:cNvPr id="10" name="Text 7"/>
          <p:cNvSpPr txBox="1"/>
          <p:nvPr/>
        </p:nvSpPr>
        <p:spPr>
          <a:xfrm>
            <a:off x="777240" y="4042562"/>
            <a:ext cx="2743200" cy="503834"/>
          </a:xfrm>
          <a:prstGeom prst="rect">
            <a:avLst/>
          </a:prstGeom>
          <a:noFill/>
          <a:ln/>
        </p:spPr>
        <p:txBody>
          <a:bodyPr wrap="square" lIns="0" tIns="0" rIns="0" bIns="0" rtlCol="0" anchor="t"/>
          <a:lstStyle/>
          <a:p>
            <a:pPr indent="0" marL="0">
              <a:buNone/>
            </a:pPr>
            <a:r>
              <a:rPr lang="en-US" sz="1400" dirty="0">
                <a:solidFill>
                  <a:schemeClr val="tx2"/>
                </a:solidFill>
              </a:rPr>
              <a:t>active coin-hours of hourly candles</a:t>
            </a:r>
            <a:endParaRPr lang="en-US" sz="1400" dirty="0"/>
          </a:p>
        </p:txBody>
      </p:sp>
      <p:sp>
        <p:nvSpPr>
          <p:cNvPr id="11" name="Stat card"/>
          <p:cNvSpPr/>
          <p:nvPr/>
        </p:nvSpPr>
        <p:spPr>
          <a:xfrm>
            <a:off x="548640" y="4764024"/>
            <a:ext cx="3200400" cy="1325880"/>
          </a:xfrm>
          <a:prstGeom prst="roundRect">
            <a:avLst>
              <a:gd name="adj" fmla="val 6897"/>
            </a:avLst>
          </a:prstGeom>
          <a:solidFill>
            <a:schemeClr val="bg2"/>
          </a:solidFill>
          <a:ln/>
        </p:spPr>
      </p:sp>
      <p:sp>
        <p:nvSpPr>
          <p:cNvPr id="12" name="Text 9"/>
          <p:cNvSpPr txBox="1"/>
          <p:nvPr/>
        </p:nvSpPr>
        <p:spPr>
          <a:xfrm>
            <a:off x="777240" y="4873752"/>
            <a:ext cx="2743200" cy="636422"/>
          </a:xfrm>
          <a:prstGeom prst="rect">
            <a:avLst/>
          </a:prstGeom>
          <a:noFill/>
          <a:ln/>
        </p:spPr>
        <p:txBody>
          <a:bodyPr wrap="square" lIns="0" tIns="0" rIns="0" bIns="0" rtlCol="0" anchor="ctr"/>
          <a:lstStyle/>
          <a:p>
            <a:pPr indent="0" marL="0">
              <a:buNone/>
            </a:pPr>
            <a:r>
              <a:rPr lang="en-US" sz="3600" b="1" dirty="0">
                <a:solidFill>
                  <a:schemeClr val="accent1"/>
                </a:solidFill>
                <a:latin typeface="+mj-lt" pitchFamily="34" charset="0"/>
                <a:ea typeface="+mj-lt" pitchFamily="34" charset="-122"/>
                <a:cs typeface="+mj-lt" pitchFamily="34" charset="-120"/>
              </a:rPr>
              <a:t>1.46 M</a:t>
            </a:r>
            <a:endParaRPr lang="en-US" sz="3600" dirty="0"/>
          </a:p>
        </p:txBody>
      </p:sp>
      <p:sp>
        <p:nvSpPr>
          <p:cNvPr id="13" name="Text 10"/>
          <p:cNvSpPr txBox="1"/>
          <p:nvPr/>
        </p:nvSpPr>
        <p:spPr>
          <a:xfrm>
            <a:off x="777240" y="5533034"/>
            <a:ext cx="2743200" cy="503834"/>
          </a:xfrm>
          <a:prstGeom prst="rect">
            <a:avLst/>
          </a:prstGeom>
          <a:noFill/>
          <a:ln/>
        </p:spPr>
        <p:txBody>
          <a:bodyPr wrap="square" lIns="0" tIns="0" rIns="0" bIns="0" rtlCol="0" anchor="t"/>
          <a:lstStyle/>
          <a:p>
            <a:pPr indent="0" marL="0">
              <a:buNone/>
            </a:pPr>
            <a:r>
              <a:rPr lang="en-US" sz="1400" dirty="0">
                <a:solidFill>
                  <a:schemeClr val="tx2"/>
                </a:solidFill>
              </a:rPr>
              <a:t>shock events i → j, five labels each</a:t>
            </a:r>
            <a:endParaRPr lang="en-US" sz="1400" dirty="0"/>
          </a:p>
        </p:txBody>
      </p:sp>
      <p:sp>
        <p:nvSpPr>
          <p:cNvPr id="14" name="Train period"/>
          <p:cNvSpPr/>
          <p:nvPr/>
        </p:nvSpPr>
        <p:spPr>
          <a:xfrm>
            <a:off x="4069080" y="1874520"/>
            <a:ext cx="2756651" cy="685800"/>
          </a:xfrm>
          <a:prstGeom prst="roundRect">
            <a:avLst>
              <a:gd name="adj" fmla="val 8000"/>
            </a:avLst>
          </a:prstGeom>
          <a:solidFill>
            <a:schemeClr val="accent6"/>
          </a:solidFill>
          <a:ln/>
        </p:spPr>
      </p:sp>
      <p:sp>
        <p:nvSpPr>
          <p:cNvPr id="15" name="Text 12"/>
          <p:cNvSpPr txBox="1"/>
          <p:nvPr/>
        </p:nvSpPr>
        <p:spPr>
          <a:xfrm>
            <a:off x="4069080" y="1874520"/>
            <a:ext cx="2756651" cy="685800"/>
          </a:xfrm>
          <a:prstGeom prst="rect">
            <a:avLst/>
          </a:prstGeom>
          <a:noFill/>
          <a:ln/>
        </p:spPr>
        <p:txBody>
          <a:bodyPr wrap="square" lIns="0" tIns="0" rIns="0" bIns="0" rtlCol="0" anchor="ctr"/>
          <a:lstStyle/>
          <a:p>
            <a:pPr algn="ctr" indent="0" marL="0">
              <a:buNone/>
            </a:pPr>
            <a:r>
              <a:rPr lang="en-US" sz="1600" b="1" dirty="0">
                <a:solidFill>
                  <a:schemeClr val="bg1"/>
                </a:solidFill>
              </a:rPr>
              <a:t>Train</a:t>
            </a:r>
            <a:endParaRPr lang="en-US" sz="1600" dirty="0"/>
          </a:p>
        </p:txBody>
      </p:sp>
      <p:sp>
        <p:nvSpPr>
          <p:cNvPr id="16" name="Text 13"/>
          <p:cNvSpPr txBox="1"/>
          <p:nvPr/>
        </p:nvSpPr>
        <p:spPr>
          <a:xfrm>
            <a:off x="4069080" y="2651760"/>
            <a:ext cx="2756651" cy="256032"/>
          </a:xfrm>
          <a:prstGeom prst="rect">
            <a:avLst/>
          </a:prstGeom>
          <a:noFill/>
          <a:ln/>
        </p:spPr>
        <p:txBody>
          <a:bodyPr wrap="square" lIns="0" tIns="0" rIns="0" bIns="0" rtlCol="0" anchor="t"/>
          <a:lstStyle/>
          <a:p>
            <a:pPr algn="ctr" indent="0" marL="0">
              <a:buNone/>
            </a:pPr>
            <a:r>
              <a:rPr lang="en-US" sz="1200" dirty="0">
                <a:solidFill>
                  <a:schemeClr val="accent4"/>
                </a:solidFill>
              </a:rPr>
              <a:t>1 Jan 2020 – 30 Jun 2022</a:t>
            </a:r>
            <a:endParaRPr lang="en-US" sz="1200" dirty="0"/>
          </a:p>
        </p:txBody>
      </p:sp>
      <p:sp>
        <p:nvSpPr>
          <p:cNvPr id="17" name="Text 14"/>
          <p:cNvSpPr txBox="1"/>
          <p:nvPr/>
        </p:nvSpPr>
        <p:spPr>
          <a:xfrm>
            <a:off x="4069080" y="2926080"/>
            <a:ext cx="2756651" cy="274320"/>
          </a:xfrm>
          <a:prstGeom prst="rect">
            <a:avLst/>
          </a:prstGeom>
          <a:noFill/>
          <a:ln/>
        </p:spPr>
        <p:txBody>
          <a:bodyPr wrap="square" lIns="0" tIns="0" rIns="0" bIns="0" rtlCol="0" anchor="t"/>
          <a:lstStyle/>
          <a:p>
            <a:pPr algn="ctr" indent="0" marL="0">
              <a:buNone/>
            </a:pPr>
            <a:r>
              <a:rPr lang="en-US" sz="1400" b="1" dirty="0">
                <a:solidFill>
                  <a:schemeClr val="tx2"/>
                </a:solidFill>
              </a:rPr>
              <a:t>361 k events</a:t>
            </a:r>
            <a:endParaRPr lang="en-US" sz="1400" dirty="0"/>
          </a:p>
        </p:txBody>
      </p:sp>
      <p:sp>
        <p:nvSpPr>
          <p:cNvPr id="18" name="Text 15"/>
          <p:cNvSpPr txBox="1"/>
          <p:nvPr/>
        </p:nvSpPr>
        <p:spPr>
          <a:xfrm>
            <a:off x="4069080" y="3200400"/>
            <a:ext cx="2756651" cy="256032"/>
          </a:xfrm>
          <a:prstGeom prst="rect">
            <a:avLst/>
          </a:prstGeom>
          <a:noFill/>
          <a:ln/>
        </p:spPr>
        <p:txBody>
          <a:bodyPr wrap="square" lIns="0" tIns="0" rIns="0" bIns="0" rtlCol="0" anchor="t"/>
          <a:lstStyle/>
          <a:p>
            <a:pPr algn="ctr" indent="0" marL="0">
              <a:buNone/>
            </a:pPr>
            <a:r>
              <a:rPr lang="en-US" sz="1200" dirty="0">
                <a:solidFill>
                  <a:schemeClr val="accent4"/>
                </a:solidFill>
              </a:rPr>
              <a:t>fit the models</a:t>
            </a:r>
            <a:endParaRPr lang="en-US" sz="1200" dirty="0"/>
          </a:p>
        </p:txBody>
      </p:sp>
      <p:sp>
        <p:nvSpPr>
          <p:cNvPr id="19" name="Validation period"/>
          <p:cNvSpPr/>
          <p:nvPr/>
        </p:nvSpPr>
        <p:spPr>
          <a:xfrm>
            <a:off x="6871451" y="1874520"/>
            <a:ext cx="1643276" cy="685800"/>
          </a:xfrm>
          <a:prstGeom prst="roundRect">
            <a:avLst>
              <a:gd name="adj" fmla="val 8000"/>
            </a:avLst>
          </a:prstGeom>
          <a:solidFill>
            <a:schemeClr val="accent2"/>
          </a:solidFill>
          <a:ln/>
        </p:spPr>
      </p:sp>
      <p:sp>
        <p:nvSpPr>
          <p:cNvPr id="20" name="Text 17"/>
          <p:cNvSpPr txBox="1"/>
          <p:nvPr/>
        </p:nvSpPr>
        <p:spPr>
          <a:xfrm>
            <a:off x="6871451" y="1874520"/>
            <a:ext cx="1643276" cy="685800"/>
          </a:xfrm>
          <a:prstGeom prst="rect">
            <a:avLst/>
          </a:prstGeom>
          <a:noFill/>
          <a:ln/>
        </p:spPr>
        <p:txBody>
          <a:bodyPr wrap="square" lIns="0" tIns="0" rIns="0" bIns="0" rtlCol="0" anchor="ctr"/>
          <a:lstStyle/>
          <a:p>
            <a:pPr algn="ctr" indent="0" marL="0">
              <a:buNone/>
            </a:pPr>
            <a:r>
              <a:rPr lang="en-US" sz="1600" b="1" dirty="0">
                <a:solidFill>
                  <a:schemeClr val="bg1"/>
                </a:solidFill>
              </a:rPr>
              <a:t>Validation</a:t>
            </a:r>
            <a:endParaRPr lang="en-US" sz="1600" dirty="0"/>
          </a:p>
        </p:txBody>
      </p:sp>
      <p:sp>
        <p:nvSpPr>
          <p:cNvPr id="21" name="Text 18"/>
          <p:cNvSpPr txBox="1"/>
          <p:nvPr/>
        </p:nvSpPr>
        <p:spPr>
          <a:xfrm>
            <a:off x="6871451" y="2651760"/>
            <a:ext cx="1643276" cy="256032"/>
          </a:xfrm>
          <a:prstGeom prst="rect">
            <a:avLst/>
          </a:prstGeom>
          <a:noFill/>
          <a:ln/>
        </p:spPr>
        <p:txBody>
          <a:bodyPr wrap="square" lIns="0" tIns="0" rIns="0" bIns="0" rtlCol="0" anchor="t"/>
          <a:lstStyle/>
          <a:p>
            <a:pPr algn="ctr" indent="0" marL="0">
              <a:buNone/>
            </a:pPr>
            <a:r>
              <a:rPr lang="en-US" sz="1200" dirty="0">
                <a:solidFill>
                  <a:schemeClr val="accent4"/>
                </a:solidFill>
              </a:rPr>
              <a:t>Jul 2022 – Dec 2023</a:t>
            </a:r>
            <a:endParaRPr lang="en-US" sz="1200" dirty="0"/>
          </a:p>
        </p:txBody>
      </p:sp>
      <p:sp>
        <p:nvSpPr>
          <p:cNvPr id="22" name="Text 19"/>
          <p:cNvSpPr txBox="1"/>
          <p:nvPr/>
        </p:nvSpPr>
        <p:spPr>
          <a:xfrm>
            <a:off x="6871451" y="2926080"/>
            <a:ext cx="1643276" cy="274320"/>
          </a:xfrm>
          <a:prstGeom prst="rect">
            <a:avLst/>
          </a:prstGeom>
          <a:noFill/>
          <a:ln/>
        </p:spPr>
        <p:txBody>
          <a:bodyPr wrap="square" lIns="0" tIns="0" rIns="0" bIns="0" rtlCol="0" anchor="t"/>
          <a:lstStyle/>
          <a:p>
            <a:pPr algn="ctr" indent="0" marL="0">
              <a:buNone/>
            </a:pPr>
            <a:r>
              <a:rPr lang="en-US" sz="1400" b="1" dirty="0">
                <a:solidFill>
                  <a:schemeClr val="tx2"/>
                </a:solidFill>
              </a:rPr>
              <a:t>301 k events</a:t>
            </a:r>
            <a:endParaRPr lang="en-US" sz="1400" dirty="0"/>
          </a:p>
        </p:txBody>
      </p:sp>
      <p:sp>
        <p:nvSpPr>
          <p:cNvPr id="23" name="Text 20"/>
          <p:cNvSpPr txBox="1"/>
          <p:nvPr/>
        </p:nvSpPr>
        <p:spPr>
          <a:xfrm>
            <a:off x="6871451" y="3200400"/>
            <a:ext cx="1643276" cy="256032"/>
          </a:xfrm>
          <a:prstGeom prst="rect">
            <a:avLst/>
          </a:prstGeom>
          <a:noFill/>
          <a:ln/>
        </p:spPr>
        <p:txBody>
          <a:bodyPr wrap="square" lIns="0" tIns="0" rIns="0" bIns="0" rtlCol="0" anchor="t"/>
          <a:lstStyle/>
          <a:p>
            <a:pPr algn="ctr" indent="0" marL="0">
              <a:buNone/>
            </a:pPr>
            <a:r>
              <a:rPr lang="en-US" sz="1200" dirty="0">
                <a:solidFill>
                  <a:schemeClr val="accent4"/>
                </a:solidFill>
              </a:rPr>
              <a:t>tune and choose</a:t>
            </a:r>
            <a:endParaRPr lang="en-US" sz="1200" dirty="0"/>
          </a:p>
        </p:txBody>
      </p:sp>
      <p:sp>
        <p:nvSpPr>
          <p:cNvPr id="24" name="Test period"/>
          <p:cNvSpPr/>
          <p:nvPr/>
        </p:nvSpPr>
        <p:spPr>
          <a:xfrm>
            <a:off x="8560447" y="1874520"/>
            <a:ext cx="3036888" cy="685800"/>
          </a:xfrm>
          <a:prstGeom prst="roundRect">
            <a:avLst>
              <a:gd name="adj" fmla="val 8000"/>
            </a:avLst>
          </a:prstGeom>
          <a:solidFill>
            <a:schemeClr val="accent1"/>
          </a:solidFill>
          <a:ln/>
        </p:spPr>
      </p:sp>
      <p:sp>
        <p:nvSpPr>
          <p:cNvPr id="25" name="Text 22"/>
          <p:cNvSpPr txBox="1"/>
          <p:nvPr/>
        </p:nvSpPr>
        <p:spPr>
          <a:xfrm>
            <a:off x="8560447" y="1874520"/>
            <a:ext cx="3036888" cy="685800"/>
          </a:xfrm>
          <a:prstGeom prst="rect">
            <a:avLst/>
          </a:prstGeom>
          <a:noFill/>
          <a:ln/>
        </p:spPr>
        <p:txBody>
          <a:bodyPr wrap="square" lIns="0" tIns="0" rIns="0" bIns="0" rtlCol="0" anchor="ctr"/>
          <a:lstStyle/>
          <a:p>
            <a:pPr algn="ctr" indent="0" marL="0">
              <a:buNone/>
            </a:pPr>
            <a:r>
              <a:rPr lang="en-US" sz="1600" b="1" dirty="0">
                <a:solidFill>
                  <a:schemeClr val="bg1"/>
                </a:solidFill>
              </a:rPr>
              <a:t>Test</a:t>
            </a:r>
            <a:endParaRPr lang="en-US" sz="1600" dirty="0"/>
          </a:p>
        </p:txBody>
      </p:sp>
      <p:sp>
        <p:nvSpPr>
          <p:cNvPr id="26" name="Text 23"/>
          <p:cNvSpPr txBox="1"/>
          <p:nvPr/>
        </p:nvSpPr>
        <p:spPr>
          <a:xfrm>
            <a:off x="8560447" y="2651760"/>
            <a:ext cx="3036888" cy="256032"/>
          </a:xfrm>
          <a:prstGeom prst="rect">
            <a:avLst/>
          </a:prstGeom>
          <a:noFill/>
          <a:ln/>
        </p:spPr>
        <p:txBody>
          <a:bodyPr wrap="square" lIns="0" tIns="0" rIns="0" bIns="0" rtlCol="0" anchor="t"/>
          <a:lstStyle/>
          <a:p>
            <a:pPr algn="ctr" indent="0" marL="0">
              <a:buNone/>
            </a:pPr>
            <a:r>
              <a:rPr lang="en-US" sz="1200" dirty="0">
                <a:solidFill>
                  <a:schemeClr val="accent4"/>
                </a:solidFill>
              </a:rPr>
              <a:t>Jan 2024 – 27 Sep 2026</a:t>
            </a:r>
            <a:endParaRPr lang="en-US" sz="1200" dirty="0"/>
          </a:p>
        </p:txBody>
      </p:sp>
      <p:sp>
        <p:nvSpPr>
          <p:cNvPr id="27" name="Text 24"/>
          <p:cNvSpPr txBox="1"/>
          <p:nvPr/>
        </p:nvSpPr>
        <p:spPr>
          <a:xfrm>
            <a:off x="8560447" y="2926080"/>
            <a:ext cx="3036888" cy="274320"/>
          </a:xfrm>
          <a:prstGeom prst="rect">
            <a:avLst/>
          </a:prstGeom>
          <a:noFill/>
          <a:ln/>
        </p:spPr>
        <p:txBody>
          <a:bodyPr wrap="square" lIns="0" tIns="0" rIns="0" bIns="0" rtlCol="0" anchor="t"/>
          <a:lstStyle/>
          <a:p>
            <a:pPr algn="ctr" indent="0" marL="0">
              <a:buNone/>
            </a:pPr>
            <a:r>
              <a:rPr lang="en-US" sz="1400" b="1" dirty="0">
                <a:solidFill>
                  <a:schemeClr val="tx2"/>
                </a:solidFill>
              </a:rPr>
              <a:t>802 k events</a:t>
            </a:r>
            <a:endParaRPr lang="en-US" sz="1400" dirty="0"/>
          </a:p>
        </p:txBody>
      </p:sp>
      <p:sp>
        <p:nvSpPr>
          <p:cNvPr id="28" name="Text 25"/>
          <p:cNvSpPr txBox="1"/>
          <p:nvPr/>
        </p:nvSpPr>
        <p:spPr>
          <a:xfrm>
            <a:off x="8560447" y="3200400"/>
            <a:ext cx="3036888" cy="256032"/>
          </a:xfrm>
          <a:prstGeom prst="rect">
            <a:avLst/>
          </a:prstGeom>
          <a:noFill/>
          <a:ln/>
        </p:spPr>
        <p:txBody>
          <a:bodyPr wrap="square" lIns="0" tIns="0" rIns="0" bIns="0" rtlCol="0" anchor="t"/>
          <a:lstStyle/>
          <a:p>
            <a:pPr algn="ctr" indent="0" marL="0">
              <a:buNone/>
            </a:pPr>
            <a:r>
              <a:rPr lang="en-US" sz="1200" dirty="0">
                <a:solidFill>
                  <a:schemeClr val="accent4"/>
                </a:solidFill>
              </a:rPr>
              <a:t>score once</a:t>
            </a:r>
            <a:endParaRPr lang="en-US" sz="1200" dirty="0"/>
          </a:p>
        </p:txBody>
      </p:sp>
      <p:sp>
        <p:nvSpPr>
          <p:cNvPr id="29" name="Check card"/>
          <p:cNvSpPr/>
          <p:nvPr/>
        </p:nvSpPr>
        <p:spPr>
          <a:xfrm>
            <a:off x="4069080" y="3931920"/>
            <a:ext cx="3649828" cy="960120"/>
          </a:xfrm>
          <a:prstGeom prst="roundRect">
            <a:avLst>
              <a:gd name="adj" fmla="val 9524"/>
            </a:avLst>
          </a:prstGeom>
          <a:solidFill>
            <a:schemeClr val="bg2"/>
          </a:solidFill>
          <a:ln/>
        </p:spPr>
      </p:sp>
      <p:sp>
        <p:nvSpPr>
          <p:cNvPr id="30" name="Dot"/>
          <p:cNvSpPr/>
          <p:nvPr/>
        </p:nvSpPr>
        <p:spPr>
          <a:xfrm>
            <a:off x="4224528" y="4274820"/>
            <a:ext cx="274320" cy="274320"/>
          </a:xfrm>
          <a:prstGeom prst="ellipse">
            <a:avLst/>
          </a:prstGeom>
          <a:solidFill>
            <a:schemeClr val="accent2"/>
          </a:solidFill>
          <a:ln/>
        </p:spPr>
      </p:sp>
      <p:sp>
        <p:nvSpPr>
          <p:cNvPr id="31" name="Text 28"/>
          <p:cNvSpPr txBox="1"/>
          <p:nvPr/>
        </p:nvSpPr>
        <p:spPr>
          <a:xfrm>
            <a:off x="4224528" y="4274820"/>
            <a:ext cx="274320" cy="274320"/>
          </a:xfrm>
          <a:prstGeom prst="rect">
            <a:avLst/>
          </a:prstGeom>
          <a:noFill/>
          <a:ln/>
        </p:spPr>
        <p:txBody>
          <a:bodyPr wrap="square" lIns="0" tIns="0" rIns="0" bIns="0" rtlCol="0" anchor="ctr"/>
          <a:lstStyle/>
          <a:p>
            <a:pPr algn="ctr" indent="0" marL="0">
              <a:buNone/>
            </a:pPr>
            <a:r>
              <a:rPr lang="en-US" sz="1300" b="1" dirty="0">
                <a:solidFill>
                  <a:schemeClr val="bg1"/>
                </a:solidFill>
              </a:rPr>
              <a:t>✓</a:t>
            </a:r>
            <a:endParaRPr lang="en-US" sz="1300" dirty="0"/>
          </a:p>
        </p:txBody>
      </p:sp>
      <p:sp>
        <p:nvSpPr>
          <p:cNvPr id="32" name="Text 29"/>
          <p:cNvSpPr txBox="1"/>
          <p:nvPr/>
        </p:nvSpPr>
        <p:spPr>
          <a:xfrm>
            <a:off x="4636008" y="4041648"/>
            <a:ext cx="2918308" cy="731520"/>
          </a:xfrm>
          <a:prstGeom prst="rect">
            <a:avLst/>
          </a:prstGeom>
          <a:noFill/>
          <a:ln/>
        </p:spPr>
        <p:txBody>
          <a:bodyPr wrap="square" lIns="0" tIns="0" rIns="0" bIns="0" rtlCol="0" anchor="ctr"/>
          <a:lstStyle/>
          <a:p>
            <a:pPr indent="0" marL="0">
              <a:buNone/>
            </a:pPr>
            <a:r>
              <a:rPr lang="en-US" sz="1400" dirty="0">
                <a:solidFill>
                  <a:schemeClr val="tx2"/>
                </a:solidFill>
              </a:rPr>
              <a:t>3,049 files verified, 0 checksum failures</a:t>
            </a:r>
            <a:endParaRPr lang="en-US" sz="1400" dirty="0"/>
          </a:p>
        </p:txBody>
      </p:sp>
      <p:sp>
        <p:nvSpPr>
          <p:cNvPr id="33" name="Check card"/>
          <p:cNvSpPr/>
          <p:nvPr/>
        </p:nvSpPr>
        <p:spPr>
          <a:xfrm>
            <a:off x="7856068" y="3931920"/>
            <a:ext cx="3649828" cy="960120"/>
          </a:xfrm>
          <a:prstGeom prst="roundRect">
            <a:avLst>
              <a:gd name="adj" fmla="val 9524"/>
            </a:avLst>
          </a:prstGeom>
          <a:solidFill>
            <a:schemeClr val="bg2"/>
          </a:solidFill>
          <a:ln/>
        </p:spPr>
      </p:sp>
      <p:sp>
        <p:nvSpPr>
          <p:cNvPr id="34" name="Dot"/>
          <p:cNvSpPr/>
          <p:nvPr/>
        </p:nvSpPr>
        <p:spPr>
          <a:xfrm>
            <a:off x="8011516" y="4274820"/>
            <a:ext cx="274320" cy="274320"/>
          </a:xfrm>
          <a:prstGeom prst="ellipse">
            <a:avLst/>
          </a:prstGeom>
          <a:solidFill>
            <a:schemeClr val="accent2"/>
          </a:solidFill>
          <a:ln/>
        </p:spPr>
      </p:sp>
      <p:sp>
        <p:nvSpPr>
          <p:cNvPr id="35" name="Text 32"/>
          <p:cNvSpPr txBox="1"/>
          <p:nvPr/>
        </p:nvSpPr>
        <p:spPr>
          <a:xfrm>
            <a:off x="8011516" y="4274820"/>
            <a:ext cx="274320" cy="274320"/>
          </a:xfrm>
          <a:prstGeom prst="rect">
            <a:avLst/>
          </a:prstGeom>
          <a:noFill/>
          <a:ln/>
        </p:spPr>
        <p:txBody>
          <a:bodyPr wrap="square" lIns="0" tIns="0" rIns="0" bIns="0" rtlCol="0" anchor="ctr"/>
          <a:lstStyle/>
          <a:p>
            <a:pPr algn="ctr" indent="0" marL="0">
              <a:buNone/>
            </a:pPr>
            <a:r>
              <a:rPr lang="en-US" sz="1300" b="1" dirty="0">
                <a:solidFill>
                  <a:schemeClr val="bg1"/>
                </a:solidFill>
              </a:rPr>
              <a:t>✓</a:t>
            </a:r>
            <a:endParaRPr lang="en-US" sz="1300" dirty="0"/>
          </a:p>
        </p:txBody>
      </p:sp>
      <p:sp>
        <p:nvSpPr>
          <p:cNvPr id="36" name="Text 33"/>
          <p:cNvSpPr txBox="1"/>
          <p:nvPr/>
        </p:nvSpPr>
        <p:spPr>
          <a:xfrm>
            <a:off x="8422996" y="4041648"/>
            <a:ext cx="2918308" cy="731520"/>
          </a:xfrm>
          <a:prstGeom prst="rect">
            <a:avLst/>
          </a:prstGeom>
          <a:noFill/>
          <a:ln/>
        </p:spPr>
        <p:txBody>
          <a:bodyPr wrap="square" lIns="0" tIns="0" rIns="0" bIns="0" rtlCol="0" anchor="ctr"/>
          <a:lstStyle/>
          <a:p>
            <a:pPr indent="0" marL="0">
              <a:buNone/>
            </a:pPr>
            <a:r>
              <a:rPr lang="en-US" sz="1400" dirty="0">
                <a:solidFill>
                  <a:schemeClr val="tx2"/>
                </a:solidFill>
              </a:rPr>
              <a:t>Hourly prices match daily data to about 0.1%</a:t>
            </a:r>
            <a:endParaRPr lang="en-US" sz="1400" dirty="0"/>
          </a:p>
        </p:txBody>
      </p:sp>
      <p:sp>
        <p:nvSpPr>
          <p:cNvPr id="37" name="Check card"/>
          <p:cNvSpPr/>
          <p:nvPr/>
        </p:nvSpPr>
        <p:spPr>
          <a:xfrm>
            <a:off x="4069080" y="5029200"/>
            <a:ext cx="3649828" cy="960120"/>
          </a:xfrm>
          <a:prstGeom prst="roundRect">
            <a:avLst>
              <a:gd name="adj" fmla="val 9524"/>
            </a:avLst>
          </a:prstGeom>
          <a:solidFill>
            <a:schemeClr val="bg2"/>
          </a:solidFill>
          <a:ln/>
        </p:spPr>
      </p:sp>
      <p:sp>
        <p:nvSpPr>
          <p:cNvPr id="38" name="Dot"/>
          <p:cNvSpPr/>
          <p:nvPr/>
        </p:nvSpPr>
        <p:spPr>
          <a:xfrm>
            <a:off x="4224528" y="5372100"/>
            <a:ext cx="274320" cy="274320"/>
          </a:xfrm>
          <a:prstGeom prst="ellipse">
            <a:avLst/>
          </a:prstGeom>
          <a:solidFill>
            <a:schemeClr val="accent2"/>
          </a:solidFill>
          <a:ln/>
        </p:spPr>
      </p:sp>
      <p:sp>
        <p:nvSpPr>
          <p:cNvPr id="39" name="Text 36"/>
          <p:cNvSpPr txBox="1"/>
          <p:nvPr/>
        </p:nvSpPr>
        <p:spPr>
          <a:xfrm>
            <a:off x="4224528" y="5372100"/>
            <a:ext cx="274320" cy="274320"/>
          </a:xfrm>
          <a:prstGeom prst="rect">
            <a:avLst/>
          </a:prstGeom>
          <a:noFill/>
          <a:ln/>
        </p:spPr>
        <p:txBody>
          <a:bodyPr wrap="square" lIns="0" tIns="0" rIns="0" bIns="0" rtlCol="0" anchor="ctr"/>
          <a:lstStyle/>
          <a:p>
            <a:pPr algn="ctr" indent="0" marL="0">
              <a:buNone/>
            </a:pPr>
            <a:r>
              <a:rPr lang="en-US" sz="1300" b="1" dirty="0">
                <a:solidFill>
                  <a:schemeClr val="bg1"/>
                </a:solidFill>
              </a:rPr>
              <a:t>✓</a:t>
            </a:r>
            <a:endParaRPr lang="en-US" sz="1300" dirty="0"/>
          </a:p>
        </p:txBody>
      </p:sp>
      <p:sp>
        <p:nvSpPr>
          <p:cNvPr id="40" name="Text 37"/>
          <p:cNvSpPr txBox="1"/>
          <p:nvPr/>
        </p:nvSpPr>
        <p:spPr>
          <a:xfrm>
            <a:off x="4636008" y="5138928"/>
            <a:ext cx="2918308" cy="731520"/>
          </a:xfrm>
          <a:prstGeom prst="rect">
            <a:avLst/>
          </a:prstGeom>
          <a:noFill/>
          <a:ln/>
        </p:spPr>
        <p:txBody>
          <a:bodyPr wrap="square" lIns="0" tIns="0" rIns="0" bIns="0" rtlCol="0" anchor="ctr"/>
          <a:lstStyle/>
          <a:p>
            <a:pPr indent="0" marL="0">
              <a:buNone/>
            </a:pPr>
            <a:r>
              <a:rPr lang="en-US" sz="1400" dirty="0">
                <a:solidFill>
                  <a:schemeClr val="tx2"/>
                </a:solidFill>
              </a:rPr>
              <a:t>Delistings and ticker changes are masked, never spliced</a:t>
            </a:r>
            <a:endParaRPr lang="en-US" sz="1400" dirty="0"/>
          </a:p>
        </p:txBody>
      </p:sp>
      <p:sp>
        <p:nvSpPr>
          <p:cNvPr id="41" name="Check card"/>
          <p:cNvSpPr/>
          <p:nvPr/>
        </p:nvSpPr>
        <p:spPr>
          <a:xfrm>
            <a:off x="7856068" y="5029200"/>
            <a:ext cx="3649828" cy="960120"/>
          </a:xfrm>
          <a:prstGeom prst="roundRect">
            <a:avLst>
              <a:gd name="adj" fmla="val 9524"/>
            </a:avLst>
          </a:prstGeom>
          <a:solidFill>
            <a:schemeClr val="bg2"/>
          </a:solidFill>
          <a:ln/>
        </p:spPr>
      </p:sp>
      <p:sp>
        <p:nvSpPr>
          <p:cNvPr id="42" name="Dot"/>
          <p:cNvSpPr/>
          <p:nvPr/>
        </p:nvSpPr>
        <p:spPr>
          <a:xfrm>
            <a:off x="8011516" y="5372100"/>
            <a:ext cx="274320" cy="274320"/>
          </a:xfrm>
          <a:prstGeom prst="ellipse">
            <a:avLst/>
          </a:prstGeom>
          <a:solidFill>
            <a:schemeClr val="accent2"/>
          </a:solidFill>
          <a:ln/>
        </p:spPr>
      </p:sp>
      <p:sp>
        <p:nvSpPr>
          <p:cNvPr id="43" name="Text 40"/>
          <p:cNvSpPr txBox="1"/>
          <p:nvPr/>
        </p:nvSpPr>
        <p:spPr>
          <a:xfrm>
            <a:off x="8011516" y="5372100"/>
            <a:ext cx="274320" cy="274320"/>
          </a:xfrm>
          <a:prstGeom prst="rect">
            <a:avLst/>
          </a:prstGeom>
          <a:noFill/>
          <a:ln/>
        </p:spPr>
        <p:txBody>
          <a:bodyPr wrap="square" lIns="0" tIns="0" rIns="0" bIns="0" rtlCol="0" anchor="ctr"/>
          <a:lstStyle/>
          <a:p>
            <a:pPr algn="ctr" indent="0" marL="0">
              <a:buNone/>
            </a:pPr>
            <a:r>
              <a:rPr lang="en-US" sz="1300" b="1" dirty="0">
                <a:solidFill>
                  <a:schemeClr val="bg1"/>
                </a:solidFill>
              </a:rPr>
              <a:t>✓</a:t>
            </a:r>
            <a:endParaRPr lang="en-US" sz="1300" dirty="0"/>
          </a:p>
        </p:txBody>
      </p:sp>
      <p:sp>
        <p:nvSpPr>
          <p:cNvPr id="44" name="Text 41"/>
          <p:cNvSpPr txBox="1"/>
          <p:nvPr/>
        </p:nvSpPr>
        <p:spPr>
          <a:xfrm>
            <a:off x="8422996" y="5138928"/>
            <a:ext cx="2918308" cy="731520"/>
          </a:xfrm>
          <a:prstGeom prst="rect">
            <a:avLst/>
          </a:prstGeom>
          <a:noFill/>
          <a:ln/>
        </p:spPr>
        <p:txBody>
          <a:bodyPr wrap="square" lIns="0" tIns="0" rIns="0" bIns="0" rtlCol="0" anchor="ctr"/>
          <a:lstStyle/>
          <a:p>
            <a:pPr indent="0" marL="0">
              <a:buNone/>
            </a:pPr>
            <a:r>
              <a:rPr lang="en-US" sz="1400" dirty="0">
                <a:solidFill>
                  <a:schemeClr val="tx2"/>
                </a:solidFill>
              </a:rPr>
              <a:t>Time-of-day volatility pattern (0.69× to 2.17×) removed using training data only</a:t>
            </a:r>
            <a:endParaRPr lang="en-US" sz="1400" dirty="0"/>
          </a:p>
        </p:txBody>
      </p:sp>
      <p:sp>
        <p:nvSpPr>
          <p:cNvPr id="45" name="Text 42"/>
          <p:cNvSpPr txBox="1"/>
          <p:nvPr/>
        </p:nvSpPr>
        <p:spPr>
          <a:xfrm>
            <a:off x="4069080" y="6080760"/>
            <a:ext cx="4572000" cy="256032"/>
          </a:xfrm>
          <a:prstGeom prst="rect">
            <a:avLst/>
          </a:prstGeom>
          <a:noFill/>
          <a:ln/>
        </p:spPr>
        <p:txBody>
          <a:bodyPr wrap="square" lIns="0" tIns="0" rIns="0" bIns="0" rtlCol="0" anchor="t"/>
          <a:lstStyle/>
          <a:p>
            <a:pPr indent="0" marL="0">
              <a:buNone/>
            </a:pPr>
            <a:r>
              <a:rPr lang="en-US" sz="1200" i="1" dirty="0">
                <a:solidFill>
                  <a:schemeClr val="accent4"/>
                </a:solidFill>
              </a:rPr>
              <a:t>7-day embargo at each boundary</a:t>
            </a:r>
            <a:endParaRPr lang="en-US" sz="1200" dirty="0"/>
          </a:p>
        </p:txBody>
      </p:sp>
      <p:sp>
        <p:nvSpPr>
          <p:cNvPr id="25" name="Slide Number Placeholder 0"/>
          <p:cNvSpPr>
            <a:spLocks noGrp="1"/>
          </p:cNvSpPr>
          <p:nvPr>
            <p:ph type="sldNum" sz="quarter" idx="4294967295"/>
          </p:nvPr>
        </p:nvSpPr>
        <p:spPr>
          <a:xfrm>
            <a:off x="11094415" y="6437376"/>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31520"/>
          </a:xfrm>
          <a:prstGeom prst="rect">
            <a:avLst/>
          </a:prstGeom>
          <a:noFill/>
          <a:ln/>
        </p:spPr>
        <p:txBody>
          <a:bodyPr wrap="square" lIns="0" tIns="0" rIns="0" bIns="0" rtlCol="0" anchor="ctr"/>
          <a:lstStyle/>
          <a:p>
            <a:pPr algn="l" indent="0" marL="0">
              <a:buNone/>
            </a:pPr>
            <a:r>
              <a:rPr lang="en-US" sz="3400" b="1" dirty="0">
                <a:solidFill>
                  <a:schemeClr val="tx2"/>
                </a:solidFill>
              </a:rPr>
              <a:t>How we quantify a shock</a:t>
            </a:r>
            <a:endParaRPr lang="en-US" sz="3400" dirty="0"/>
          </a:p>
        </p:txBody>
      </p:sp>
      <p:sp>
        <p:nvSpPr>
          <p:cNvPr id="3" name="Text 0"/>
          <p:cNvSpPr/>
          <p:nvPr>
            <p:ph idx="101" type="body" hasCustomPrompt="1"/>
          </p:nvPr>
        </p:nvSpPr>
        <p:spPr>
          <a:xfrm>
            <a:off x="548640" y="1097280"/>
            <a:ext cx="11094415" cy="457200"/>
          </a:xfrm>
          <a:prstGeom prst="rect">
            <a:avLst/>
          </a:prstGeom>
          <a:noFill/>
          <a:ln/>
        </p:spPr>
        <p:txBody>
          <a:bodyPr wrap="square" lIns="0" tIns="0" rIns="0" bIns="0" rtlCol="0" anchor="t"/>
          <a:lstStyle/>
          <a:p>
            <a:pPr algn="l" indent="0" marL="0">
              <a:buNone/>
            </a:pPr>
            <a:r>
              <a:rPr lang="en-US" sz="1700" dirty="0">
                <a:solidFill>
                  <a:schemeClr val="accent4"/>
                </a:solidFill>
              </a:rPr>
              <a:t>One fixed numerical rule, fitted on training data only</a:t>
            </a:r>
            <a:endParaRPr lang="en-US" sz="1700" dirty="0"/>
          </a:p>
        </p:txBody>
      </p:sp>
      <p:sp>
        <p:nvSpPr>
          <p:cNvPr id="5" name="Shock card"/>
          <p:cNvSpPr/>
          <p:nvPr/>
        </p:nvSpPr>
        <p:spPr>
          <a:xfrm>
            <a:off x="548640" y="1783080"/>
            <a:ext cx="3566160" cy="3474720"/>
          </a:xfrm>
          <a:prstGeom prst="roundRect">
            <a:avLst>
              <a:gd name="adj" fmla="val 2632"/>
            </a:avLst>
          </a:prstGeom>
          <a:solidFill>
            <a:schemeClr val="bg2"/>
          </a:solidFill>
          <a:ln/>
        </p:spPr>
      </p:sp>
      <p:sp>
        <p:nvSpPr>
          <p:cNvPr id="6" name="Text 3"/>
          <p:cNvSpPr txBox="1"/>
          <p:nvPr/>
        </p:nvSpPr>
        <p:spPr>
          <a:xfrm>
            <a:off x="777240" y="1920240"/>
            <a:ext cx="457200" cy="457200"/>
          </a:xfrm>
          <a:prstGeom prst="rect">
            <a:avLst/>
          </a:prstGeom>
          <a:noFill/>
          <a:ln/>
        </p:spPr>
        <p:txBody>
          <a:bodyPr wrap="square" lIns="0" tIns="0" rIns="0" bIns="0" rtlCol="0" anchor="ctr"/>
          <a:lstStyle/>
          <a:p>
            <a:pPr indent="0" marL="0">
              <a:buNone/>
            </a:pPr>
            <a:r>
              <a:rPr lang="en-US" sz="2600" b="1" dirty="0">
                <a:solidFill>
                  <a:schemeClr val="accent1"/>
                </a:solidFill>
                <a:latin typeface="+mj-lt" pitchFamily="34" charset="0"/>
                <a:ea typeface="+mj-lt" pitchFamily="34" charset="-122"/>
                <a:cs typeface="+mj-lt" pitchFamily="34" charset="-120"/>
              </a:rPr>
              <a:t>1</a:t>
            </a:r>
            <a:endParaRPr lang="en-US" sz="2600" dirty="0"/>
          </a:p>
        </p:txBody>
      </p:sp>
      <p:sp>
        <p:nvSpPr>
          <p:cNvPr id="7" name="Text 4"/>
          <p:cNvSpPr txBox="1"/>
          <p:nvPr/>
        </p:nvSpPr>
        <p:spPr>
          <a:xfrm>
            <a:off x="1234440" y="1920240"/>
            <a:ext cx="2651760" cy="457200"/>
          </a:xfrm>
          <a:prstGeom prst="rect">
            <a:avLst/>
          </a:prstGeom>
          <a:noFill/>
          <a:ln/>
        </p:spPr>
        <p:txBody>
          <a:bodyPr wrap="square" lIns="0" tIns="0" rIns="0" bIns="0" rtlCol="0" anchor="ctr"/>
          <a:lstStyle/>
          <a:p>
            <a:pPr indent="0" marL="0">
              <a:buNone/>
            </a:pPr>
            <a:r>
              <a:rPr lang="en-US" sz="2000" b="1" dirty="0">
                <a:solidFill>
                  <a:schemeClr val="tx2"/>
                </a:solidFill>
              </a:rPr>
              <a:t>A shock</a:t>
            </a:r>
            <a:endParaRPr lang="en-US" sz="2000" dirty="0"/>
          </a:p>
        </p:txBody>
      </p:sp>
      <p:sp>
        <p:nvSpPr>
          <p:cNvPr id="8" name="Text 5"/>
          <p:cNvSpPr txBox="1"/>
          <p:nvPr/>
        </p:nvSpPr>
        <p:spPr>
          <a:xfrm>
            <a:off x="777240" y="2514600"/>
            <a:ext cx="3108960" cy="731520"/>
          </a:xfrm>
          <a:prstGeom prst="rect">
            <a:avLst/>
          </a:prstGeom>
          <a:noFill/>
          <a:ln/>
        </p:spPr>
        <p:txBody>
          <a:bodyPr wrap="square" lIns="0" tIns="0" rIns="0" bIns="0" rtlCol="0" anchor="ctr"/>
          <a:lstStyle/>
          <a:p>
            <a:pPr indent="0" marL="0">
              <a:buNone/>
            </a:pPr>
            <a:r>
              <a:rPr lang="en-US" sz="4000" b="1" i="1" dirty="0">
                <a:solidFill>
                  <a:schemeClr val="accent1"/>
                </a:solidFill>
                <a:latin typeface="+mj-lt" pitchFamily="34" charset="0"/>
                <a:ea typeface="+mj-lt" pitchFamily="34" charset="-122"/>
                <a:cs typeface="+mj-lt" pitchFamily="34" charset="-120"/>
              </a:rPr>
              <a:t>z</a:t>
            </a:r>
            <a:pPr indent="0" marL="0">
              <a:buNone/>
            </a:pPr>
            <a:r>
              <a:rPr lang="en-US" sz="4000" b="1" dirty="0">
                <a:solidFill>
                  <a:schemeClr val="accent1"/>
                </a:solidFill>
                <a:latin typeface="+mj-lt" pitchFamily="34" charset="0"/>
                <a:ea typeface="+mj-lt" pitchFamily="34" charset="-122"/>
                <a:cs typeface="+mj-lt" pitchFamily="34" charset="-120"/>
              </a:rPr>
              <a:t> = </a:t>
            </a:r>
            <a:pPr indent="0" marL="0">
              <a:buNone/>
            </a:pPr>
            <a:r>
              <a:rPr lang="en-US" sz="4000" b="1" i="1" dirty="0">
                <a:solidFill>
                  <a:schemeClr val="accent1"/>
                </a:solidFill>
                <a:latin typeface="+mj-lt" pitchFamily="34" charset="0"/>
                <a:ea typeface="+mj-lt" pitchFamily="34" charset="-122"/>
                <a:cs typeface="+mj-lt" pitchFamily="34" charset="-120"/>
              </a:rPr>
              <a:t>r</a:t>
            </a:r>
            <a:pPr indent="0" marL="0">
              <a:buNone/>
            </a:pPr>
            <a:r>
              <a:rPr lang="en-US" sz="4000" b="1" dirty="0">
                <a:solidFill>
                  <a:schemeClr val="accent1"/>
                </a:solidFill>
                <a:latin typeface="+mj-lt" pitchFamily="34" charset="0"/>
                <a:ea typeface="+mj-lt" pitchFamily="34" charset="-122"/>
                <a:cs typeface="+mj-lt" pitchFamily="34" charset="-120"/>
              </a:rPr>
              <a:t> / </a:t>
            </a:r>
            <a:pPr indent="0" marL="0">
              <a:buNone/>
            </a:pPr>
            <a:r>
              <a:rPr lang="en-US" sz="4000" b="1" i="1" dirty="0">
                <a:solidFill>
                  <a:schemeClr val="accent1"/>
                </a:solidFill>
                <a:latin typeface="+mj-lt" pitchFamily="34" charset="0"/>
                <a:ea typeface="+mj-lt" pitchFamily="34" charset="-122"/>
                <a:cs typeface="+mj-lt" pitchFamily="34" charset="-120"/>
              </a:rPr>
              <a:t>σ</a:t>
            </a:r>
            <a:endParaRPr lang="en-US" sz="4000" dirty="0"/>
          </a:p>
        </p:txBody>
      </p:sp>
      <p:sp>
        <p:nvSpPr>
          <p:cNvPr id="9" name="Text 6"/>
          <p:cNvSpPr txBox="1"/>
          <p:nvPr/>
        </p:nvSpPr>
        <p:spPr>
          <a:xfrm>
            <a:off x="777240" y="3337560"/>
            <a:ext cx="3108960" cy="868680"/>
          </a:xfrm>
          <a:prstGeom prst="rect">
            <a:avLst/>
          </a:prstGeom>
          <a:noFill/>
          <a:ln/>
        </p:spPr>
        <p:txBody>
          <a:bodyPr wrap="square" lIns="0" tIns="0" rIns="0" bIns="0" rtlCol="0" anchor="t"/>
          <a:lstStyle/>
          <a:p>
            <a:pPr indent="0" marL="0">
              <a:buNone/>
            </a:pPr>
            <a:r>
              <a:rPr lang="en-US" sz="1400" b="1" dirty="0">
                <a:solidFill>
                  <a:schemeClr val="tx2"/>
                </a:solidFill>
              </a:rPr>
              <a:t>r: </a:t>
            </a:r>
            <a:pPr indent="0" marL="0">
              <a:buNone/>
            </a:pPr>
            <a:r>
              <a:rPr lang="en-US" sz="1400" dirty="0">
                <a:solidFill>
                  <a:schemeClr val="tx2"/>
                </a:solidFill>
              </a:rPr>
              <a:t>de-seasonalised hourly return</a:t>
            </a:r>
            <a:endParaRPr lang="en-US" sz="1400" dirty="0"/>
          </a:p>
          <a:p>
            <a:pPr indent="0" marL="0">
              <a:buNone/>
            </a:pPr>
            <a:r>
              <a:rPr lang="en-US" sz="1400" b="1" dirty="0">
                <a:solidFill>
                  <a:schemeClr val="tx2"/>
                </a:solidFill>
              </a:rPr>
              <a:t>σ: </a:t>
            </a:r>
            <a:pPr indent="0" marL="0">
              <a:buNone/>
            </a:pPr>
            <a:r>
              <a:rPr lang="en-US" sz="1400" dirty="0">
                <a:solidFill>
                  <a:schemeClr val="tx2"/>
                </a:solidFill>
              </a:rPr>
              <a:t>volatility of the previous 168 hours (up to t−1)</a:t>
            </a:r>
            <a:endParaRPr lang="en-US" sz="1400" dirty="0"/>
          </a:p>
        </p:txBody>
      </p:sp>
      <p:sp>
        <p:nvSpPr>
          <p:cNvPr id="10" name="Text 7"/>
          <p:cNvSpPr txBox="1"/>
          <p:nvPr/>
        </p:nvSpPr>
        <p:spPr>
          <a:xfrm>
            <a:off x="777240" y="4434840"/>
            <a:ext cx="3108960" cy="777240"/>
          </a:xfrm>
          <a:prstGeom prst="rect">
            <a:avLst/>
          </a:prstGeom>
          <a:noFill/>
          <a:ln/>
        </p:spPr>
        <p:txBody>
          <a:bodyPr wrap="square" lIns="0" tIns="0" rIns="0" bIns="0" rtlCol="0" anchor="t"/>
          <a:lstStyle/>
          <a:p>
            <a:pPr indent="0" marL="0">
              <a:buNone/>
            </a:pPr>
            <a:r>
              <a:rPr lang="en-US" sz="1400" b="1" dirty="0">
                <a:solidFill>
                  <a:schemeClr val="tx2"/>
                </a:solidFill>
              </a:rPr>
              <a:t>Shock if |z| &gt; 2.29: about 4% of training hours. Crashes and pumps both count.</a:t>
            </a:r>
            <a:endParaRPr lang="en-US" sz="1400" dirty="0"/>
          </a:p>
        </p:txBody>
      </p:sp>
      <p:sp>
        <p:nvSpPr>
          <p:cNvPr id="11" name="Label card"/>
          <p:cNvSpPr/>
          <p:nvPr/>
        </p:nvSpPr>
        <p:spPr>
          <a:xfrm>
            <a:off x="4311396" y="1783080"/>
            <a:ext cx="3566160" cy="3474720"/>
          </a:xfrm>
          <a:prstGeom prst="roundRect">
            <a:avLst>
              <a:gd name="adj" fmla="val 2632"/>
            </a:avLst>
          </a:prstGeom>
          <a:solidFill>
            <a:schemeClr val="bg2"/>
          </a:solidFill>
          <a:ln/>
        </p:spPr>
      </p:sp>
      <p:sp>
        <p:nvSpPr>
          <p:cNvPr id="12" name="Text 9"/>
          <p:cNvSpPr txBox="1"/>
          <p:nvPr/>
        </p:nvSpPr>
        <p:spPr>
          <a:xfrm>
            <a:off x="4539996" y="1920240"/>
            <a:ext cx="457200" cy="457200"/>
          </a:xfrm>
          <a:prstGeom prst="rect">
            <a:avLst/>
          </a:prstGeom>
          <a:noFill/>
          <a:ln/>
        </p:spPr>
        <p:txBody>
          <a:bodyPr wrap="square" lIns="0" tIns="0" rIns="0" bIns="0" rtlCol="0" anchor="ctr"/>
          <a:lstStyle/>
          <a:p>
            <a:pPr indent="0" marL="0">
              <a:buNone/>
            </a:pPr>
            <a:r>
              <a:rPr lang="en-US" sz="2600" b="1" dirty="0">
                <a:solidFill>
                  <a:schemeClr val="accent1"/>
                </a:solidFill>
                <a:latin typeface="+mj-lt" pitchFamily="34" charset="0"/>
                <a:ea typeface="+mj-lt" pitchFamily="34" charset="-122"/>
                <a:cs typeface="+mj-lt" pitchFamily="34" charset="-120"/>
              </a:rPr>
              <a:t>2</a:t>
            </a:r>
            <a:endParaRPr lang="en-US" sz="2600" dirty="0"/>
          </a:p>
        </p:txBody>
      </p:sp>
      <p:sp>
        <p:nvSpPr>
          <p:cNvPr id="13" name="Text 10"/>
          <p:cNvSpPr txBox="1"/>
          <p:nvPr/>
        </p:nvSpPr>
        <p:spPr>
          <a:xfrm>
            <a:off x="4997196" y="1920240"/>
            <a:ext cx="2651760" cy="457200"/>
          </a:xfrm>
          <a:prstGeom prst="rect">
            <a:avLst/>
          </a:prstGeom>
          <a:noFill/>
          <a:ln/>
        </p:spPr>
        <p:txBody>
          <a:bodyPr wrap="square" lIns="0" tIns="0" rIns="0" bIns="0" rtlCol="0" anchor="ctr"/>
          <a:lstStyle/>
          <a:p>
            <a:pPr indent="0" marL="0">
              <a:buNone/>
            </a:pPr>
            <a:r>
              <a:rPr lang="en-US" sz="2000" b="1" dirty="0">
                <a:solidFill>
                  <a:schemeClr val="tx2"/>
                </a:solidFill>
              </a:rPr>
              <a:t>The contagion label</a:t>
            </a:r>
            <a:endParaRPr lang="en-US" sz="2000" dirty="0"/>
          </a:p>
        </p:txBody>
      </p:sp>
      <p:sp>
        <p:nvSpPr>
          <p:cNvPr id="14" name="Text 11"/>
          <p:cNvSpPr txBox="1"/>
          <p:nvPr/>
        </p:nvSpPr>
        <p:spPr>
          <a:xfrm>
            <a:off x="4539996" y="2423160"/>
            <a:ext cx="3108960" cy="777240"/>
          </a:xfrm>
          <a:prstGeom prst="rect">
            <a:avLst/>
          </a:prstGeom>
          <a:noFill/>
          <a:ln/>
        </p:spPr>
        <p:txBody>
          <a:bodyPr wrap="square" lIns="0" tIns="0" rIns="0" bIns="0" rtlCol="0" anchor="t"/>
          <a:lstStyle/>
          <a:p>
            <a:pPr indent="0" marL="0">
              <a:buNone/>
            </a:pPr>
            <a:r>
              <a:rPr lang="en-US" sz="1800" i="1" dirty="0">
                <a:solidFill>
                  <a:schemeClr val="tx2"/>
                </a:solidFill>
              </a:rPr>
              <a:t>y</a:t>
            </a:r>
            <a:pPr indent="0" marL="0">
              <a:buNone/>
            </a:pPr>
            <a:r>
              <a:rPr lang="en-US" sz="1800" dirty="0">
                <a:solidFill>
                  <a:schemeClr val="tx2"/>
                </a:solidFill>
              </a:rPr>
              <a:t>(k) = 1 if coin </a:t>
            </a:r>
            <a:pPr indent="0" marL="0">
              <a:buNone/>
            </a:pPr>
            <a:r>
              <a:rPr lang="en-US" sz="1800" i="1" dirty="0">
                <a:solidFill>
                  <a:schemeClr val="tx2"/>
                </a:solidFill>
              </a:rPr>
              <a:t>j</a:t>
            </a:r>
            <a:pPr indent="0" marL="0">
              <a:buNone/>
            </a:pPr>
            <a:r>
              <a:rPr lang="en-US" sz="1800" dirty="0">
                <a:solidFill>
                  <a:schemeClr val="tx2"/>
                </a:solidFill>
              </a:rPr>
              <a:t> shocks in hours </a:t>
            </a:r>
            <a:pPr indent="0" marL="0">
              <a:buNone/>
            </a:pPr>
            <a:r>
              <a:rPr lang="en-US" sz="1800" i="1" dirty="0">
                <a:solidFill>
                  <a:schemeClr val="tx2"/>
                </a:solidFill>
              </a:rPr>
              <a:t>t</a:t>
            </a:r>
            <a:pPr indent="0" marL="0">
              <a:buNone/>
            </a:pPr>
            <a:r>
              <a:rPr lang="en-US" sz="1800" dirty="0">
                <a:solidFill>
                  <a:schemeClr val="tx2"/>
                </a:solidFill>
              </a:rPr>
              <a:t>+1 … </a:t>
            </a:r>
            <a:pPr indent="0" marL="0">
              <a:buNone/>
            </a:pPr>
            <a:r>
              <a:rPr lang="en-US" sz="1800" i="1" dirty="0">
                <a:solidFill>
                  <a:schemeClr val="tx2"/>
                </a:solidFill>
              </a:rPr>
              <a:t>t</a:t>
            </a:r>
            <a:pPr indent="0" marL="0">
              <a:buNone/>
            </a:pPr>
            <a:r>
              <a:rPr lang="en-US" sz="1800" dirty="0">
                <a:solidFill>
                  <a:schemeClr val="tx2"/>
                </a:solidFill>
              </a:rPr>
              <a:t>+</a:t>
            </a:r>
            <a:pPr indent="0" marL="0">
              <a:buNone/>
            </a:pPr>
            <a:r>
              <a:rPr lang="en-US" sz="1800" i="1" dirty="0">
                <a:solidFill>
                  <a:schemeClr val="tx2"/>
                </a:solidFill>
              </a:rPr>
              <a:t>k</a:t>
            </a:r>
            <a:endParaRPr lang="en-US" sz="1800" dirty="0"/>
          </a:p>
        </p:txBody>
      </p:sp>
      <p:sp>
        <p:nvSpPr>
          <p:cNvPr id="15" name="Time axis"/>
          <p:cNvSpPr/>
          <p:nvPr/>
        </p:nvSpPr>
        <p:spPr>
          <a:xfrm>
            <a:off x="4585716" y="3840480"/>
            <a:ext cx="3017520" cy="0"/>
          </a:xfrm>
          <a:prstGeom prst="line">
            <a:avLst/>
          </a:prstGeom>
          <a:noFill/>
          <a:ln w="25400">
            <a:solidFill>
              <a:schemeClr val="accent5"/>
            </a:solidFill>
            <a:prstDash val="solid"/>
            <a:tailEnd type="triangle"/>
          </a:ln>
        </p:spPr>
      </p:sp>
      <p:sp>
        <p:nvSpPr>
          <p:cNvPr id="16" name="Dot"/>
          <p:cNvSpPr/>
          <p:nvPr/>
        </p:nvSpPr>
        <p:spPr>
          <a:xfrm>
            <a:off x="4905756" y="3703320"/>
            <a:ext cx="274320" cy="274320"/>
          </a:xfrm>
          <a:prstGeom prst="ellipse">
            <a:avLst/>
          </a:prstGeom>
          <a:solidFill>
            <a:schemeClr val="accent1"/>
          </a:solidFill>
          <a:ln/>
        </p:spPr>
      </p:sp>
      <p:sp>
        <p:nvSpPr>
          <p:cNvPr id="17" name="Text 14"/>
          <p:cNvSpPr txBox="1"/>
          <p:nvPr/>
        </p:nvSpPr>
        <p:spPr>
          <a:xfrm>
            <a:off x="4905756" y="3383280"/>
            <a:ext cx="274320" cy="274320"/>
          </a:xfrm>
          <a:prstGeom prst="rect">
            <a:avLst/>
          </a:prstGeom>
          <a:noFill/>
          <a:ln/>
        </p:spPr>
        <p:txBody>
          <a:bodyPr wrap="square" lIns="0" tIns="0" rIns="0" bIns="0" rtlCol="0" anchor="t"/>
          <a:lstStyle/>
          <a:p>
            <a:pPr algn="ctr" indent="0" marL="0">
              <a:buNone/>
            </a:pPr>
            <a:r>
              <a:rPr lang="en-US" sz="1400" b="1" i="1" dirty="0">
                <a:solidFill>
                  <a:schemeClr val="accent1"/>
                </a:solidFill>
              </a:rPr>
              <a:t>t</a:t>
            </a:r>
            <a:endParaRPr lang="en-US" sz="1400" dirty="0"/>
          </a:p>
        </p:txBody>
      </p:sp>
      <p:sp>
        <p:nvSpPr>
          <p:cNvPr id="18" name="Label window"/>
          <p:cNvSpPr/>
          <p:nvPr/>
        </p:nvSpPr>
        <p:spPr>
          <a:xfrm>
            <a:off x="5225796" y="3730752"/>
            <a:ext cx="1691640" cy="219456"/>
          </a:xfrm>
          <a:prstGeom prst="roundRect">
            <a:avLst>
              <a:gd name="adj" fmla="val 16667"/>
            </a:avLst>
          </a:prstGeom>
          <a:solidFill>
            <a:schemeClr val="accent2"/>
          </a:solidFill>
          <a:ln/>
        </p:spPr>
      </p:sp>
      <p:sp>
        <p:nvSpPr>
          <p:cNvPr id="19" name="Text 16"/>
          <p:cNvSpPr txBox="1"/>
          <p:nvPr/>
        </p:nvSpPr>
        <p:spPr>
          <a:xfrm>
            <a:off x="5225796" y="3383280"/>
            <a:ext cx="1737360" cy="274320"/>
          </a:xfrm>
          <a:prstGeom prst="rect">
            <a:avLst/>
          </a:prstGeom>
          <a:noFill/>
          <a:ln/>
        </p:spPr>
        <p:txBody>
          <a:bodyPr wrap="square" lIns="0" tIns="0" rIns="0" bIns="0" rtlCol="0" anchor="t"/>
          <a:lstStyle/>
          <a:p>
            <a:pPr indent="0" marL="0">
              <a:buNone/>
            </a:pPr>
            <a:r>
              <a:rPr lang="en-US" sz="1200" b="1" dirty="0">
                <a:solidFill>
                  <a:schemeClr val="accent2"/>
                </a:solidFill>
              </a:rPr>
              <a:t>j must shock here</a:t>
            </a:r>
            <a:endParaRPr lang="en-US" sz="1200" dirty="0"/>
          </a:p>
        </p:txBody>
      </p:sp>
      <p:sp>
        <p:nvSpPr>
          <p:cNvPr id="20" name="Text 17"/>
          <p:cNvSpPr txBox="1"/>
          <p:nvPr/>
        </p:nvSpPr>
        <p:spPr>
          <a:xfrm>
            <a:off x="6780276" y="4005072"/>
            <a:ext cx="457200" cy="256032"/>
          </a:xfrm>
          <a:prstGeom prst="rect">
            <a:avLst/>
          </a:prstGeom>
          <a:noFill/>
          <a:ln/>
        </p:spPr>
        <p:txBody>
          <a:bodyPr wrap="square" lIns="0" tIns="0" rIns="0" bIns="0" rtlCol="0" anchor="t"/>
          <a:lstStyle/>
          <a:p>
            <a:pPr indent="0" marL="0">
              <a:buNone/>
            </a:pPr>
            <a:r>
              <a:rPr lang="en-US" sz="1300" b="1" i="1" dirty="0">
                <a:solidFill>
                  <a:schemeClr val="accent2"/>
                </a:solidFill>
              </a:rPr>
              <a:t>t+k</a:t>
            </a:r>
            <a:endParaRPr lang="en-US" sz="1300" dirty="0"/>
          </a:p>
        </p:txBody>
      </p:sp>
      <p:sp>
        <p:nvSpPr>
          <p:cNvPr id="21" name="Text 18"/>
          <p:cNvSpPr txBox="1"/>
          <p:nvPr/>
        </p:nvSpPr>
        <p:spPr>
          <a:xfrm>
            <a:off x="4539996" y="4434840"/>
            <a:ext cx="3108960" cy="777240"/>
          </a:xfrm>
          <a:prstGeom prst="rect">
            <a:avLst/>
          </a:prstGeom>
          <a:noFill/>
          <a:ln/>
        </p:spPr>
        <p:txBody>
          <a:bodyPr wrap="square" lIns="0" tIns="0" rIns="0" bIns="0" rtlCol="0" anchor="t"/>
          <a:lstStyle/>
          <a:p>
            <a:pPr indent="0" marL="0">
              <a:buNone/>
            </a:pPr>
            <a:r>
              <a:rPr lang="en-US" sz="1400" b="1" dirty="0">
                <a:solidFill>
                  <a:schemeClr val="tx2"/>
                </a:solidFill>
              </a:rPr>
              <a:t>Strictly later hours only: a same-hour move is co-movement, not contagion.</a:t>
            </a:r>
            <a:endParaRPr lang="en-US" sz="1400" dirty="0"/>
          </a:p>
        </p:txBody>
      </p:sp>
      <p:sp>
        <p:nvSpPr>
          <p:cNvPr id="22" name="Type card"/>
          <p:cNvSpPr/>
          <p:nvPr/>
        </p:nvSpPr>
        <p:spPr>
          <a:xfrm>
            <a:off x="8074152" y="1783080"/>
            <a:ext cx="3566160" cy="3474720"/>
          </a:xfrm>
          <a:prstGeom prst="roundRect">
            <a:avLst>
              <a:gd name="adj" fmla="val 2632"/>
            </a:avLst>
          </a:prstGeom>
          <a:solidFill>
            <a:schemeClr val="bg2"/>
          </a:solidFill>
          <a:ln/>
        </p:spPr>
      </p:sp>
      <p:sp>
        <p:nvSpPr>
          <p:cNvPr id="23" name="Text 20"/>
          <p:cNvSpPr txBox="1"/>
          <p:nvPr/>
        </p:nvSpPr>
        <p:spPr>
          <a:xfrm>
            <a:off x="8302752" y="1920240"/>
            <a:ext cx="457200" cy="457200"/>
          </a:xfrm>
          <a:prstGeom prst="rect">
            <a:avLst/>
          </a:prstGeom>
          <a:noFill/>
          <a:ln/>
        </p:spPr>
        <p:txBody>
          <a:bodyPr wrap="square" lIns="0" tIns="0" rIns="0" bIns="0" rtlCol="0" anchor="ctr"/>
          <a:lstStyle/>
          <a:p>
            <a:pPr indent="0" marL="0">
              <a:buNone/>
            </a:pPr>
            <a:r>
              <a:rPr lang="en-US" sz="2600" b="1" dirty="0">
                <a:solidFill>
                  <a:schemeClr val="accent1"/>
                </a:solidFill>
                <a:latin typeface="+mj-lt" pitchFamily="34" charset="0"/>
                <a:ea typeface="+mj-lt" pitchFamily="34" charset="-122"/>
                <a:cs typeface="+mj-lt" pitchFamily="34" charset="-120"/>
              </a:rPr>
              <a:t>3</a:t>
            </a:r>
            <a:endParaRPr lang="en-US" sz="2600" dirty="0"/>
          </a:p>
        </p:txBody>
      </p:sp>
      <p:sp>
        <p:nvSpPr>
          <p:cNvPr id="24" name="Text 21"/>
          <p:cNvSpPr txBox="1"/>
          <p:nvPr/>
        </p:nvSpPr>
        <p:spPr>
          <a:xfrm>
            <a:off x="8759952" y="1920240"/>
            <a:ext cx="2651760" cy="457200"/>
          </a:xfrm>
          <a:prstGeom prst="rect">
            <a:avLst/>
          </a:prstGeom>
          <a:noFill/>
          <a:ln/>
        </p:spPr>
        <p:txBody>
          <a:bodyPr wrap="square" lIns="0" tIns="0" rIns="0" bIns="0" rtlCol="0" anchor="ctr"/>
          <a:lstStyle/>
          <a:p>
            <a:pPr indent="0" marL="0">
              <a:buNone/>
            </a:pPr>
            <a:r>
              <a:rPr lang="en-US" sz="2000" b="1" dirty="0">
                <a:solidFill>
                  <a:schemeClr val="tx2"/>
                </a:solidFill>
              </a:rPr>
              <a:t>Type of shock</a:t>
            </a:r>
            <a:endParaRPr lang="en-US" sz="2000" dirty="0"/>
          </a:p>
        </p:txBody>
      </p:sp>
      <p:sp>
        <p:nvSpPr>
          <p:cNvPr id="25" name="Text 22"/>
          <p:cNvSpPr txBox="1"/>
          <p:nvPr/>
        </p:nvSpPr>
        <p:spPr>
          <a:xfrm>
            <a:off x="8302752" y="2468880"/>
            <a:ext cx="3108960" cy="548640"/>
          </a:xfrm>
          <a:prstGeom prst="rect">
            <a:avLst/>
          </a:prstGeom>
          <a:noFill/>
          <a:ln/>
        </p:spPr>
        <p:txBody>
          <a:bodyPr wrap="square" lIns="0" tIns="0" rIns="0" bIns="0" rtlCol="0" anchor="t"/>
          <a:lstStyle/>
          <a:p>
            <a:pPr indent="0" marL="0">
              <a:buNone/>
            </a:pPr>
            <a:r>
              <a:rPr lang="en-US" sz="1400" dirty="0">
                <a:solidFill>
                  <a:schemeClr val="accent4"/>
                </a:solidFill>
              </a:rPr>
              <a:t>Breadth: the share of other coins that shock in the same hour.</a:t>
            </a:r>
            <a:endParaRPr lang="en-US" sz="1400" dirty="0"/>
          </a:p>
        </p:txBody>
      </p:sp>
      <p:sp>
        <p:nvSpPr>
          <p:cNvPr id="26" name="Market-wide bar"/>
          <p:cNvSpPr/>
          <p:nvPr/>
        </p:nvSpPr>
        <p:spPr>
          <a:xfrm>
            <a:off x="8302752" y="3154680"/>
            <a:ext cx="3108960" cy="310896"/>
          </a:xfrm>
          <a:prstGeom prst="roundRect">
            <a:avLst>
              <a:gd name="adj" fmla="val 14706"/>
            </a:avLst>
          </a:prstGeom>
          <a:solidFill>
            <a:schemeClr val="accent1"/>
          </a:solidFill>
          <a:ln/>
        </p:spPr>
      </p:sp>
      <p:sp>
        <p:nvSpPr>
          <p:cNvPr id="27" name="Text 24"/>
          <p:cNvSpPr txBox="1"/>
          <p:nvPr/>
        </p:nvSpPr>
        <p:spPr>
          <a:xfrm>
            <a:off x="8302752" y="3483864"/>
            <a:ext cx="3108960" cy="274320"/>
          </a:xfrm>
          <a:prstGeom prst="rect">
            <a:avLst/>
          </a:prstGeom>
          <a:noFill/>
          <a:ln/>
        </p:spPr>
        <p:txBody>
          <a:bodyPr wrap="square" lIns="0" tIns="0" rIns="0" bIns="0" rtlCol="0" anchor="t"/>
          <a:lstStyle/>
          <a:p>
            <a:pPr indent="0" marL="0">
              <a:buNone/>
            </a:pPr>
            <a:r>
              <a:rPr lang="en-US" sz="1300" b="1" dirty="0">
                <a:solidFill>
                  <a:schemeClr val="tx2"/>
                </a:solidFill>
              </a:rPr>
              <a:t>Market-wide</a:t>
            </a:r>
            <a:pPr indent="0" marL="0">
              <a:buNone/>
            </a:pPr>
            <a:r>
              <a:rPr lang="en-US" sz="1300" dirty="0">
                <a:solidFill>
                  <a:schemeClr val="tx2"/>
                </a:solidFill>
              </a:rPr>
              <a:t>  30% or more</a:t>
            </a:r>
            <a:endParaRPr lang="en-US" sz="1300" dirty="0"/>
          </a:p>
        </p:txBody>
      </p:sp>
      <p:sp>
        <p:nvSpPr>
          <p:cNvPr id="28" name="Partial bar"/>
          <p:cNvSpPr/>
          <p:nvPr/>
        </p:nvSpPr>
        <p:spPr>
          <a:xfrm>
            <a:off x="8302752" y="3831336"/>
            <a:ext cx="2194560" cy="310896"/>
          </a:xfrm>
          <a:prstGeom prst="roundRect">
            <a:avLst>
              <a:gd name="adj" fmla="val 14706"/>
            </a:avLst>
          </a:prstGeom>
          <a:solidFill>
            <a:schemeClr val="accent4"/>
          </a:solidFill>
          <a:ln/>
        </p:spPr>
      </p:sp>
      <p:sp>
        <p:nvSpPr>
          <p:cNvPr id="29" name="Text 26"/>
          <p:cNvSpPr txBox="1"/>
          <p:nvPr/>
        </p:nvSpPr>
        <p:spPr>
          <a:xfrm>
            <a:off x="8302752" y="4160520"/>
            <a:ext cx="3108960" cy="274320"/>
          </a:xfrm>
          <a:prstGeom prst="rect">
            <a:avLst/>
          </a:prstGeom>
          <a:noFill/>
          <a:ln/>
        </p:spPr>
        <p:txBody>
          <a:bodyPr wrap="square" lIns="0" tIns="0" rIns="0" bIns="0" rtlCol="0" anchor="t"/>
          <a:lstStyle/>
          <a:p>
            <a:pPr indent="0" marL="0">
              <a:buNone/>
            </a:pPr>
            <a:r>
              <a:rPr lang="en-US" sz="1300" b="1" dirty="0">
                <a:solidFill>
                  <a:schemeClr val="tx2"/>
                </a:solidFill>
              </a:rPr>
              <a:t>Partial</a:t>
            </a:r>
            <a:pPr indent="0" marL="0">
              <a:buNone/>
            </a:pPr>
            <a:r>
              <a:rPr lang="en-US" sz="1300" dirty="0">
                <a:solidFill>
                  <a:schemeClr val="tx2"/>
                </a:solidFill>
              </a:rPr>
              <a:t>  10% to 30%</a:t>
            </a:r>
            <a:endParaRPr lang="en-US" sz="1300" dirty="0"/>
          </a:p>
        </p:txBody>
      </p:sp>
      <p:sp>
        <p:nvSpPr>
          <p:cNvPr id="30" name="Isolated bar"/>
          <p:cNvSpPr/>
          <p:nvPr/>
        </p:nvSpPr>
        <p:spPr>
          <a:xfrm>
            <a:off x="8302752" y="4507992"/>
            <a:ext cx="1280160" cy="310896"/>
          </a:xfrm>
          <a:prstGeom prst="roundRect">
            <a:avLst>
              <a:gd name="adj" fmla="val 14706"/>
            </a:avLst>
          </a:prstGeom>
          <a:solidFill>
            <a:schemeClr val="accent5"/>
          </a:solidFill>
          <a:ln/>
        </p:spPr>
      </p:sp>
      <p:sp>
        <p:nvSpPr>
          <p:cNvPr id="31" name="Text 28"/>
          <p:cNvSpPr txBox="1"/>
          <p:nvPr/>
        </p:nvSpPr>
        <p:spPr>
          <a:xfrm>
            <a:off x="8302752" y="4837176"/>
            <a:ext cx="3108960" cy="274320"/>
          </a:xfrm>
          <a:prstGeom prst="rect">
            <a:avLst/>
          </a:prstGeom>
          <a:noFill/>
          <a:ln/>
        </p:spPr>
        <p:txBody>
          <a:bodyPr wrap="square" lIns="0" tIns="0" rIns="0" bIns="0" rtlCol="0" anchor="t"/>
          <a:lstStyle/>
          <a:p>
            <a:pPr indent="0" marL="0">
              <a:buNone/>
            </a:pPr>
            <a:r>
              <a:rPr lang="en-US" sz="1300" b="1" dirty="0">
                <a:solidFill>
                  <a:schemeClr val="tx2"/>
                </a:solidFill>
              </a:rPr>
              <a:t>Isolated</a:t>
            </a:r>
            <a:pPr indent="0" marL="0">
              <a:buNone/>
            </a:pPr>
            <a:r>
              <a:rPr lang="en-US" sz="1300" dirty="0">
                <a:solidFill>
                  <a:schemeClr val="tx2"/>
                </a:solidFill>
              </a:rPr>
              <a:t>  below 10%</a:t>
            </a:r>
            <a:endParaRPr lang="en-US" sz="1300" dirty="0"/>
          </a:p>
        </p:txBody>
      </p:sp>
      <p:sp>
        <p:nvSpPr>
          <p:cNvPr id="32" name="Guard strip"/>
          <p:cNvSpPr/>
          <p:nvPr/>
        </p:nvSpPr>
        <p:spPr>
          <a:xfrm>
            <a:off x="548640" y="5468112"/>
            <a:ext cx="11094415" cy="804672"/>
          </a:xfrm>
          <a:prstGeom prst="roundRect">
            <a:avLst>
              <a:gd name="adj" fmla="val 11364"/>
            </a:avLst>
          </a:prstGeom>
          <a:solidFill>
            <a:schemeClr val="tx2"/>
          </a:solidFill>
          <a:ln/>
        </p:spPr>
      </p:sp>
      <p:sp>
        <p:nvSpPr>
          <p:cNvPr id="33" name="Text 30"/>
          <p:cNvSpPr txBox="1"/>
          <p:nvPr/>
        </p:nvSpPr>
        <p:spPr>
          <a:xfrm>
            <a:off x="822960" y="5468112"/>
            <a:ext cx="10545775" cy="804672"/>
          </a:xfrm>
          <a:prstGeom prst="rect">
            <a:avLst/>
          </a:prstGeom>
          <a:noFill/>
          <a:ln/>
        </p:spPr>
        <p:txBody>
          <a:bodyPr wrap="square" lIns="0" tIns="0" rIns="0" bIns="0" rtlCol="0" anchor="ctr"/>
          <a:lstStyle/>
          <a:p>
            <a:pPr indent="0" marL="0">
              <a:buNone/>
            </a:pPr>
            <a:r>
              <a:rPr lang="en-US" sz="1400" b="1" dirty="0">
                <a:solidFill>
                  <a:schemeClr val="accent3"/>
                </a:solidFill>
              </a:rPr>
              <a:t>No look-ahead:  </a:t>
            </a:r>
            <a:pPr indent="0" marL="0">
              <a:buNone/>
            </a:pPr>
            <a:r>
              <a:rPr lang="en-US" sz="1400" dirty="0">
                <a:solidFill>
                  <a:schemeClr val="bg1"/>
                </a:solidFill>
              </a:rPr>
              <a:t>volatility uses data up to t−1  ·  the threshold, scalers and seasonality are fitted on the training period only  ·  memory is updated only after a batch is scored</a:t>
            </a:r>
            <a:endParaRPr lang="en-US" sz="1400" dirty="0"/>
          </a:p>
        </p:txBody>
      </p:sp>
      <p:sp>
        <p:nvSpPr>
          <p:cNvPr id="25" name="Slide Number Placeholder 0"/>
          <p:cNvSpPr>
            <a:spLocks noGrp="1"/>
          </p:cNvSpPr>
          <p:nvPr>
            <p:ph type="sldNum" sz="quarter" idx="4294967295"/>
          </p:nvPr>
        </p:nvSpPr>
        <p:spPr>
          <a:xfrm>
            <a:off x="11094415" y="6437376"/>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31520"/>
          </a:xfrm>
          <a:prstGeom prst="rect">
            <a:avLst/>
          </a:prstGeom>
          <a:noFill/>
          <a:ln/>
        </p:spPr>
        <p:txBody>
          <a:bodyPr wrap="square" lIns="0" tIns="0" rIns="0" bIns="0" rtlCol="0" anchor="ctr"/>
          <a:lstStyle/>
          <a:p>
            <a:pPr algn="l" indent="0" marL="0">
              <a:buNone/>
            </a:pPr>
            <a:r>
              <a:rPr lang="en-US" sz="3400" b="1" dirty="0">
                <a:solidFill>
                  <a:schemeClr val="tx2"/>
                </a:solidFill>
              </a:rPr>
              <a:t>The pipeline, end to end</a:t>
            </a:r>
            <a:endParaRPr lang="en-US" sz="3400" dirty="0"/>
          </a:p>
        </p:txBody>
      </p:sp>
      <p:sp>
        <p:nvSpPr>
          <p:cNvPr id="3" name="Text 0"/>
          <p:cNvSpPr/>
          <p:nvPr>
            <p:ph idx="101" type="body" hasCustomPrompt="1"/>
          </p:nvPr>
        </p:nvSpPr>
        <p:spPr>
          <a:xfrm>
            <a:off x="548640" y="1097280"/>
            <a:ext cx="11094415" cy="457200"/>
          </a:xfrm>
          <a:prstGeom prst="rect">
            <a:avLst/>
          </a:prstGeom>
          <a:noFill/>
          <a:ln/>
        </p:spPr>
        <p:txBody>
          <a:bodyPr wrap="square" lIns="0" tIns="0" rIns="0" bIns="0" rtlCol="0" anchor="t"/>
          <a:lstStyle/>
          <a:p>
            <a:pPr algn="l" indent="0" marL="0">
              <a:buNone/>
            </a:pPr>
            <a:r>
              <a:rPr lang="en-US" sz="1700" dirty="0">
                <a:solidFill>
                  <a:schemeClr val="accent4"/>
                </a:solidFill>
              </a:rPr>
              <a:t>From raw hourly prices to explained, stress-tested, deployed predictions</a:t>
            </a:r>
            <a:endParaRPr lang="en-US" sz="1700" dirty="0"/>
          </a:p>
        </p:txBody>
      </p:sp>
      <p:sp>
        <p:nvSpPr>
          <p:cNvPr id="5" name="Stage 1"/>
          <p:cNvSpPr/>
          <p:nvPr/>
        </p:nvSpPr>
        <p:spPr>
          <a:xfrm>
            <a:off x="548640" y="1965960"/>
            <a:ext cx="1371600" cy="1965960"/>
          </a:xfrm>
          <a:prstGeom prst="roundRect">
            <a:avLst>
              <a:gd name="adj" fmla="val 5333"/>
            </a:avLst>
          </a:prstGeom>
          <a:solidFill>
            <a:schemeClr val="accent6"/>
          </a:solidFill>
          <a:ln/>
        </p:spPr>
      </p:sp>
      <p:sp>
        <p:nvSpPr>
          <p:cNvPr id="6" name="Text 3"/>
          <p:cNvSpPr txBox="1"/>
          <p:nvPr/>
        </p:nvSpPr>
        <p:spPr>
          <a:xfrm>
            <a:off x="640080" y="2103120"/>
            <a:ext cx="1188720" cy="685800"/>
          </a:xfrm>
          <a:prstGeom prst="rect">
            <a:avLst/>
          </a:prstGeom>
          <a:noFill/>
          <a:ln/>
        </p:spPr>
        <p:txBody>
          <a:bodyPr wrap="square" lIns="0" tIns="0" rIns="0" bIns="0" rtlCol="0" anchor="t"/>
          <a:lstStyle/>
          <a:p>
            <a:pPr indent="0" marL="0">
              <a:buNone/>
            </a:pPr>
            <a:r>
              <a:rPr lang="en-US" sz="1500" b="1" dirty="0">
                <a:solidFill>
                  <a:schemeClr val="bg1"/>
                </a:solidFill>
              </a:rPr>
              <a:t>Binance hourly candles</a:t>
            </a:r>
            <a:endParaRPr lang="en-US" sz="1500" dirty="0"/>
          </a:p>
        </p:txBody>
      </p:sp>
      <p:sp>
        <p:nvSpPr>
          <p:cNvPr id="7" name="Text 4"/>
          <p:cNvSpPr txBox="1"/>
          <p:nvPr/>
        </p:nvSpPr>
        <p:spPr>
          <a:xfrm>
            <a:off x="640080" y="2834640"/>
            <a:ext cx="1188720" cy="1234440"/>
          </a:xfrm>
          <a:prstGeom prst="rect">
            <a:avLst/>
          </a:prstGeom>
          <a:noFill/>
          <a:ln/>
        </p:spPr>
        <p:txBody>
          <a:bodyPr wrap="square" lIns="0" tIns="0" rIns="0" bIns="0" rtlCol="0" anchor="t"/>
          <a:lstStyle/>
          <a:p>
            <a:pPr indent="0" marL="0">
              <a:buNone/>
            </a:pPr>
            <a:r>
              <a:rPr lang="en-US" sz="1200" dirty="0">
                <a:solidFill>
                  <a:schemeClr val="bg1"/>
                </a:solidFill>
              </a:rPr>
              <a:t>30 coins, 2020–2026, checksum-verified</a:t>
            </a:r>
            <a:endParaRPr lang="en-US" sz="1200" dirty="0"/>
          </a:p>
        </p:txBody>
      </p:sp>
      <p:sp>
        <p:nvSpPr>
          <p:cNvPr id="8" name="Flow arrow"/>
          <p:cNvSpPr/>
          <p:nvPr/>
        </p:nvSpPr>
        <p:spPr>
          <a:xfrm>
            <a:off x="1938528" y="2820924"/>
            <a:ext cx="212293" cy="256032"/>
          </a:xfrm>
          <a:prstGeom prst="rightArrow">
            <a:avLst/>
          </a:prstGeom>
          <a:solidFill>
            <a:schemeClr val="accent5"/>
          </a:solidFill>
          <a:ln/>
        </p:spPr>
      </p:sp>
      <p:sp>
        <p:nvSpPr>
          <p:cNvPr id="9" name="Stage 2"/>
          <p:cNvSpPr/>
          <p:nvPr/>
        </p:nvSpPr>
        <p:spPr>
          <a:xfrm>
            <a:off x="2169109" y="1965960"/>
            <a:ext cx="1371600" cy="1965960"/>
          </a:xfrm>
          <a:prstGeom prst="roundRect">
            <a:avLst>
              <a:gd name="adj" fmla="val 5333"/>
            </a:avLst>
          </a:prstGeom>
          <a:solidFill>
            <a:schemeClr val="accent6"/>
          </a:solidFill>
          <a:ln/>
        </p:spPr>
      </p:sp>
      <p:sp>
        <p:nvSpPr>
          <p:cNvPr id="10" name="Text 7"/>
          <p:cNvSpPr txBox="1"/>
          <p:nvPr/>
        </p:nvSpPr>
        <p:spPr>
          <a:xfrm>
            <a:off x="2260549" y="2103120"/>
            <a:ext cx="1188720" cy="685800"/>
          </a:xfrm>
          <a:prstGeom prst="rect">
            <a:avLst/>
          </a:prstGeom>
          <a:noFill/>
          <a:ln/>
        </p:spPr>
        <p:txBody>
          <a:bodyPr wrap="square" lIns="0" tIns="0" rIns="0" bIns="0" rtlCol="0" anchor="t"/>
          <a:lstStyle/>
          <a:p>
            <a:pPr indent="0" marL="0">
              <a:buNone/>
            </a:pPr>
            <a:r>
              <a:rPr lang="en-US" sz="1500" b="1" dirty="0">
                <a:solidFill>
                  <a:schemeClr val="bg1"/>
                </a:solidFill>
              </a:rPr>
              <a:t>Clean and verify</a:t>
            </a:r>
            <a:endParaRPr lang="en-US" sz="1500" dirty="0"/>
          </a:p>
        </p:txBody>
      </p:sp>
      <p:sp>
        <p:nvSpPr>
          <p:cNvPr id="11" name="Text 8"/>
          <p:cNvSpPr txBox="1"/>
          <p:nvPr/>
        </p:nvSpPr>
        <p:spPr>
          <a:xfrm>
            <a:off x="2260549" y="2834640"/>
            <a:ext cx="1188720" cy="1234440"/>
          </a:xfrm>
          <a:prstGeom prst="rect">
            <a:avLst/>
          </a:prstGeom>
          <a:noFill/>
          <a:ln/>
        </p:spPr>
        <p:txBody>
          <a:bodyPr wrap="square" lIns="0" tIns="0" rIns="0" bIns="0" rtlCol="0" anchor="t"/>
          <a:lstStyle/>
          <a:p>
            <a:pPr indent="0" marL="0">
              <a:buNone/>
            </a:pPr>
            <a:r>
              <a:rPr lang="en-US" sz="1200" dirty="0">
                <a:solidFill>
                  <a:schemeClr val="bg1"/>
                </a:solidFill>
              </a:rPr>
              <a:t>Gaps masked, tickers handled, USDT peg flagged</a:t>
            </a:r>
            <a:endParaRPr lang="en-US" sz="1200" dirty="0"/>
          </a:p>
        </p:txBody>
      </p:sp>
      <p:sp>
        <p:nvSpPr>
          <p:cNvPr id="12" name="Flow arrow"/>
          <p:cNvSpPr/>
          <p:nvPr/>
        </p:nvSpPr>
        <p:spPr>
          <a:xfrm>
            <a:off x="3558997" y="2820924"/>
            <a:ext cx="212293" cy="256032"/>
          </a:xfrm>
          <a:prstGeom prst="rightArrow">
            <a:avLst/>
          </a:prstGeom>
          <a:solidFill>
            <a:schemeClr val="accent5"/>
          </a:solidFill>
          <a:ln/>
        </p:spPr>
      </p:sp>
      <p:sp>
        <p:nvSpPr>
          <p:cNvPr id="13" name="Stage 3"/>
          <p:cNvSpPr/>
          <p:nvPr/>
        </p:nvSpPr>
        <p:spPr>
          <a:xfrm>
            <a:off x="3789578" y="1965960"/>
            <a:ext cx="1371600" cy="1965960"/>
          </a:xfrm>
          <a:prstGeom prst="roundRect">
            <a:avLst>
              <a:gd name="adj" fmla="val 5333"/>
            </a:avLst>
          </a:prstGeom>
          <a:solidFill>
            <a:schemeClr val="accent4"/>
          </a:solidFill>
          <a:ln/>
        </p:spPr>
      </p:sp>
      <p:sp>
        <p:nvSpPr>
          <p:cNvPr id="14" name="Text 11"/>
          <p:cNvSpPr txBox="1"/>
          <p:nvPr/>
        </p:nvSpPr>
        <p:spPr>
          <a:xfrm>
            <a:off x="3881018" y="2103120"/>
            <a:ext cx="1188720" cy="685800"/>
          </a:xfrm>
          <a:prstGeom prst="rect">
            <a:avLst/>
          </a:prstGeom>
          <a:noFill/>
          <a:ln/>
        </p:spPr>
        <p:txBody>
          <a:bodyPr wrap="square" lIns="0" tIns="0" rIns="0" bIns="0" rtlCol="0" anchor="t"/>
          <a:lstStyle/>
          <a:p>
            <a:pPr indent="0" marL="0">
              <a:buNone/>
            </a:pPr>
            <a:r>
              <a:rPr lang="en-US" sz="1500" b="1" dirty="0">
                <a:solidFill>
                  <a:schemeClr val="bg1"/>
                </a:solidFill>
              </a:rPr>
              <a:t>Features and shocks</a:t>
            </a:r>
            <a:endParaRPr lang="en-US" sz="1500" dirty="0"/>
          </a:p>
        </p:txBody>
      </p:sp>
      <p:sp>
        <p:nvSpPr>
          <p:cNvPr id="15" name="Text 12"/>
          <p:cNvSpPr txBox="1"/>
          <p:nvPr/>
        </p:nvSpPr>
        <p:spPr>
          <a:xfrm>
            <a:off x="3881018" y="2834640"/>
            <a:ext cx="1188720" cy="1234440"/>
          </a:xfrm>
          <a:prstGeom prst="rect">
            <a:avLst/>
          </a:prstGeom>
          <a:noFill/>
          <a:ln/>
        </p:spPr>
        <p:txBody>
          <a:bodyPr wrap="square" lIns="0" tIns="0" rIns="0" bIns="0" rtlCol="0" anchor="t"/>
          <a:lstStyle/>
          <a:p>
            <a:pPr indent="0" marL="0">
              <a:buNone/>
            </a:pPr>
            <a:r>
              <a:rPr lang="en-US" sz="1200" dirty="0">
                <a:solidFill>
                  <a:schemeClr val="bg1"/>
                </a:solidFill>
              </a:rPr>
              <a:t>6 market + 8 network features; |z| &gt; 2.29</a:t>
            </a:r>
            <a:endParaRPr lang="en-US" sz="1200" dirty="0"/>
          </a:p>
        </p:txBody>
      </p:sp>
      <p:sp>
        <p:nvSpPr>
          <p:cNvPr id="16" name="Flow arrow"/>
          <p:cNvSpPr/>
          <p:nvPr/>
        </p:nvSpPr>
        <p:spPr>
          <a:xfrm>
            <a:off x="5179466" y="2820924"/>
            <a:ext cx="212293" cy="256032"/>
          </a:xfrm>
          <a:prstGeom prst="rightArrow">
            <a:avLst/>
          </a:prstGeom>
          <a:solidFill>
            <a:schemeClr val="accent5"/>
          </a:solidFill>
          <a:ln/>
        </p:spPr>
      </p:sp>
      <p:sp>
        <p:nvSpPr>
          <p:cNvPr id="17" name="Stage 4"/>
          <p:cNvSpPr/>
          <p:nvPr/>
        </p:nvSpPr>
        <p:spPr>
          <a:xfrm>
            <a:off x="5410048" y="1965960"/>
            <a:ext cx="1371600" cy="1965960"/>
          </a:xfrm>
          <a:prstGeom prst="roundRect">
            <a:avLst>
              <a:gd name="adj" fmla="val 5333"/>
            </a:avLst>
          </a:prstGeom>
          <a:solidFill>
            <a:schemeClr val="accent4"/>
          </a:solidFill>
          <a:ln/>
        </p:spPr>
      </p:sp>
      <p:sp>
        <p:nvSpPr>
          <p:cNvPr id="18" name="Text 15"/>
          <p:cNvSpPr txBox="1"/>
          <p:nvPr/>
        </p:nvSpPr>
        <p:spPr>
          <a:xfrm>
            <a:off x="5501488" y="2103120"/>
            <a:ext cx="1188720" cy="685800"/>
          </a:xfrm>
          <a:prstGeom prst="rect">
            <a:avLst/>
          </a:prstGeom>
          <a:noFill/>
          <a:ln/>
        </p:spPr>
        <p:txBody>
          <a:bodyPr wrap="square" lIns="0" tIns="0" rIns="0" bIns="0" rtlCol="0" anchor="t"/>
          <a:lstStyle/>
          <a:p>
            <a:pPr indent="0" marL="0">
              <a:buNone/>
            </a:pPr>
            <a:r>
              <a:rPr lang="en-US" sz="1500" b="1" dirty="0">
                <a:solidFill>
                  <a:schemeClr val="bg1"/>
                </a:solidFill>
              </a:rPr>
              <a:t>Event stream</a:t>
            </a:r>
            <a:endParaRPr lang="en-US" sz="1500" dirty="0"/>
          </a:p>
        </p:txBody>
      </p:sp>
      <p:sp>
        <p:nvSpPr>
          <p:cNvPr id="19" name="Text 16"/>
          <p:cNvSpPr txBox="1"/>
          <p:nvPr/>
        </p:nvSpPr>
        <p:spPr>
          <a:xfrm>
            <a:off x="5501488" y="2834640"/>
            <a:ext cx="1188720" cy="1234440"/>
          </a:xfrm>
          <a:prstGeom prst="rect">
            <a:avLst/>
          </a:prstGeom>
          <a:noFill/>
          <a:ln/>
        </p:spPr>
        <p:txBody>
          <a:bodyPr wrap="square" lIns="0" tIns="0" rIns="0" bIns="0" rtlCol="0" anchor="t"/>
          <a:lstStyle/>
          <a:p>
            <a:pPr indent="0" marL="0">
              <a:buNone/>
            </a:pPr>
            <a:r>
              <a:rPr lang="en-US" sz="1200" dirty="0">
                <a:solidFill>
                  <a:schemeClr val="bg1"/>
                </a:solidFill>
              </a:rPr>
              <a:t>1.46 M shock events i → j, five labels each</a:t>
            </a:r>
            <a:endParaRPr lang="en-US" sz="1200" dirty="0"/>
          </a:p>
        </p:txBody>
      </p:sp>
      <p:sp>
        <p:nvSpPr>
          <p:cNvPr id="20" name="Flow arrow"/>
          <p:cNvSpPr/>
          <p:nvPr/>
        </p:nvSpPr>
        <p:spPr>
          <a:xfrm>
            <a:off x="6799936" y="2820924"/>
            <a:ext cx="212293" cy="256032"/>
          </a:xfrm>
          <a:prstGeom prst="rightArrow">
            <a:avLst/>
          </a:prstGeom>
          <a:solidFill>
            <a:schemeClr val="accent5"/>
          </a:solidFill>
          <a:ln/>
        </p:spPr>
      </p:sp>
      <p:sp>
        <p:nvSpPr>
          <p:cNvPr id="21" name="Stage 5"/>
          <p:cNvSpPr/>
          <p:nvPr/>
        </p:nvSpPr>
        <p:spPr>
          <a:xfrm>
            <a:off x="7030517" y="1965960"/>
            <a:ext cx="1371600" cy="1965960"/>
          </a:xfrm>
          <a:prstGeom prst="roundRect">
            <a:avLst>
              <a:gd name="adj" fmla="val 5333"/>
            </a:avLst>
          </a:prstGeom>
          <a:solidFill>
            <a:schemeClr val="accent1"/>
          </a:solidFill>
          <a:ln/>
        </p:spPr>
      </p:sp>
      <p:sp>
        <p:nvSpPr>
          <p:cNvPr id="22" name="Text 19"/>
          <p:cNvSpPr txBox="1"/>
          <p:nvPr/>
        </p:nvSpPr>
        <p:spPr>
          <a:xfrm>
            <a:off x="7121957" y="2103120"/>
            <a:ext cx="1188720" cy="685800"/>
          </a:xfrm>
          <a:prstGeom prst="rect">
            <a:avLst/>
          </a:prstGeom>
          <a:noFill/>
          <a:ln/>
        </p:spPr>
        <p:txBody>
          <a:bodyPr wrap="square" lIns="0" tIns="0" rIns="0" bIns="0" rtlCol="0" anchor="t"/>
          <a:lstStyle/>
          <a:p>
            <a:pPr indent="0" marL="0">
              <a:buNone/>
            </a:pPr>
            <a:r>
              <a:rPr lang="en-US" sz="1500" b="1" dirty="0">
                <a:solidFill>
                  <a:schemeClr val="bg1"/>
                </a:solidFill>
              </a:rPr>
              <a:t>Models</a:t>
            </a:r>
            <a:endParaRPr lang="en-US" sz="1500" dirty="0"/>
          </a:p>
        </p:txBody>
      </p:sp>
      <p:sp>
        <p:nvSpPr>
          <p:cNvPr id="23" name="Text 20"/>
          <p:cNvSpPr txBox="1"/>
          <p:nvPr/>
        </p:nvSpPr>
        <p:spPr>
          <a:xfrm>
            <a:off x="7121957" y="2834640"/>
            <a:ext cx="1188720" cy="1234440"/>
          </a:xfrm>
          <a:prstGeom prst="rect">
            <a:avLst/>
          </a:prstGeom>
          <a:noFill/>
          <a:ln/>
        </p:spPr>
        <p:txBody>
          <a:bodyPr wrap="square" lIns="0" tIns="0" rIns="0" bIns="0" rtlCol="0" anchor="t"/>
          <a:lstStyle/>
          <a:p>
            <a:pPr indent="0" marL="0">
              <a:buNone/>
            </a:pPr>
            <a:r>
              <a:rPr lang="en-US" sz="1200" dirty="0">
                <a:solidFill>
                  <a:schemeClr val="bg1"/>
                </a:solidFill>
              </a:rPr>
              <a:t>TGN, DyGFormer, boosting, LSTM, cascade</a:t>
            </a:r>
            <a:endParaRPr lang="en-US" sz="1200" dirty="0"/>
          </a:p>
        </p:txBody>
      </p:sp>
      <p:sp>
        <p:nvSpPr>
          <p:cNvPr id="24" name="Flow arrow"/>
          <p:cNvSpPr/>
          <p:nvPr/>
        </p:nvSpPr>
        <p:spPr>
          <a:xfrm>
            <a:off x="8420405" y="2820924"/>
            <a:ext cx="212293" cy="256032"/>
          </a:xfrm>
          <a:prstGeom prst="rightArrow">
            <a:avLst/>
          </a:prstGeom>
          <a:solidFill>
            <a:schemeClr val="accent5"/>
          </a:solidFill>
          <a:ln/>
        </p:spPr>
      </p:sp>
      <p:sp>
        <p:nvSpPr>
          <p:cNvPr id="25" name="Stage 6"/>
          <p:cNvSpPr/>
          <p:nvPr/>
        </p:nvSpPr>
        <p:spPr>
          <a:xfrm>
            <a:off x="8650986" y="1965960"/>
            <a:ext cx="1371600" cy="1965960"/>
          </a:xfrm>
          <a:prstGeom prst="roundRect">
            <a:avLst>
              <a:gd name="adj" fmla="val 5333"/>
            </a:avLst>
          </a:prstGeom>
          <a:solidFill>
            <a:schemeClr val="accent2"/>
          </a:solidFill>
          <a:ln/>
        </p:spPr>
      </p:sp>
      <p:sp>
        <p:nvSpPr>
          <p:cNvPr id="26" name="Text 23"/>
          <p:cNvSpPr txBox="1"/>
          <p:nvPr/>
        </p:nvSpPr>
        <p:spPr>
          <a:xfrm>
            <a:off x="8742426" y="2103120"/>
            <a:ext cx="1188720" cy="685800"/>
          </a:xfrm>
          <a:prstGeom prst="rect">
            <a:avLst/>
          </a:prstGeom>
          <a:noFill/>
          <a:ln/>
        </p:spPr>
        <p:txBody>
          <a:bodyPr wrap="square" lIns="0" tIns="0" rIns="0" bIns="0" rtlCol="0" anchor="t"/>
          <a:lstStyle/>
          <a:p>
            <a:pPr indent="0" marL="0">
              <a:buNone/>
            </a:pPr>
            <a:r>
              <a:rPr lang="en-US" sz="1500" b="1" dirty="0">
                <a:solidFill>
                  <a:schemeClr val="bg1"/>
                </a:solidFill>
              </a:rPr>
              <a:t>Explain and stress-test</a:t>
            </a:r>
            <a:endParaRPr lang="en-US" sz="1500" dirty="0"/>
          </a:p>
        </p:txBody>
      </p:sp>
      <p:sp>
        <p:nvSpPr>
          <p:cNvPr id="27" name="Text 24"/>
          <p:cNvSpPr txBox="1"/>
          <p:nvPr/>
        </p:nvSpPr>
        <p:spPr>
          <a:xfrm>
            <a:off x="8742426" y="2834640"/>
            <a:ext cx="1188720" cy="1234440"/>
          </a:xfrm>
          <a:prstGeom prst="rect">
            <a:avLst/>
          </a:prstGeom>
          <a:noFill/>
          <a:ln/>
        </p:spPr>
        <p:txBody>
          <a:bodyPr wrap="square" lIns="0" tIns="0" rIns="0" bIns="0" rtlCol="0" anchor="t"/>
          <a:lstStyle/>
          <a:p>
            <a:pPr indent="0" marL="0">
              <a:buNone/>
            </a:pPr>
            <a:r>
              <a:rPr lang="en-US" sz="1200" dirty="0">
                <a:solidFill>
                  <a:schemeClr val="bg1"/>
                </a:solidFill>
              </a:rPr>
              <a:t>Integrated gradients, TempME, noise, attacks</a:t>
            </a:r>
            <a:endParaRPr lang="en-US" sz="1200" dirty="0"/>
          </a:p>
        </p:txBody>
      </p:sp>
      <p:sp>
        <p:nvSpPr>
          <p:cNvPr id="28" name="Flow arrow"/>
          <p:cNvSpPr/>
          <p:nvPr/>
        </p:nvSpPr>
        <p:spPr>
          <a:xfrm>
            <a:off x="10040874" y="2820924"/>
            <a:ext cx="212293" cy="256032"/>
          </a:xfrm>
          <a:prstGeom prst="rightArrow">
            <a:avLst/>
          </a:prstGeom>
          <a:solidFill>
            <a:schemeClr val="accent5"/>
          </a:solidFill>
          <a:ln/>
        </p:spPr>
      </p:sp>
      <p:sp>
        <p:nvSpPr>
          <p:cNvPr id="29" name="Stage 7"/>
          <p:cNvSpPr/>
          <p:nvPr/>
        </p:nvSpPr>
        <p:spPr>
          <a:xfrm>
            <a:off x="10271455" y="1965960"/>
            <a:ext cx="1371600" cy="1965960"/>
          </a:xfrm>
          <a:prstGeom prst="roundRect">
            <a:avLst>
              <a:gd name="adj" fmla="val 5333"/>
            </a:avLst>
          </a:prstGeom>
          <a:solidFill>
            <a:schemeClr val="accent3"/>
          </a:solidFill>
          <a:ln/>
        </p:spPr>
      </p:sp>
      <p:sp>
        <p:nvSpPr>
          <p:cNvPr id="30" name="Text 27"/>
          <p:cNvSpPr txBox="1"/>
          <p:nvPr/>
        </p:nvSpPr>
        <p:spPr>
          <a:xfrm>
            <a:off x="10362895" y="2103120"/>
            <a:ext cx="1188720" cy="685800"/>
          </a:xfrm>
          <a:prstGeom prst="rect">
            <a:avLst/>
          </a:prstGeom>
          <a:noFill/>
          <a:ln/>
        </p:spPr>
        <p:txBody>
          <a:bodyPr wrap="square" lIns="0" tIns="0" rIns="0" bIns="0" rtlCol="0" anchor="t"/>
          <a:lstStyle/>
          <a:p>
            <a:pPr indent="0" marL="0">
              <a:buNone/>
            </a:pPr>
            <a:r>
              <a:rPr lang="en-US" sz="1500" b="1" dirty="0">
                <a:solidFill>
                  <a:schemeClr val="tx2"/>
                </a:solidFill>
              </a:rPr>
              <a:t>Predict and dashboard</a:t>
            </a:r>
            <a:endParaRPr lang="en-US" sz="1500" dirty="0"/>
          </a:p>
        </p:txBody>
      </p:sp>
      <p:sp>
        <p:nvSpPr>
          <p:cNvPr id="31" name="Text 28"/>
          <p:cNvSpPr txBox="1"/>
          <p:nvPr/>
        </p:nvSpPr>
        <p:spPr>
          <a:xfrm>
            <a:off x="10362895" y="2834640"/>
            <a:ext cx="1188720" cy="1234440"/>
          </a:xfrm>
          <a:prstGeom prst="rect">
            <a:avLst/>
          </a:prstGeom>
          <a:noFill/>
          <a:ln/>
        </p:spPr>
        <p:txBody>
          <a:bodyPr wrap="square" lIns="0" tIns="0" rIns="0" bIns="0" rtlCol="0" anchor="t"/>
          <a:lstStyle/>
          <a:p>
            <a:pPr indent="0" marL="0">
              <a:buNone/>
            </a:pPr>
            <a:r>
              <a:rPr lang="en-US" sz="1200" dirty="0">
                <a:solidFill>
                  <a:schemeClr val="tx2"/>
                </a:solidFill>
              </a:rPr>
              <a:t>Calibrated chances, with reasons</a:t>
            </a:r>
            <a:endParaRPr lang="en-US" sz="1200" dirty="0"/>
          </a:p>
        </p:txBody>
      </p:sp>
      <p:sp>
        <p:nvSpPr>
          <p:cNvPr id="32" name="Guard bracket"/>
          <p:cNvSpPr/>
          <p:nvPr/>
        </p:nvSpPr>
        <p:spPr>
          <a:xfrm>
            <a:off x="3789578" y="4114800"/>
            <a:ext cx="4612538" cy="0"/>
          </a:xfrm>
          <a:prstGeom prst="line">
            <a:avLst/>
          </a:prstGeom>
          <a:noFill/>
          <a:ln w="25400">
            <a:solidFill>
              <a:schemeClr val="accent1"/>
            </a:solidFill>
            <a:prstDash val="solid"/>
          </a:ln>
        </p:spPr>
      </p:sp>
      <p:sp>
        <p:nvSpPr>
          <p:cNvPr id="33" name="Guard bracket"/>
          <p:cNvSpPr/>
          <p:nvPr/>
        </p:nvSpPr>
        <p:spPr>
          <a:xfrm>
            <a:off x="3789578" y="4023360"/>
            <a:ext cx="0" cy="91440"/>
          </a:xfrm>
          <a:prstGeom prst="line">
            <a:avLst/>
          </a:prstGeom>
          <a:noFill/>
          <a:ln w="25400">
            <a:solidFill>
              <a:schemeClr val="accent1"/>
            </a:solidFill>
            <a:prstDash val="solid"/>
          </a:ln>
        </p:spPr>
      </p:sp>
      <p:sp>
        <p:nvSpPr>
          <p:cNvPr id="34" name="Guard bracket"/>
          <p:cNvSpPr/>
          <p:nvPr/>
        </p:nvSpPr>
        <p:spPr>
          <a:xfrm>
            <a:off x="8402117" y="4023360"/>
            <a:ext cx="0" cy="91440"/>
          </a:xfrm>
          <a:prstGeom prst="line">
            <a:avLst/>
          </a:prstGeom>
          <a:noFill/>
          <a:ln w="25400">
            <a:solidFill>
              <a:schemeClr val="accent1"/>
            </a:solidFill>
            <a:prstDash val="solid"/>
          </a:ln>
        </p:spPr>
      </p:sp>
      <p:sp>
        <p:nvSpPr>
          <p:cNvPr id="35" name="Text 32"/>
          <p:cNvSpPr txBox="1"/>
          <p:nvPr/>
        </p:nvSpPr>
        <p:spPr>
          <a:xfrm>
            <a:off x="3240938" y="4187952"/>
            <a:ext cx="5709818" cy="274320"/>
          </a:xfrm>
          <a:prstGeom prst="rect">
            <a:avLst/>
          </a:prstGeom>
          <a:noFill/>
          <a:ln/>
        </p:spPr>
        <p:txBody>
          <a:bodyPr wrap="square" lIns="0" tIns="0" rIns="0" bIns="0" rtlCol="0" anchor="t"/>
          <a:lstStyle/>
          <a:p>
            <a:pPr algn="ctr" indent="0" marL="0">
              <a:buNone/>
            </a:pPr>
            <a:r>
              <a:rPr lang="en-US" sz="1300" b="1" dirty="0">
                <a:solidFill>
                  <a:schemeClr val="accent1"/>
                </a:solidFill>
              </a:rPr>
              <a:t>No look-ahead: labels use later hours only; memory updates after scoring</a:t>
            </a:r>
            <a:endParaRPr lang="en-US" sz="1300" dirty="0"/>
          </a:p>
        </p:txBody>
      </p:sp>
      <p:sp>
        <p:nvSpPr>
          <p:cNvPr id="36" name="Text 33"/>
          <p:cNvSpPr txBox="1"/>
          <p:nvPr/>
        </p:nvSpPr>
        <p:spPr>
          <a:xfrm>
            <a:off x="548640" y="4800600"/>
            <a:ext cx="3657600" cy="274320"/>
          </a:xfrm>
          <a:prstGeom prst="rect">
            <a:avLst/>
          </a:prstGeom>
          <a:noFill/>
          <a:ln/>
        </p:spPr>
        <p:txBody>
          <a:bodyPr wrap="square" lIns="0" tIns="0" rIns="0" bIns="0" rtlCol="0" anchor="t"/>
          <a:lstStyle/>
          <a:p>
            <a:pPr indent="0" marL="0">
              <a:buNone/>
            </a:pPr>
            <a:r>
              <a:rPr lang="en-US" sz="1400" b="1" dirty="0">
                <a:solidFill>
                  <a:schemeClr val="tx2"/>
                </a:solidFill>
              </a:rPr>
              <a:t>Fitted on the training period only</a:t>
            </a:r>
            <a:endParaRPr lang="en-US" sz="1400" dirty="0"/>
          </a:p>
        </p:txBody>
      </p:sp>
      <p:sp>
        <p:nvSpPr>
          <p:cNvPr id="37" name="Fit chip"/>
          <p:cNvSpPr/>
          <p:nvPr/>
        </p:nvSpPr>
        <p:spPr>
          <a:xfrm>
            <a:off x="548640" y="5166360"/>
            <a:ext cx="1371600" cy="411480"/>
          </a:xfrm>
          <a:prstGeom prst="roundRect">
            <a:avLst>
              <a:gd name="adj" fmla="val 48889"/>
            </a:avLst>
          </a:prstGeom>
          <a:solidFill>
            <a:schemeClr val="accent2"/>
          </a:solidFill>
          <a:ln/>
        </p:spPr>
      </p:sp>
      <p:sp>
        <p:nvSpPr>
          <p:cNvPr id="38" name="Text 35"/>
          <p:cNvSpPr txBox="1"/>
          <p:nvPr/>
        </p:nvSpPr>
        <p:spPr>
          <a:xfrm>
            <a:off x="548640" y="5166360"/>
            <a:ext cx="1371600" cy="411480"/>
          </a:xfrm>
          <a:prstGeom prst="rect">
            <a:avLst/>
          </a:prstGeom>
          <a:noFill/>
          <a:ln/>
        </p:spPr>
        <p:txBody>
          <a:bodyPr wrap="square" lIns="0" tIns="0" rIns="0" bIns="0" rtlCol="0" anchor="ctr"/>
          <a:lstStyle/>
          <a:p>
            <a:pPr algn="ctr" indent="0" marL="0">
              <a:buNone/>
            </a:pPr>
            <a:r>
              <a:rPr lang="en-US" sz="1300" b="1" dirty="0">
                <a:solidFill>
                  <a:schemeClr val="bg1"/>
                </a:solidFill>
              </a:rPr>
              <a:t>Scalers</a:t>
            </a:r>
            <a:endParaRPr lang="en-US" sz="1300" dirty="0"/>
          </a:p>
        </p:txBody>
      </p:sp>
      <p:sp>
        <p:nvSpPr>
          <p:cNvPr id="39" name="Fit chip"/>
          <p:cNvSpPr/>
          <p:nvPr/>
        </p:nvSpPr>
        <p:spPr>
          <a:xfrm>
            <a:off x="2103120" y="5166360"/>
            <a:ext cx="2057400" cy="411480"/>
          </a:xfrm>
          <a:prstGeom prst="roundRect">
            <a:avLst>
              <a:gd name="adj" fmla="val 48889"/>
            </a:avLst>
          </a:prstGeom>
          <a:solidFill>
            <a:schemeClr val="accent2"/>
          </a:solidFill>
          <a:ln/>
        </p:spPr>
      </p:sp>
      <p:sp>
        <p:nvSpPr>
          <p:cNvPr id="40" name="Text 37"/>
          <p:cNvSpPr txBox="1"/>
          <p:nvPr/>
        </p:nvSpPr>
        <p:spPr>
          <a:xfrm>
            <a:off x="2103120" y="5166360"/>
            <a:ext cx="2057400" cy="411480"/>
          </a:xfrm>
          <a:prstGeom prst="rect">
            <a:avLst/>
          </a:prstGeom>
          <a:noFill/>
          <a:ln/>
        </p:spPr>
        <p:txBody>
          <a:bodyPr wrap="square" lIns="0" tIns="0" rIns="0" bIns="0" rtlCol="0" anchor="ctr"/>
          <a:lstStyle/>
          <a:p>
            <a:pPr algn="ctr" indent="0" marL="0">
              <a:buNone/>
            </a:pPr>
            <a:r>
              <a:rPr lang="en-US" sz="1300" b="1" dirty="0">
                <a:solidFill>
                  <a:schemeClr val="bg1"/>
                </a:solidFill>
              </a:rPr>
              <a:t>Seasonality profile</a:t>
            </a:r>
            <a:endParaRPr lang="en-US" sz="1300" dirty="0"/>
          </a:p>
        </p:txBody>
      </p:sp>
      <p:sp>
        <p:nvSpPr>
          <p:cNvPr id="41" name="Fit chip"/>
          <p:cNvSpPr/>
          <p:nvPr/>
        </p:nvSpPr>
        <p:spPr>
          <a:xfrm>
            <a:off x="4343400" y="5166360"/>
            <a:ext cx="1828800" cy="411480"/>
          </a:xfrm>
          <a:prstGeom prst="roundRect">
            <a:avLst>
              <a:gd name="adj" fmla="val 48889"/>
            </a:avLst>
          </a:prstGeom>
          <a:solidFill>
            <a:schemeClr val="accent2"/>
          </a:solidFill>
          <a:ln/>
        </p:spPr>
      </p:sp>
      <p:sp>
        <p:nvSpPr>
          <p:cNvPr id="42" name="Text 39"/>
          <p:cNvSpPr txBox="1"/>
          <p:nvPr/>
        </p:nvSpPr>
        <p:spPr>
          <a:xfrm>
            <a:off x="4343400" y="5166360"/>
            <a:ext cx="1828800" cy="411480"/>
          </a:xfrm>
          <a:prstGeom prst="rect">
            <a:avLst/>
          </a:prstGeom>
          <a:noFill/>
          <a:ln/>
        </p:spPr>
        <p:txBody>
          <a:bodyPr wrap="square" lIns="0" tIns="0" rIns="0" bIns="0" rtlCol="0" anchor="ctr"/>
          <a:lstStyle/>
          <a:p>
            <a:pPr algn="ctr" indent="0" marL="0">
              <a:buNone/>
            </a:pPr>
            <a:r>
              <a:rPr lang="en-US" sz="1300" b="1" dirty="0">
                <a:solidFill>
                  <a:schemeClr val="bg1"/>
                </a:solidFill>
              </a:rPr>
              <a:t>Shock threshold</a:t>
            </a:r>
            <a:endParaRPr lang="en-US" sz="1300" dirty="0"/>
          </a:p>
        </p:txBody>
      </p:sp>
      <p:sp>
        <p:nvSpPr>
          <p:cNvPr id="43" name="Fit chip"/>
          <p:cNvSpPr/>
          <p:nvPr/>
        </p:nvSpPr>
        <p:spPr>
          <a:xfrm>
            <a:off x="6355080" y="5166360"/>
            <a:ext cx="1828800" cy="411480"/>
          </a:xfrm>
          <a:prstGeom prst="roundRect">
            <a:avLst>
              <a:gd name="adj" fmla="val 48889"/>
            </a:avLst>
          </a:prstGeom>
          <a:solidFill>
            <a:schemeClr val="accent2"/>
          </a:solidFill>
          <a:ln/>
        </p:spPr>
      </p:sp>
      <p:sp>
        <p:nvSpPr>
          <p:cNvPr id="44" name="Text 41"/>
          <p:cNvSpPr txBox="1"/>
          <p:nvPr/>
        </p:nvSpPr>
        <p:spPr>
          <a:xfrm>
            <a:off x="6355080" y="5166360"/>
            <a:ext cx="1828800" cy="411480"/>
          </a:xfrm>
          <a:prstGeom prst="rect">
            <a:avLst/>
          </a:prstGeom>
          <a:noFill/>
          <a:ln/>
        </p:spPr>
        <p:txBody>
          <a:bodyPr wrap="square" lIns="0" tIns="0" rIns="0" bIns="0" rtlCol="0" anchor="ctr"/>
          <a:lstStyle/>
          <a:p>
            <a:pPr algn="ctr" indent="0" marL="0">
              <a:buNone/>
            </a:pPr>
            <a:r>
              <a:rPr lang="en-US" sz="1300" b="1" dirty="0">
                <a:solidFill>
                  <a:schemeClr val="bg1"/>
                </a:solidFill>
              </a:rPr>
              <a:t>Graph threshold</a:t>
            </a:r>
            <a:endParaRPr lang="en-US" sz="1300" dirty="0"/>
          </a:p>
        </p:txBody>
      </p:sp>
      <p:sp>
        <p:nvSpPr>
          <p:cNvPr id="45" name="Fit chip"/>
          <p:cNvSpPr/>
          <p:nvPr/>
        </p:nvSpPr>
        <p:spPr>
          <a:xfrm>
            <a:off x="8366760" y="5166360"/>
            <a:ext cx="1645920" cy="411480"/>
          </a:xfrm>
          <a:prstGeom prst="roundRect">
            <a:avLst>
              <a:gd name="adj" fmla="val 48889"/>
            </a:avLst>
          </a:prstGeom>
          <a:solidFill>
            <a:schemeClr val="accent2"/>
          </a:solidFill>
          <a:ln/>
        </p:spPr>
      </p:sp>
      <p:sp>
        <p:nvSpPr>
          <p:cNvPr id="46" name="Text 43"/>
          <p:cNvSpPr txBox="1"/>
          <p:nvPr/>
        </p:nvSpPr>
        <p:spPr>
          <a:xfrm>
            <a:off x="8366760" y="5166360"/>
            <a:ext cx="1645920" cy="411480"/>
          </a:xfrm>
          <a:prstGeom prst="rect">
            <a:avLst/>
          </a:prstGeom>
          <a:noFill/>
          <a:ln/>
        </p:spPr>
        <p:txBody>
          <a:bodyPr wrap="square" lIns="0" tIns="0" rIns="0" bIns="0" rtlCol="0" anchor="ctr"/>
          <a:lstStyle/>
          <a:p>
            <a:pPr algn="ctr" indent="0" marL="0">
              <a:buNone/>
            </a:pPr>
            <a:r>
              <a:rPr lang="en-US" sz="1300" b="1" dirty="0">
                <a:solidFill>
                  <a:schemeClr val="bg1"/>
                </a:solidFill>
              </a:rPr>
              <a:t>Model weights</a:t>
            </a:r>
            <a:endParaRPr lang="en-US" sz="1300" dirty="0"/>
          </a:p>
        </p:txBody>
      </p:sp>
      <p:sp>
        <p:nvSpPr>
          <p:cNvPr id="47" name="Text 44"/>
          <p:cNvSpPr txBox="1"/>
          <p:nvPr/>
        </p:nvSpPr>
        <p:spPr>
          <a:xfrm>
            <a:off x="548640" y="5852160"/>
            <a:ext cx="11094415" cy="274320"/>
          </a:xfrm>
          <a:prstGeom prst="rect">
            <a:avLst/>
          </a:prstGeom>
          <a:noFill/>
          <a:ln/>
        </p:spPr>
        <p:txBody>
          <a:bodyPr wrap="square" lIns="0" tIns="0" rIns="0" bIns="0" rtlCol="0" anchor="t"/>
          <a:lstStyle/>
          <a:p>
            <a:pPr indent="0" marL="0">
              <a:buNone/>
            </a:pPr>
            <a:r>
              <a:rPr lang="en-US" sz="1400" dirty="0">
                <a:solidFill>
                  <a:schemeClr val="accent4"/>
                </a:solidFill>
              </a:rPr>
              <a:t>Every run logs its configuration, seed, git commit, library versions and metrics in a run registry.</a:t>
            </a:r>
            <a:endParaRPr lang="en-US" sz="1400" dirty="0"/>
          </a:p>
        </p:txBody>
      </p:sp>
      <p:sp>
        <p:nvSpPr>
          <p:cNvPr id="25" name="Slide Number Placeholder 0"/>
          <p:cNvSpPr>
            <a:spLocks noGrp="1"/>
          </p:cNvSpPr>
          <p:nvPr>
            <p:ph type="sldNum" sz="quarter" idx="4294967295"/>
          </p:nvPr>
        </p:nvSpPr>
        <p:spPr>
          <a:xfrm>
            <a:off x="11094415" y="6437376"/>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31520"/>
          </a:xfrm>
          <a:prstGeom prst="rect">
            <a:avLst/>
          </a:prstGeom>
          <a:noFill/>
          <a:ln/>
        </p:spPr>
        <p:txBody>
          <a:bodyPr wrap="square" lIns="0" tIns="0" rIns="0" bIns="0" rtlCol="0" anchor="ctr"/>
          <a:lstStyle/>
          <a:p>
            <a:pPr algn="l" indent="0" marL="0">
              <a:buNone/>
            </a:pPr>
            <a:r>
              <a:rPr lang="en-US" sz="3400" b="1" dirty="0">
                <a:solidFill>
                  <a:schemeClr val="tx2"/>
                </a:solidFill>
              </a:rPr>
              <a:t>The market moves as one</a:t>
            </a:r>
            <a:endParaRPr lang="en-US" sz="3400" dirty="0"/>
          </a:p>
        </p:txBody>
      </p:sp>
      <p:sp>
        <p:nvSpPr>
          <p:cNvPr id="3" name="Text 0"/>
          <p:cNvSpPr/>
          <p:nvPr>
            <p:ph idx="101" type="body" hasCustomPrompt="1"/>
          </p:nvPr>
        </p:nvSpPr>
        <p:spPr>
          <a:xfrm>
            <a:off x="548640" y="1097280"/>
            <a:ext cx="11094415" cy="457200"/>
          </a:xfrm>
          <a:prstGeom prst="rect">
            <a:avLst/>
          </a:prstGeom>
          <a:noFill/>
          <a:ln/>
        </p:spPr>
        <p:txBody>
          <a:bodyPr wrap="square" lIns="0" tIns="0" rIns="0" bIns="0" rtlCol="0" anchor="t"/>
          <a:lstStyle/>
          <a:p>
            <a:pPr algn="l" indent="0" marL="0">
              <a:buNone/>
            </a:pPr>
            <a:r>
              <a:rPr lang="en-US" sz="1700" dirty="0">
                <a:solidFill>
                  <a:schemeClr val="accent4"/>
                </a:solidFill>
              </a:rPr>
              <a:t>A single market factor dominates, so shocks spread within the hour, not along chains</a:t>
            </a:r>
            <a:endParaRPr lang="en-US" sz="1700" dirty="0"/>
          </a:p>
        </p:txBody>
      </p:sp>
      <p:sp>
        <p:nvSpPr>
          <p:cNvPr id="5" name="Stat card"/>
          <p:cNvSpPr/>
          <p:nvPr/>
        </p:nvSpPr>
        <p:spPr>
          <a:xfrm>
            <a:off x="548640" y="1783080"/>
            <a:ext cx="3931920" cy="1371600"/>
          </a:xfrm>
          <a:prstGeom prst="roundRect">
            <a:avLst>
              <a:gd name="adj" fmla="val 6667"/>
            </a:avLst>
          </a:prstGeom>
          <a:solidFill>
            <a:schemeClr val="bg2"/>
          </a:solidFill>
          <a:ln/>
        </p:spPr>
      </p:sp>
      <p:sp>
        <p:nvSpPr>
          <p:cNvPr id="6" name="Text 3"/>
          <p:cNvSpPr txBox="1"/>
          <p:nvPr/>
        </p:nvSpPr>
        <p:spPr>
          <a:xfrm>
            <a:off x="777240" y="1892808"/>
            <a:ext cx="3474720" cy="658368"/>
          </a:xfrm>
          <a:prstGeom prst="rect">
            <a:avLst/>
          </a:prstGeom>
          <a:noFill/>
          <a:ln/>
        </p:spPr>
        <p:txBody>
          <a:bodyPr wrap="square" lIns="0" tIns="0" rIns="0" bIns="0" rtlCol="0" anchor="ctr"/>
          <a:lstStyle/>
          <a:p>
            <a:pPr indent="0" marL="0">
              <a:buNone/>
            </a:pPr>
            <a:r>
              <a:rPr lang="en-US" sz="3800" b="1" dirty="0">
                <a:solidFill>
                  <a:schemeClr val="accent1"/>
                </a:solidFill>
                <a:latin typeface="+mj-lt" pitchFamily="34" charset="0"/>
                <a:ea typeface="+mj-lt" pitchFamily="34" charset="-122"/>
                <a:cs typeface="+mj-lt" pitchFamily="34" charset="-120"/>
              </a:rPr>
              <a:t>64%</a:t>
            </a:r>
            <a:endParaRPr lang="en-US" sz="3800" dirty="0"/>
          </a:p>
        </p:txBody>
      </p:sp>
      <p:sp>
        <p:nvSpPr>
          <p:cNvPr id="7" name="Text 4"/>
          <p:cNvSpPr txBox="1"/>
          <p:nvPr/>
        </p:nvSpPr>
        <p:spPr>
          <a:xfrm>
            <a:off x="777240" y="2578608"/>
            <a:ext cx="3474720" cy="521208"/>
          </a:xfrm>
          <a:prstGeom prst="rect">
            <a:avLst/>
          </a:prstGeom>
          <a:noFill/>
          <a:ln/>
        </p:spPr>
        <p:txBody>
          <a:bodyPr wrap="square" lIns="0" tIns="0" rIns="0" bIns="0" rtlCol="0" anchor="t"/>
          <a:lstStyle/>
          <a:p>
            <a:pPr indent="0" marL="0">
              <a:buNone/>
            </a:pPr>
            <a:r>
              <a:rPr lang="en-US" sz="1400" dirty="0">
                <a:solidFill>
                  <a:schemeClr val="tx2"/>
                </a:solidFill>
              </a:rPr>
              <a:t>of hourly return variance is explained by one market factor</a:t>
            </a:r>
            <a:endParaRPr lang="en-US" sz="1400" dirty="0"/>
          </a:p>
        </p:txBody>
      </p:sp>
      <p:sp>
        <p:nvSpPr>
          <p:cNvPr id="8" name="Stat card"/>
          <p:cNvSpPr/>
          <p:nvPr/>
        </p:nvSpPr>
        <p:spPr>
          <a:xfrm>
            <a:off x="548640" y="3310128"/>
            <a:ext cx="3931920" cy="1371600"/>
          </a:xfrm>
          <a:prstGeom prst="roundRect">
            <a:avLst>
              <a:gd name="adj" fmla="val 6667"/>
            </a:avLst>
          </a:prstGeom>
          <a:solidFill>
            <a:schemeClr val="bg2"/>
          </a:solidFill>
          <a:ln/>
        </p:spPr>
      </p:sp>
      <p:sp>
        <p:nvSpPr>
          <p:cNvPr id="9" name="Text 6"/>
          <p:cNvSpPr txBox="1"/>
          <p:nvPr/>
        </p:nvSpPr>
        <p:spPr>
          <a:xfrm>
            <a:off x="777240" y="3419856"/>
            <a:ext cx="3474720" cy="658368"/>
          </a:xfrm>
          <a:prstGeom prst="rect">
            <a:avLst/>
          </a:prstGeom>
          <a:noFill/>
          <a:ln/>
        </p:spPr>
        <p:txBody>
          <a:bodyPr wrap="square" lIns="0" tIns="0" rIns="0" bIns="0" rtlCol="0" anchor="ctr"/>
          <a:lstStyle/>
          <a:p>
            <a:pPr indent="0" marL="0">
              <a:buNone/>
            </a:pPr>
            <a:r>
              <a:rPr lang="en-US" sz="3800" b="1" dirty="0">
                <a:solidFill>
                  <a:schemeClr val="accent1"/>
                </a:solidFill>
                <a:latin typeface="+mj-lt" pitchFamily="34" charset="0"/>
                <a:ea typeface="+mj-lt" pitchFamily="34" charset="-122"/>
                <a:cs typeface="+mj-lt" pitchFamily="34" charset="-120"/>
              </a:rPr>
              <a:t>2.3×</a:t>
            </a:r>
            <a:endParaRPr lang="en-US" sz="3800" dirty="0"/>
          </a:p>
        </p:txBody>
      </p:sp>
      <p:sp>
        <p:nvSpPr>
          <p:cNvPr id="10" name="Text 7"/>
          <p:cNvSpPr txBox="1"/>
          <p:nvPr/>
        </p:nvSpPr>
        <p:spPr>
          <a:xfrm>
            <a:off x="777240" y="4105656"/>
            <a:ext cx="3474720" cy="521208"/>
          </a:xfrm>
          <a:prstGeom prst="rect">
            <a:avLst/>
          </a:prstGeom>
          <a:noFill/>
          <a:ln/>
        </p:spPr>
        <p:txBody>
          <a:bodyPr wrap="square" lIns="0" tIns="0" rIns="0" bIns="0" rtlCol="0" anchor="t"/>
          <a:lstStyle/>
          <a:p>
            <a:pPr indent="0" marL="0">
              <a:buNone/>
            </a:pPr>
            <a:r>
              <a:rPr lang="en-US" sz="1400" dirty="0">
                <a:solidFill>
                  <a:schemeClr val="tx2"/>
                </a:solidFill>
              </a:rPr>
              <a:t>more likely that another coin shocks in the next hour; fades to 1.26× by 24 h</a:t>
            </a:r>
            <a:endParaRPr lang="en-US" sz="1400" dirty="0"/>
          </a:p>
        </p:txBody>
      </p:sp>
      <p:sp>
        <p:nvSpPr>
          <p:cNvPr id="11" name="Stat card"/>
          <p:cNvSpPr/>
          <p:nvPr/>
        </p:nvSpPr>
        <p:spPr>
          <a:xfrm>
            <a:off x="548640" y="4837176"/>
            <a:ext cx="3931920" cy="1417320"/>
          </a:xfrm>
          <a:prstGeom prst="roundRect">
            <a:avLst>
              <a:gd name="adj" fmla="val 6452"/>
            </a:avLst>
          </a:prstGeom>
          <a:solidFill>
            <a:schemeClr val="bg2"/>
          </a:solidFill>
          <a:ln/>
        </p:spPr>
      </p:sp>
      <p:sp>
        <p:nvSpPr>
          <p:cNvPr id="12" name="Text 9"/>
          <p:cNvSpPr txBox="1"/>
          <p:nvPr/>
        </p:nvSpPr>
        <p:spPr>
          <a:xfrm>
            <a:off x="777240" y="4946904"/>
            <a:ext cx="3474720" cy="680314"/>
          </a:xfrm>
          <a:prstGeom prst="rect">
            <a:avLst/>
          </a:prstGeom>
          <a:noFill/>
          <a:ln/>
        </p:spPr>
        <p:txBody>
          <a:bodyPr wrap="square" lIns="0" tIns="0" rIns="0" bIns="0" rtlCol="0" anchor="ctr"/>
          <a:lstStyle/>
          <a:p>
            <a:pPr indent="0" marL="0">
              <a:buNone/>
            </a:pPr>
            <a:r>
              <a:rPr lang="en-US" sz="3800" b="1" dirty="0">
                <a:solidFill>
                  <a:schemeClr val="accent1"/>
                </a:solidFill>
                <a:latin typeface="+mj-lt" pitchFamily="34" charset="0"/>
                <a:ea typeface="+mj-lt" pitchFamily="34" charset="-122"/>
                <a:cs typeface="+mj-lt" pitchFamily="34" charset="-120"/>
              </a:rPr>
              <a:t>9 of 9</a:t>
            </a:r>
            <a:endParaRPr lang="en-US" sz="3800" dirty="0"/>
          </a:p>
        </p:txBody>
      </p:sp>
      <p:sp>
        <p:nvSpPr>
          <p:cNvPr id="13" name="Text 10"/>
          <p:cNvSpPr txBox="1"/>
          <p:nvPr/>
        </p:nvSpPr>
        <p:spPr>
          <a:xfrm>
            <a:off x="777240" y="5659222"/>
            <a:ext cx="3474720" cy="538582"/>
          </a:xfrm>
          <a:prstGeom prst="rect">
            <a:avLst/>
          </a:prstGeom>
          <a:noFill/>
          <a:ln/>
        </p:spPr>
        <p:txBody>
          <a:bodyPr wrap="square" lIns="0" tIns="0" rIns="0" bIns="0" rtlCol="0" anchor="t"/>
          <a:lstStyle/>
          <a:p>
            <a:pPr indent="0" marL="0">
              <a:buNone/>
            </a:pPr>
            <a:r>
              <a:rPr lang="en-US" sz="1300" dirty="0">
                <a:solidFill>
                  <a:schemeClr val="tx2"/>
                </a:solidFill>
              </a:rPr>
              <a:t>crises tighten the network: correlation, density and spillover rise, the spanning tree shrinks</a:t>
            </a:r>
            <a:endParaRPr lang="en-US" sz="1300" dirty="0"/>
          </a:p>
        </p:txBody>
      </p:sp>
      <p:graphicFrame>
        <p:nvGraphicFramePr>
          <p:cNvPr id="14" name="Chart 0" descr=""/>
          <p:cNvGraphicFramePr/>
          <p:nvPr/>
        </p:nvGraphicFramePr>
        <p:xfrm>
          <a:off x="4800600" y="1737360"/>
          <a:ext cx="6839712" cy="3749040"/>
        </p:xfrm>
        <a:graphic xmlns:a="http://schemas.openxmlformats.org/drawingml/2006/main">
          <a:graphicData uri="http://schemas.openxmlformats.org/drawingml/2006/chart">
            <c:chart xmlns:c="http://schemas.openxmlformats.org/drawingml/2006/chart" r:id="rId1"/>
          </a:graphicData>
        </a:graphic>
      </p:graphicFrame>
      <p:sp>
        <p:nvSpPr>
          <p:cNvPr id="15" name="Text 11"/>
          <p:cNvSpPr txBox="1"/>
          <p:nvPr/>
        </p:nvSpPr>
        <p:spPr>
          <a:xfrm>
            <a:off x="4800600" y="5623560"/>
            <a:ext cx="6839712" cy="640080"/>
          </a:xfrm>
          <a:prstGeom prst="rect">
            <a:avLst/>
          </a:prstGeom>
          <a:noFill/>
          <a:ln/>
        </p:spPr>
        <p:txBody>
          <a:bodyPr wrap="square" lIns="0" tIns="0" rIns="0" bIns="0" rtlCol="0" anchor="t"/>
          <a:lstStyle/>
          <a:p>
            <a:pPr indent="0" marL="0">
              <a:buNone/>
            </a:pPr>
            <a:r>
              <a:rPr lang="en-US" sz="1500" b="1" dirty="0">
                <a:solidFill>
                  <a:schemeClr val="tx2"/>
                </a:solidFill>
              </a:rPr>
              <a:t>Communities partly follow sectors (NMI 0.47, p = 0.003), but contagion ignores them, except among meme coins.</a:t>
            </a:r>
            <a:endParaRPr lang="en-US" sz="1500" dirty="0"/>
          </a:p>
        </p:txBody>
      </p:sp>
      <p:sp>
        <p:nvSpPr>
          <p:cNvPr id="25" name="Slide Number Placeholder 0"/>
          <p:cNvSpPr>
            <a:spLocks noGrp="1"/>
          </p:cNvSpPr>
          <p:nvPr>
            <p:ph type="sldNum" sz="quarter" idx="4294967295"/>
          </p:nvPr>
        </p:nvSpPr>
        <p:spPr>
          <a:xfrm>
            <a:off x="11094415" y="6437376"/>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31520"/>
          </a:xfrm>
          <a:prstGeom prst="rect">
            <a:avLst/>
          </a:prstGeom>
          <a:noFill/>
          <a:ln/>
        </p:spPr>
        <p:txBody>
          <a:bodyPr wrap="square" lIns="0" tIns="0" rIns="0" bIns="0" rtlCol="0" anchor="ctr"/>
          <a:lstStyle/>
          <a:p>
            <a:pPr algn="l" indent="0" marL="0">
              <a:buNone/>
            </a:pPr>
            <a:r>
              <a:rPr lang="en-US" sz="3400" b="1" dirty="0">
                <a:solidFill>
                  <a:schemeClr val="tx2"/>
                </a:solidFill>
              </a:rPr>
              <a:t>The model: a temporal graph network</a:t>
            </a:r>
            <a:endParaRPr lang="en-US" sz="3400" dirty="0"/>
          </a:p>
        </p:txBody>
      </p:sp>
      <p:sp>
        <p:nvSpPr>
          <p:cNvPr id="3" name="Text 0"/>
          <p:cNvSpPr/>
          <p:nvPr>
            <p:ph idx="101" type="body" hasCustomPrompt="1"/>
          </p:nvPr>
        </p:nvSpPr>
        <p:spPr>
          <a:xfrm>
            <a:off x="548640" y="1097280"/>
            <a:ext cx="11094415" cy="457200"/>
          </a:xfrm>
          <a:prstGeom prst="rect">
            <a:avLst/>
          </a:prstGeom>
          <a:noFill/>
          <a:ln/>
        </p:spPr>
        <p:txBody>
          <a:bodyPr wrap="square" lIns="0" tIns="0" rIns="0" bIns="0" rtlCol="0" anchor="t"/>
          <a:lstStyle/>
          <a:p>
            <a:pPr algn="l" indent="0" marL="0">
              <a:buNone/>
            </a:pPr>
            <a:r>
              <a:rPr lang="en-US" sz="1700" dirty="0">
                <a:solidFill>
                  <a:schemeClr val="accent4"/>
                </a:solidFill>
              </a:rPr>
              <a:t>A memory per coin, attention over recent events, one prediction per horizon</a:t>
            </a:r>
            <a:endParaRPr lang="en-US" sz="1700" dirty="0"/>
          </a:p>
        </p:txBody>
      </p:sp>
      <p:sp>
        <p:nvSpPr>
          <p:cNvPr id="5" name="Event box"/>
          <p:cNvSpPr/>
          <p:nvPr/>
        </p:nvSpPr>
        <p:spPr>
          <a:xfrm>
            <a:off x="548640" y="3017520"/>
            <a:ext cx="1783080" cy="1188720"/>
          </a:xfrm>
          <a:prstGeom prst="roundRect">
            <a:avLst>
              <a:gd name="adj" fmla="val 6154"/>
            </a:avLst>
          </a:prstGeom>
          <a:solidFill>
            <a:schemeClr val="accent6"/>
          </a:solidFill>
          <a:ln/>
        </p:spPr>
      </p:sp>
      <p:sp>
        <p:nvSpPr>
          <p:cNvPr id="6" name="Text 3"/>
          <p:cNvSpPr txBox="1"/>
          <p:nvPr/>
        </p:nvSpPr>
        <p:spPr>
          <a:xfrm>
            <a:off x="640080" y="3108960"/>
            <a:ext cx="1600200" cy="320040"/>
          </a:xfrm>
          <a:prstGeom prst="rect">
            <a:avLst/>
          </a:prstGeom>
          <a:noFill/>
          <a:ln/>
        </p:spPr>
        <p:txBody>
          <a:bodyPr wrap="square" lIns="0" tIns="0" rIns="0" bIns="0" rtlCol="0" anchor="t"/>
          <a:lstStyle/>
          <a:p>
            <a:pPr indent="0" marL="0">
              <a:buNone/>
            </a:pPr>
            <a:r>
              <a:rPr lang="en-US" sz="1500" b="1" dirty="0">
                <a:solidFill>
                  <a:schemeClr val="bg1"/>
                </a:solidFill>
              </a:rPr>
              <a:t>Shock event</a:t>
            </a:r>
            <a:endParaRPr lang="en-US" sz="1500" dirty="0"/>
          </a:p>
        </p:txBody>
      </p:sp>
      <p:sp>
        <p:nvSpPr>
          <p:cNvPr id="7" name="Text 4"/>
          <p:cNvSpPr txBox="1"/>
          <p:nvPr/>
        </p:nvSpPr>
        <p:spPr>
          <a:xfrm>
            <a:off x="640080" y="3456432"/>
            <a:ext cx="1600200" cy="685800"/>
          </a:xfrm>
          <a:prstGeom prst="rect">
            <a:avLst/>
          </a:prstGeom>
          <a:noFill/>
          <a:ln/>
        </p:spPr>
        <p:txBody>
          <a:bodyPr wrap="square" lIns="0" tIns="0" rIns="0" bIns="0" rtlCol="0" anchor="t"/>
          <a:lstStyle/>
          <a:p>
            <a:pPr indent="0" marL="0">
              <a:buNone/>
            </a:pPr>
            <a:r>
              <a:rPr lang="en-US" sz="1200" i="1" dirty="0">
                <a:solidFill>
                  <a:schemeClr val="bg1"/>
                </a:solidFill>
              </a:rPr>
              <a:t>i</a:t>
            </a:r>
            <a:pPr indent="0" marL="0">
              <a:buNone/>
            </a:pPr>
            <a:r>
              <a:rPr lang="en-US" sz="1200" dirty="0">
                <a:solidFill>
                  <a:schemeClr val="bg1"/>
                </a:solidFill>
              </a:rPr>
              <a:t> → </a:t>
            </a:r>
            <a:pPr indent="0" marL="0">
              <a:buNone/>
            </a:pPr>
            <a:r>
              <a:rPr lang="en-US" sz="1200" i="1" dirty="0">
                <a:solidFill>
                  <a:schemeClr val="bg1"/>
                </a:solidFill>
              </a:rPr>
              <a:t>j</a:t>
            </a:r>
            <a:pPr indent="0" marL="0">
              <a:buNone/>
            </a:pPr>
            <a:r>
              <a:rPr lang="en-US" sz="1200" dirty="0">
                <a:solidFill>
                  <a:schemeClr val="bg1"/>
                </a:solidFill>
              </a:rPr>
              <a:t> at hour </a:t>
            </a:r>
            <a:pPr indent="0" marL="0">
              <a:buNone/>
            </a:pPr>
            <a:r>
              <a:rPr lang="en-US" sz="1200" i="1" dirty="0">
                <a:solidFill>
                  <a:schemeClr val="bg1"/>
                </a:solidFill>
              </a:rPr>
              <a:t>t</a:t>
            </a:r>
            <a:pPr indent="0" marL="0">
              <a:buNone/>
            </a:pPr>
            <a:r>
              <a:rPr lang="en-US" sz="1200" dirty="0">
                <a:solidFill>
                  <a:schemeClr val="bg1"/>
                </a:solidFill>
              </a:rPr>
              <a:t>; 5-d event vector</a:t>
            </a:r>
            <a:endParaRPr lang="en-US" sz="1200" dirty="0"/>
          </a:p>
        </p:txBody>
      </p:sp>
      <p:sp>
        <p:nvSpPr>
          <p:cNvPr id="8" name="Memory box"/>
          <p:cNvSpPr/>
          <p:nvPr/>
        </p:nvSpPr>
        <p:spPr>
          <a:xfrm>
            <a:off x="2971800" y="1920240"/>
            <a:ext cx="2468880" cy="1280160"/>
          </a:xfrm>
          <a:prstGeom prst="roundRect">
            <a:avLst>
              <a:gd name="adj" fmla="val 5714"/>
            </a:avLst>
          </a:prstGeom>
          <a:solidFill>
            <a:schemeClr val="accent2"/>
          </a:solidFill>
          <a:ln/>
        </p:spPr>
      </p:sp>
      <p:sp>
        <p:nvSpPr>
          <p:cNvPr id="9" name="Text 6"/>
          <p:cNvSpPr txBox="1"/>
          <p:nvPr/>
        </p:nvSpPr>
        <p:spPr>
          <a:xfrm>
            <a:off x="3108960" y="2011680"/>
            <a:ext cx="2194560" cy="320040"/>
          </a:xfrm>
          <a:prstGeom prst="rect">
            <a:avLst/>
          </a:prstGeom>
          <a:noFill/>
          <a:ln/>
        </p:spPr>
        <p:txBody>
          <a:bodyPr wrap="square" lIns="0" tIns="0" rIns="0" bIns="0" rtlCol="0" anchor="t"/>
          <a:lstStyle/>
          <a:p>
            <a:pPr indent="0" marL="0">
              <a:buNone/>
            </a:pPr>
            <a:r>
              <a:rPr lang="en-US" sz="1500" b="1" dirty="0">
                <a:solidFill>
                  <a:schemeClr val="bg1"/>
                </a:solidFill>
              </a:rPr>
              <a:t>Memory per coin</a:t>
            </a:r>
            <a:endParaRPr lang="en-US" sz="1500" dirty="0"/>
          </a:p>
        </p:txBody>
      </p:sp>
      <p:sp>
        <p:nvSpPr>
          <p:cNvPr id="10" name="Text 7"/>
          <p:cNvSpPr txBox="1"/>
          <p:nvPr/>
        </p:nvSpPr>
        <p:spPr>
          <a:xfrm>
            <a:off x="3108960" y="2377440"/>
            <a:ext cx="2194560" cy="731520"/>
          </a:xfrm>
          <a:prstGeom prst="rect">
            <a:avLst/>
          </a:prstGeom>
          <a:noFill/>
          <a:ln/>
        </p:spPr>
        <p:txBody>
          <a:bodyPr wrap="square" lIns="0" tIns="0" rIns="0" bIns="0" rtlCol="0" anchor="t"/>
          <a:lstStyle/>
          <a:p>
            <a:pPr indent="0" marL="0">
              <a:buNone/>
            </a:pPr>
            <a:r>
              <a:rPr lang="en-US" sz="1200" dirty="0">
                <a:solidFill>
                  <a:schemeClr val="bg1"/>
                </a:solidFill>
              </a:rPr>
              <a:t>64-d vector, updated by a GRU after each event</a:t>
            </a:r>
            <a:endParaRPr lang="en-US" sz="1200" dirty="0"/>
          </a:p>
        </p:txBody>
      </p:sp>
      <p:sp>
        <p:nvSpPr>
          <p:cNvPr id="11" name="Attention box"/>
          <p:cNvSpPr/>
          <p:nvPr/>
        </p:nvSpPr>
        <p:spPr>
          <a:xfrm>
            <a:off x="2971800" y="3977640"/>
            <a:ext cx="2468880" cy="1280160"/>
          </a:xfrm>
          <a:prstGeom prst="roundRect">
            <a:avLst>
              <a:gd name="adj" fmla="val 5714"/>
            </a:avLst>
          </a:prstGeom>
          <a:solidFill>
            <a:schemeClr val="accent2"/>
          </a:solidFill>
          <a:ln/>
        </p:spPr>
      </p:sp>
      <p:sp>
        <p:nvSpPr>
          <p:cNvPr id="12" name="Text 9"/>
          <p:cNvSpPr txBox="1"/>
          <p:nvPr/>
        </p:nvSpPr>
        <p:spPr>
          <a:xfrm>
            <a:off x="3108960" y="4069080"/>
            <a:ext cx="2194560" cy="320040"/>
          </a:xfrm>
          <a:prstGeom prst="rect">
            <a:avLst/>
          </a:prstGeom>
          <a:noFill/>
          <a:ln/>
        </p:spPr>
        <p:txBody>
          <a:bodyPr wrap="square" lIns="0" tIns="0" rIns="0" bIns="0" rtlCol="0" anchor="t"/>
          <a:lstStyle/>
          <a:p>
            <a:pPr indent="0" marL="0">
              <a:buNone/>
            </a:pPr>
            <a:r>
              <a:rPr lang="en-US" sz="1500" b="1" dirty="0">
                <a:solidFill>
                  <a:schemeClr val="bg1"/>
                </a:solidFill>
              </a:rPr>
              <a:t>Temporal attention</a:t>
            </a:r>
            <a:endParaRPr lang="en-US" sz="1500" dirty="0"/>
          </a:p>
        </p:txBody>
      </p:sp>
      <p:sp>
        <p:nvSpPr>
          <p:cNvPr id="13" name="Text 10"/>
          <p:cNvSpPr txBox="1"/>
          <p:nvPr/>
        </p:nvSpPr>
        <p:spPr>
          <a:xfrm>
            <a:off x="3108960" y="4434840"/>
            <a:ext cx="2194560" cy="777240"/>
          </a:xfrm>
          <a:prstGeom prst="rect">
            <a:avLst/>
          </a:prstGeom>
          <a:noFill/>
          <a:ln/>
        </p:spPr>
        <p:txBody>
          <a:bodyPr wrap="square" lIns="0" tIns="0" rIns="0" bIns="0" rtlCol="0" anchor="t"/>
          <a:lstStyle/>
          <a:p>
            <a:pPr indent="0" marL="0">
              <a:buNone/>
            </a:pPr>
            <a:r>
              <a:rPr lang="en-US" sz="1200" dirty="0">
                <a:solidFill>
                  <a:schemeClr val="bg1"/>
                </a:solidFill>
              </a:rPr>
              <a:t>Over each coin's 10 latest events; gives a 64-d embedding per coin</a:t>
            </a:r>
            <a:endParaRPr lang="en-US" sz="1200" dirty="0"/>
          </a:p>
        </p:txBody>
      </p:sp>
      <p:sp>
        <p:nvSpPr>
          <p:cNvPr id="14" name="Inputs box"/>
          <p:cNvSpPr/>
          <p:nvPr/>
        </p:nvSpPr>
        <p:spPr>
          <a:xfrm>
            <a:off x="6080760" y="1920240"/>
            <a:ext cx="2286000" cy="914400"/>
          </a:xfrm>
          <a:prstGeom prst="roundRect">
            <a:avLst>
              <a:gd name="adj" fmla="val 8000"/>
            </a:avLst>
          </a:prstGeom>
          <a:solidFill>
            <a:schemeClr val="accent4"/>
          </a:solidFill>
          <a:ln/>
        </p:spPr>
      </p:sp>
      <p:sp>
        <p:nvSpPr>
          <p:cNvPr id="15" name="Text 12"/>
          <p:cNvSpPr txBox="1"/>
          <p:nvPr/>
        </p:nvSpPr>
        <p:spPr>
          <a:xfrm>
            <a:off x="6217920" y="1984248"/>
            <a:ext cx="2011680" cy="301752"/>
          </a:xfrm>
          <a:prstGeom prst="rect">
            <a:avLst/>
          </a:prstGeom>
          <a:noFill/>
          <a:ln/>
        </p:spPr>
        <p:txBody>
          <a:bodyPr wrap="square" lIns="0" tIns="0" rIns="0" bIns="0" rtlCol="0" anchor="t"/>
          <a:lstStyle/>
          <a:p>
            <a:pPr indent="0" marL="0">
              <a:buNone/>
            </a:pPr>
            <a:r>
              <a:rPr lang="en-US" sz="1500" b="1" dirty="0">
                <a:solidFill>
                  <a:schemeClr val="bg1"/>
                </a:solidFill>
              </a:rPr>
              <a:t>Current inputs</a:t>
            </a:r>
            <a:endParaRPr lang="en-US" sz="1500" dirty="0"/>
          </a:p>
        </p:txBody>
      </p:sp>
      <p:sp>
        <p:nvSpPr>
          <p:cNvPr id="16" name="Text 13"/>
          <p:cNvSpPr txBox="1"/>
          <p:nvPr/>
        </p:nvSpPr>
        <p:spPr>
          <a:xfrm>
            <a:off x="6217920" y="2331720"/>
            <a:ext cx="2011680" cy="457200"/>
          </a:xfrm>
          <a:prstGeom prst="rect">
            <a:avLst/>
          </a:prstGeom>
          <a:noFill/>
          <a:ln/>
        </p:spPr>
        <p:txBody>
          <a:bodyPr wrap="square" lIns="0" tIns="0" rIns="0" bIns="0" rtlCol="0" anchor="t"/>
          <a:lstStyle/>
          <a:p>
            <a:pPr indent="0" marL="0">
              <a:buNone/>
            </a:pPr>
            <a:r>
              <a:rPr lang="en-US" sz="1200" dirty="0">
                <a:solidFill>
                  <a:schemeClr val="bg1"/>
                </a:solidFill>
              </a:rPr>
              <a:t>14 features of each coin</a:t>
            </a:r>
            <a:endParaRPr lang="en-US" sz="1200" dirty="0"/>
          </a:p>
        </p:txBody>
      </p:sp>
      <p:sp>
        <p:nvSpPr>
          <p:cNvPr id="17" name="Head box"/>
          <p:cNvSpPr/>
          <p:nvPr/>
        </p:nvSpPr>
        <p:spPr>
          <a:xfrm>
            <a:off x="6080760" y="3200400"/>
            <a:ext cx="2286000" cy="1280160"/>
          </a:xfrm>
          <a:prstGeom prst="roundRect">
            <a:avLst>
              <a:gd name="adj" fmla="val 5714"/>
            </a:avLst>
          </a:prstGeom>
          <a:solidFill>
            <a:schemeClr val="accent1"/>
          </a:solidFill>
          <a:ln/>
        </p:spPr>
      </p:sp>
      <p:sp>
        <p:nvSpPr>
          <p:cNvPr id="18" name="Text 15"/>
          <p:cNvSpPr txBox="1"/>
          <p:nvPr/>
        </p:nvSpPr>
        <p:spPr>
          <a:xfrm>
            <a:off x="6217920" y="3291840"/>
            <a:ext cx="2011680" cy="320040"/>
          </a:xfrm>
          <a:prstGeom prst="rect">
            <a:avLst/>
          </a:prstGeom>
          <a:noFill/>
          <a:ln/>
        </p:spPr>
        <p:txBody>
          <a:bodyPr wrap="square" lIns="0" tIns="0" rIns="0" bIns="0" rtlCol="0" anchor="t"/>
          <a:lstStyle/>
          <a:p>
            <a:pPr indent="0" marL="0">
              <a:buNone/>
            </a:pPr>
            <a:r>
              <a:rPr lang="en-US" sz="1500" b="1" dirty="0">
                <a:solidFill>
                  <a:schemeClr val="bg1"/>
                </a:solidFill>
              </a:rPr>
              <a:t>Prediction head</a:t>
            </a:r>
            <a:endParaRPr lang="en-US" sz="1500" dirty="0"/>
          </a:p>
        </p:txBody>
      </p:sp>
      <p:sp>
        <p:nvSpPr>
          <p:cNvPr id="19" name="Text 16"/>
          <p:cNvSpPr txBox="1"/>
          <p:nvPr/>
        </p:nvSpPr>
        <p:spPr>
          <a:xfrm>
            <a:off x="6217920" y="3657600"/>
            <a:ext cx="2011680" cy="731520"/>
          </a:xfrm>
          <a:prstGeom prst="rect">
            <a:avLst/>
          </a:prstGeom>
          <a:noFill/>
          <a:ln/>
        </p:spPr>
        <p:txBody>
          <a:bodyPr wrap="square" lIns="0" tIns="0" rIns="0" bIns="0" rtlCol="0" anchor="t"/>
          <a:lstStyle/>
          <a:p>
            <a:pPr indent="0" marL="0">
              <a:buNone/>
            </a:pPr>
            <a:r>
              <a:rPr lang="en-US" sz="1200" dirty="0">
                <a:solidFill>
                  <a:schemeClr val="bg1"/>
                </a:solidFill>
              </a:rPr>
              <a:t>161 inputs, 64-unit ReLU layer</a:t>
            </a:r>
            <a:endParaRPr lang="en-US" sz="1200" dirty="0"/>
          </a:p>
        </p:txBody>
      </p:sp>
      <p:sp>
        <p:nvSpPr>
          <p:cNvPr id="20" name="Output box"/>
          <p:cNvSpPr/>
          <p:nvPr/>
        </p:nvSpPr>
        <p:spPr>
          <a:xfrm>
            <a:off x="6080760" y="4846320"/>
            <a:ext cx="2286000" cy="868680"/>
          </a:xfrm>
          <a:prstGeom prst="roundRect">
            <a:avLst>
              <a:gd name="adj" fmla="val 8421"/>
            </a:avLst>
          </a:prstGeom>
          <a:solidFill>
            <a:schemeClr val="bg2"/>
          </a:solidFill>
          <a:ln/>
        </p:spPr>
      </p:sp>
      <p:sp>
        <p:nvSpPr>
          <p:cNvPr id="21" name="Text 18"/>
          <p:cNvSpPr txBox="1"/>
          <p:nvPr/>
        </p:nvSpPr>
        <p:spPr>
          <a:xfrm>
            <a:off x="6217920" y="4892040"/>
            <a:ext cx="2011680" cy="320040"/>
          </a:xfrm>
          <a:prstGeom prst="rect">
            <a:avLst/>
          </a:prstGeom>
          <a:noFill/>
          <a:ln/>
        </p:spPr>
        <p:txBody>
          <a:bodyPr wrap="square" lIns="0" tIns="0" rIns="0" bIns="0" rtlCol="0" anchor="t"/>
          <a:lstStyle/>
          <a:p>
            <a:pPr indent="0" marL="0">
              <a:buNone/>
            </a:pPr>
            <a:r>
              <a:rPr lang="en-US" sz="1500" b="1" dirty="0">
                <a:solidFill>
                  <a:schemeClr val="accent1"/>
                </a:solidFill>
              </a:rPr>
              <a:t>5 logits</a:t>
            </a:r>
            <a:endParaRPr lang="en-US" sz="1500" dirty="0"/>
          </a:p>
        </p:txBody>
      </p:sp>
      <p:sp>
        <p:nvSpPr>
          <p:cNvPr id="22" name="Text 19"/>
          <p:cNvSpPr txBox="1"/>
          <p:nvPr/>
        </p:nvSpPr>
        <p:spPr>
          <a:xfrm>
            <a:off x="6217920" y="5230368"/>
            <a:ext cx="2011680" cy="320040"/>
          </a:xfrm>
          <a:prstGeom prst="rect">
            <a:avLst/>
          </a:prstGeom>
          <a:noFill/>
          <a:ln/>
        </p:spPr>
        <p:txBody>
          <a:bodyPr wrap="square" lIns="0" tIns="0" rIns="0" bIns="0" rtlCol="0" anchor="t"/>
          <a:lstStyle/>
          <a:p>
            <a:pPr indent="0" marL="0">
              <a:buNone/>
            </a:pPr>
            <a:r>
              <a:rPr lang="en-US" sz="1300" dirty="0">
                <a:solidFill>
                  <a:schemeClr val="tx2"/>
                </a:solidFill>
              </a:rPr>
              <a:t>k = 1, 3, 6, 12, 24 h</a:t>
            </a:r>
            <a:endParaRPr lang="en-US" sz="1300" dirty="0"/>
          </a:p>
        </p:txBody>
      </p:sp>
      <p:sp>
        <p:nvSpPr>
          <p:cNvPr id="23" name="Flow arrow"/>
          <p:cNvSpPr/>
          <p:nvPr/>
        </p:nvSpPr>
        <p:spPr>
          <a:xfrm flipV="1">
            <a:off x="2331720" y="2697480"/>
            <a:ext cx="640080" cy="640080"/>
          </a:xfrm>
          <a:prstGeom prst="line">
            <a:avLst/>
          </a:prstGeom>
          <a:noFill/>
          <a:ln w="25400">
            <a:solidFill>
              <a:schemeClr val="accent4"/>
            </a:solidFill>
            <a:prstDash val="solid"/>
            <a:tailEnd type="triangle"/>
          </a:ln>
        </p:spPr>
      </p:sp>
      <p:sp>
        <p:nvSpPr>
          <p:cNvPr id="24" name="Flow arrow"/>
          <p:cNvSpPr/>
          <p:nvPr/>
        </p:nvSpPr>
        <p:spPr>
          <a:xfrm>
            <a:off x="2331720" y="3886200"/>
            <a:ext cx="640080" cy="731520"/>
          </a:xfrm>
          <a:prstGeom prst="line">
            <a:avLst/>
          </a:prstGeom>
          <a:noFill/>
          <a:ln w="25400">
            <a:solidFill>
              <a:schemeClr val="accent4"/>
            </a:solidFill>
            <a:prstDash val="solid"/>
            <a:tailEnd type="triangle"/>
          </a:ln>
        </p:spPr>
      </p:sp>
      <p:sp>
        <p:nvSpPr>
          <p:cNvPr id="25" name="Flow arrow"/>
          <p:cNvSpPr/>
          <p:nvPr/>
        </p:nvSpPr>
        <p:spPr>
          <a:xfrm>
            <a:off x="4206240" y="3200400"/>
            <a:ext cx="0" cy="777240"/>
          </a:xfrm>
          <a:prstGeom prst="line">
            <a:avLst/>
          </a:prstGeom>
          <a:noFill/>
          <a:ln w="25400">
            <a:solidFill>
              <a:schemeClr val="accent4"/>
            </a:solidFill>
            <a:prstDash val="solid"/>
            <a:tailEnd type="triangle"/>
          </a:ln>
        </p:spPr>
      </p:sp>
      <p:sp>
        <p:nvSpPr>
          <p:cNvPr id="26" name="Flow arrow"/>
          <p:cNvSpPr/>
          <p:nvPr/>
        </p:nvSpPr>
        <p:spPr>
          <a:xfrm>
            <a:off x="5440680" y="2560320"/>
            <a:ext cx="640080" cy="1005840"/>
          </a:xfrm>
          <a:prstGeom prst="line">
            <a:avLst/>
          </a:prstGeom>
          <a:noFill/>
          <a:ln w="25400">
            <a:solidFill>
              <a:schemeClr val="accent4"/>
            </a:solidFill>
            <a:prstDash val="solid"/>
            <a:tailEnd type="triangle"/>
          </a:ln>
        </p:spPr>
      </p:sp>
      <p:sp>
        <p:nvSpPr>
          <p:cNvPr id="27" name="Flow arrow"/>
          <p:cNvSpPr/>
          <p:nvPr/>
        </p:nvSpPr>
        <p:spPr>
          <a:xfrm flipV="1">
            <a:off x="5440680" y="4114800"/>
            <a:ext cx="640080" cy="502920"/>
          </a:xfrm>
          <a:prstGeom prst="line">
            <a:avLst/>
          </a:prstGeom>
          <a:noFill/>
          <a:ln w="25400">
            <a:solidFill>
              <a:schemeClr val="accent4"/>
            </a:solidFill>
            <a:prstDash val="solid"/>
            <a:tailEnd type="triangle"/>
          </a:ln>
        </p:spPr>
      </p:sp>
      <p:sp>
        <p:nvSpPr>
          <p:cNvPr id="28" name="Flow arrow"/>
          <p:cNvSpPr/>
          <p:nvPr/>
        </p:nvSpPr>
        <p:spPr>
          <a:xfrm>
            <a:off x="7223760" y="2834640"/>
            <a:ext cx="0" cy="365760"/>
          </a:xfrm>
          <a:prstGeom prst="line">
            <a:avLst/>
          </a:prstGeom>
          <a:noFill/>
          <a:ln w="25400">
            <a:solidFill>
              <a:schemeClr val="accent4"/>
            </a:solidFill>
            <a:prstDash val="solid"/>
            <a:tailEnd type="triangle"/>
          </a:ln>
        </p:spPr>
      </p:sp>
      <p:sp>
        <p:nvSpPr>
          <p:cNvPr id="29" name="Flow arrow"/>
          <p:cNvSpPr/>
          <p:nvPr/>
        </p:nvSpPr>
        <p:spPr>
          <a:xfrm>
            <a:off x="7223760" y="4480560"/>
            <a:ext cx="0" cy="365760"/>
          </a:xfrm>
          <a:prstGeom prst="line">
            <a:avLst/>
          </a:prstGeom>
          <a:noFill/>
          <a:ln w="25400">
            <a:solidFill>
              <a:schemeClr val="accent4"/>
            </a:solidFill>
            <a:prstDash val="solid"/>
            <a:tailEnd type="triangle"/>
          </a:ln>
        </p:spPr>
      </p:sp>
      <p:sp>
        <p:nvSpPr>
          <p:cNvPr id="30" name="Dot"/>
          <p:cNvSpPr/>
          <p:nvPr/>
        </p:nvSpPr>
        <p:spPr>
          <a:xfrm>
            <a:off x="566928" y="5897880"/>
            <a:ext cx="182880" cy="182880"/>
          </a:xfrm>
          <a:prstGeom prst="ellipse">
            <a:avLst/>
          </a:prstGeom>
          <a:solidFill>
            <a:schemeClr val="accent1"/>
          </a:solidFill>
          <a:ln/>
        </p:spPr>
      </p:sp>
      <p:sp>
        <p:nvSpPr>
          <p:cNvPr id="31" name="Text 28"/>
          <p:cNvSpPr txBox="1"/>
          <p:nvPr/>
        </p:nvSpPr>
        <p:spPr>
          <a:xfrm>
            <a:off x="914400" y="5852160"/>
            <a:ext cx="6400800" cy="274320"/>
          </a:xfrm>
          <a:prstGeom prst="rect">
            <a:avLst/>
          </a:prstGeom>
          <a:noFill/>
          <a:ln/>
        </p:spPr>
        <p:txBody>
          <a:bodyPr wrap="square" lIns="0" tIns="0" rIns="0" bIns="0" rtlCol="0" anchor="t"/>
          <a:lstStyle/>
          <a:p>
            <a:pPr indent="0" marL="0">
              <a:buNone/>
            </a:pPr>
            <a:r>
              <a:rPr lang="en-US" sz="1300" i="1" dirty="0">
                <a:solidFill>
                  <a:schemeClr val="accent4"/>
                </a:solidFill>
              </a:rPr>
              <a:t>Memory is updated only after a batch is scored: no look-ahead</a:t>
            </a:r>
            <a:endParaRPr lang="en-US" sz="1300" dirty="0"/>
          </a:p>
        </p:txBody>
      </p:sp>
      <p:sp>
        <p:nvSpPr>
          <p:cNvPr id="32" name="Fact card"/>
          <p:cNvSpPr/>
          <p:nvPr/>
        </p:nvSpPr>
        <p:spPr>
          <a:xfrm>
            <a:off x="8915400" y="1920240"/>
            <a:ext cx="2724912" cy="960120"/>
          </a:xfrm>
          <a:prstGeom prst="roundRect">
            <a:avLst>
              <a:gd name="adj" fmla="val 9524"/>
            </a:avLst>
          </a:prstGeom>
          <a:solidFill>
            <a:schemeClr val="bg2"/>
          </a:solidFill>
          <a:ln/>
        </p:spPr>
      </p:sp>
      <p:sp>
        <p:nvSpPr>
          <p:cNvPr id="33" name="Text 30"/>
          <p:cNvSpPr txBox="1"/>
          <p:nvPr/>
        </p:nvSpPr>
        <p:spPr>
          <a:xfrm>
            <a:off x="9098280" y="1965960"/>
            <a:ext cx="2377440" cy="502920"/>
          </a:xfrm>
          <a:prstGeom prst="rect">
            <a:avLst/>
          </a:prstGeom>
          <a:noFill/>
          <a:ln/>
        </p:spPr>
        <p:txBody>
          <a:bodyPr wrap="square" lIns="0" tIns="0" rIns="0" bIns="0" rtlCol="0" anchor="ctr"/>
          <a:lstStyle/>
          <a:p>
            <a:pPr indent="0" marL="0">
              <a:buNone/>
            </a:pPr>
            <a:r>
              <a:rPr lang="en-US" sz="2600" b="1" dirty="0">
                <a:solidFill>
                  <a:schemeClr val="accent1"/>
                </a:solidFill>
                <a:latin typeface="+mj-lt" pitchFamily="34" charset="0"/>
                <a:ea typeface="+mj-lt" pitchFamily="34" charset="-122"/>
                <a:cs typeface="+mj-lt" pitchFamily="34" charset="-120"/>
              </a:rPr>
              <a:t>70,021</a:t>
            </a:r>
            <a:endParaRPr lang="en-US" sz="2600" dirty="0"/>
          </a:p>
        </p:txBody>
      </p:sp>
      <p:sp>
        <p:nvSpPr>
          <p:cNvPr id="34" name="Text 31"/>
          <p:cNvSpPr txBox="1"/>
          <p:nvPr/>
        </p:nvSpPr>
        <p:spPr>
          <a:xfrm>
            <a:off x="9098280" y="2468880"/>
            <a:ext cx="2377440" cy="365760"/>
          </a:xfrm>
          <a:prstGeom prst="rect">
            <a:avLst/>
          </a:prstGeom>
          <a:noFill/>
          <a:ln/>
        </p:spPr>
        <p:txBody>
          <a:bodyPr wrap="square" lIns="0" tIns="0" rIns="0" bIns="0" rtlCol="0" anchor="t"/>
          <a:lstStyle/>
          <a:p>
            <a:pPr indent="0" marL="0">
              <a:buNone/>
            </a:pPr>
            <a:r>
              <a:rPr lang="en-US" sz="1300" dirty="0">
                <a:solidFill>
                  <a:schemeClr val="tx2"/>
                </a:solidFill>
              </a:rPr>
              <a:t>parameters</a:t>
            </a:r>
            <a:endParaRPr lang="en-US" sz="1300" dirty="0"/>
          </a:p>
        </p:txBody>
      </p:sp>
      <p:sp>
        <p:nvSpPr>
          <p:cNvPr id="35" name="Fact card"/>
          <p:cNvSpPr/>
          <p:nvPr/>
        </p:nvSpPr>
        <p:spPr>
          <a:xfrm>
            <a:off x="8915400" y="2999232"/>
            <a:ext cx="2724912" cy="960120"/>
          </a:xfrm>
          <a:prstGeom prst="roundRect">
            <a:avLst>
              <a:gd name="adj" fmla="val 9524"/>
            </a:avLst>
          </a:prstGeom>
          <a:solidFill>
            <a:schemeClr val="bg2"/>
          </a:solidFill>
          <a:ln/>
        </p:spPr>
      </p:sp>
      <p:sp>
        <p:nvSpPr>
          <p:cNvPr id="36" name="Text 33"/>
          <p:cNvSpPr txBox="1"/>
          <p:nvPr/>
        </p:nvSpPr>
        <p:spPr>
          <a:xfrm>
            <a:off x="9098280" y="3044952"/>
            <a:ext cx="2377440" cy="502920"/>
          </a:xfrm>
          <a:prstGeom prst="rect">
            <a:avLst/>
          </a:prstGeom>
          <a:noFill/>
          <a:ln/>
        </p:spPr>
        <p:txBody>
          <a:bodyPr wrap="square" lIns="0" tIns="0" rIns="0" bIns="0" rtlCol="0" anchor="ctr"/>
          <a:lstStyle/>
          <a:p>
            <a:pPr indent="0" marL="0">
              <a:buNone/>
            </a:pPr>
            <a:r>
              <a:rPr lang="en-US" sz="2600" b="1" dirty="0">
                <a:solidFill>
                  <a:schemeClr val="accent1"/>
                </a:solidFill>
                <a:latin typeface="+mj-lt" pitchFamily="34" charset="0"/>
                <a:ea typeface="+mj-lt" pitchFamily="34" charset="-122"/>
                <a:cs typeface="+mj-lt" pitchFamily="34" charset="-120"/>
              </a:rPr>
              <a:t>161</a:t>
            </a:r>
            <a:endParaRPr lang="en-US" sz="2600" dirty="0"/>
          </a:p>
        </p:txBody>
      </p:sp>
      <p:sp>
        <p:nvSpPr>
          <p:cNvPr id="37" name="Text 34"/>
          <p:cNvSpPr txBox="1"/>
          <p:nvPr/>
        </p:nvSpPr>
        <p:spPr>
          <a:xfrm>
            <a:off x="9098280" y="3547872"/>
            <a:ext cx="2377440" cy="365760"/>
          </a:xfrm>
          <a:prstGeom prst="rect">
            <a:avLst/>
          </a:prstGeom>
          <a:noFill/>
          <a:ln/>
        </p:spPr>
        <p:txBody>
          <a:bodyPr wrap="square" lIns="0" tIns="0" rIns="0" bIns="0" rtlCol="0" anchor="t"/>
          <a:lstStyle/>
          <a:p>
            <a:pPr indent="0" marL="0">
              <a:buNone/>
            </a:pPr>
            <a:r>
              <a:rPr lang="en-US" sz="1300" dirty="0">
                <a:solidFill>
                  <a:schemeClr val="tx2"/>
                </a:solidFill>
              </a:rPr>
              <a:t>inputs to the head</a:t>
            </a:r>
            <a:endParaRPr lang="en-US" sz="1300" dirty="0"/>
          </a:p>
        </p:txBody>
      </p:sp>
      <p:sp>
        <p:nvSpPr>
          <p:cNvPr id="38" name="Fact card"/>
          <p:cNvSpPr/>
          <p:nvPr/>
        </p:nvSpPr>
        <p:spPr>
          <a:xfrm>
            <a:off x="8915400" y="4078224"/>
            <a:ext cx="2724912" cy="960120"/>
          </a:xfrm>
          <a:prstGeom prst="roundRect">
            <a:avLst>
              <a:gd name="adj" fmla="val 9524"/>
            </a:avLst>
          </a:prstGeom>
          <a:solidFill>
            <a:schemeClr val="bg2"/>
          </a:solidFill>
          <a:ln/>
        </p:spPr>
      </p:sp>
      <p:sp>
        <p:nvSpPr>
          <p:cNvPr id="39" name="Text 36"/>
          <p:cNvSpPr txBox="1"/>
          <p:nvPr/>
        </p:nvSpPr>
        <p:spPr>
          <a:xfrm>
            <a:off x="9098280" y="4123944"/>
            <a:ext cx="2377440" cy="502920"/>
          </a:xfrm>
          <a:prstGeom prst="rect">
            <a:avLst/>
          </a:prstGeom>
          <a:noFill/>
          <a:ln/>
        </p:spPr>
        <p:txBody>
          <a:bodyPr wrap="square" lIns="0" tIns="0" rIns="0" bIns="0" rtlCol="0" anchor="ctr"/>
          <a:lstStyle/>
          <a:p>
            <a:pPr indent="0" marL="0">
              <a:buNone/>
            </a:pPr>
            <a:r>
              <a:rPr lang="en-US" sz="2600" b="1" dirty="0">
                <a:solidFill>
                  <a:schemeClr val="accent1"/>
                </a:solidFill>
                <a:latin typeface="+mj-lt" pitchFamily="34" charset="0"/>
                <a:ea typeface="+mj-lt" pitchFamily="34" charset="-122"/>
                <a:cs typeface="+mj-lt" pitchFamily="34" charset="-120"/>
              </a:rPr>
              <a:t>γ = 2</a:t>
            </a:r>
            <a:endParaRPr lang="en-US" sz="2600" dirty="0"/>
          </a:p>
        </p:txBody>
      </p:sp>
      <p:sp>
        <p:nvSpPr>
          <p:cNvPr id="40" name="Text 37"/>
          <p:cNvSpPr txBox="1"/>
          <p:nvPr/>
        </p:nvSpPr>
        <p:spPr>
          <a:xfrm>
            <a:off x="9098280" y="4626864"/>
            <a:ext cx="2377440" cy="365760"/>
          </a:xfrm>
          <a:prstGeom prst="rect">
            <a:avLst/>
          </a:prstGeom>
          <a:noFill/>
          <a:ln/>
        </p:spPr>
        <p:txBody>
          <a:bodyPr wrap="square" lIns="0" tIns="0" rIns="0" bIns="0" rtlCol="0" anchor="t"/>
          <a:lstStyle/>
          <a:p>
            <a:pPr indent="0" marL="0">
              <a:buNone/>
            </a:pPr>
            <a:r>
              <a:rPr lang="en-US" sz="1300" dirty="0">
                <a:solidFill>
                  <a:schemeClr val="tx2"/>
                </a:solidFill>
              </a:rPr>
              <a:t>focal loss for rare events</a:t>
            </a:r>
            <a:endParaRPr lang="en-US" sz="1300" dirty="0"/>
          </a:p>
        </p:txBody>
      </p:sp>
      <p:sp>
        <p:nvSpPr>
          <p:cNvPr id="41" name="Fact card"/>
          <p:cNvSpPr/>
          <p:nvPr/>
        </p:nvSpPr>
        <p:spPr>
          <a:xfrm>
            <a:off x="8915400" y="5157216"/>
            <a:ext cx="2724912" cy="960120"/>
          </a:xfrm>
          <a:prstGeom prst="roundRect">
            <a:avLst>
              <a:gd name="adj" fmla="val 9524"/>
            </a:avLst>
          </a:prstGeom>
          <a:solidFill>
            <a:schemeClr val="bg2"/>
          </a:solidFill>
          <a:ln/>
        </p:spPr>
      </p:sp>
      <p:sp>
        <p:nvSpPr>
          <p:cNvPr id="42" name="Text 39"/>
          <p:cNvSpPr txBox="1"/>
          <p:nvPr/>
        </p:nvSpPr>
        <p:spPr>
          <a:xfrm>
            <a:off x="9098280" y="5202936"/>
            <a:ext cx="2377440" cy="502920"/>
          </a:xfrm>
          <a:prstGeom prst="rect">
            <a:avLst/>
          </a:prstGeom>
          <a:noFill/>
          <a:ln/>
        </p:spPr>
        <p:txBody>
          <a:bodyPr wrap="square" lIns="0" tIns="0" rIns="0" bIns="0" rtlCol="0" anchor="ctr"/>
          <a:lstStyle/>
          <a:p>
            <a:pPr indent="0" marL="0">
              <a:buNone/>
            </a:pPr>
            <a:r>
              <a:rPr lang="en-US" sz="2600" b="1" dirty="0">
                <a:solidFill>
                  <a:schemeClr val="accent1"/>
                </a:solidFill>
                <a:latin typeface="+mj-lt" pitchFamily="34" charset="0"/>
                <a:ea typeface="+mj-lt" pitchFamily="34" charset="-122"/>
                <a:cs typeface="+mj-lt" pitchFamily="34" charset="-120"/>
              </a:rPr>
              <a:t>5</a:t>
            </a:r>
            <a:endParaRPr lang="en-US" sz="2600" dirty="0"/>
          </a:p>
        </p:txBody>
      </p:sp>
      <p:sp>
        <p:nvSpPr>
          <p:cNvPr id="43" name="Text 40"/>
          <p:cNvSpPr txBox="1"/>
          <p:nvPr/>
        </p:nvSpPr>
        <p:spPr>
          <a:xfrm>
            <a:off x="9098280" y="5705856"/>
            <a:ext cx="2377440" cy="365760"/>
          </a:xfrm>
          <a:prstGeom prst="rect">
            <a:avLst/>
          </a:prstGeom>
          <a:noFill/>
          <a:ln/>
        </p:spPr>
        <p:txBody>
          <a:bodyPr wrap="square" lIns="0" tIns="0" rIns="0" bIns="0" rtlCol="0" anchor="t"/>
          <a:lstStyle/>
          <a:p>
            <a:pPr indent="0" marL="0">
              <a:buNone/>
            </a:pPr>
            <a:r>
              <a:rPr lang="en-US" sz="1300" dirty="0">
                <a:solidFill>
                  <a:schemeClr val="tx2"/>
                </a:solidFill>
              </a:rPr>
              <a:t>seeds, early stopping on validation</a:t>
            </a:r>
            <a:endParaRPr lang="en-US" sz="1300" dirty="0"/>
          </a:p>
        </p:txBody>
      </p:sp>
      <p:sp>
        <p:nvSpPr>
          <p:cNvPr id="25" name="Slide Number Placeholder 0"/>
          <p:cNvSpPr>
            <a:spLocks noGrp="1"/>
          </p:cNvSpPr>
          <p:nvPr>
            <p:ph type="sldNum" sz="quarter" idx="4294967295"/>
          </p:nvPr>
        </p:nvSpPr>
        <p:spPr>
          <a:xfrm>
            <a:off x="11094415" y="6437376"/>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31520"/>
          </a:xfrm>
          <a:prstGeom prst="rect">
            <a:avLst/>
          </a:prstGeom>
          <a:noFill/>
          <a:ln/>
        </p:spPr>
        <p:txBody>
          <a:bodyPr wrap="square" lIns="0" tIns="0" rIns="0" bIns="0" rtlCol="0" anchor="ctr"/>
          <a:lstStyle/>
          <a:p>
            <a:pPr algn="l" indent="0" marL="0">
              <a:buNone/>
            </a:pPr>
            <a:r>
              <a:rPr lang="en-US" sz="3400" b="1" dirty="0">
                <a:solidFill>
                  <a:schemeClr val="tx2"/>
                </a:solidFill>
              </a:rPr>
              <a:t>Fair comparison, strict evaluation</a:t>
            </a:r>
            <a:endParaRPr lang="en-US" sz="3400" dirty="0"/>
          </a:p>
        </p:txBody>
      </p:sp>
      <p:sp>
        <p:nvSpPr>
          <p:cNvPr id="3" name="Text 0"/>
          <p:cNvSpPr/>
          <p:nvPr>
            <p:ph idx="101" type="body" hasCustomPrompt="1"/>
          </p:nvPr>
        </p:nvSpPr>
        <p:spPr>
          <a:xfrm>
            <a:off x="548640" y="1097280"/>
            <a:ext cx="11094415" cy="457200"/>
          </a:xfrm>
          <a:prstGeom prst="rect">
            <a:avLst/>
          </a:prstGeom>
          <a:noFill/>
          <a:ln/>
        </p:spPr>
        <p:txBody>
          <a:bodyPr wrap="square" lIns="0" tIns="0" rIns="0" bIns="0" rtlCol="0" anchor="t"/>
          <a:lstStyle/>
          <a:p>
            <a:pPr algn="l" indent="0" marL="0">
              <a:buNone/>
            </a:pPr>
            <a:r>
              <a:rPr lang="en-US" sz="1700" dirty="0">
                <a:solidFill>
                  <a:schemeClr val="accent4"/>
                </a:solidFill>
              </a:rPr>
              <a:t>Each model answers one question; every model is scored on exactly the same events</a:t>
            </a:r>
            <a:endParaRPr lang="en-US" sz="1700" dirty="0"/>
          </a:p>
        </p:txBody>
      </p:sp>
      <p:sp>
        <p:nvSpPr>
          <p:cNvPr id="5" name="Text 2"/>
          <p:cNvSpPr txBox="1"/>
          <p:nvPr/>
        </p:nvSpPr>
        <p:spPr>
          <a:xfrm>
            <a:off x="548640" y="1737360"/>
            <a:ext cx="5486400" cy="320040"/>
          </a:xfrm>
          <a:prstGeom prst="rect">
            <a:avLst/>
          </a:prstGeom>
          <a:noFill/>
          <a:ln/>
        </p:spPr>
        <p:txBody>
          <a:bodyPr wrap="square" lIns="0" tIns="0" rIns="0" bIns="0" rtlCol="0" anchor="t"/>
          <a:lstStyle/>
          <a:p>
            <a:pPr indent="0" marL="0">
              <a:buNone/>
            </a:pPr>
            <a:r>
              <a:rPr lang="en-US" sz="1800" b="1" dirty="0">
                <a:solidFill>
                  <a:schemeClr val="tx2"/>
                </a:solidFill>
              </a:rPr>
              <a:t>The model ladder</a:t>
            </a:r>
            <a:endParaRPr lang="en-US" sz="1800" dirty="0"/>
          </a:p>
        </p:txBody>
      </p:sp>
      <p:sp>
        <p:nvSpPr>
          <p:cNvPr id="6" name="Dot"/>
          <p:cNvSpPr/>
          <p:nvPr/>
        </p:nvSpPr>
        <p:spPr>
          <a:xfrm>
            <a:off x="566928" y="2350008"/>
            <a:ext cx="237744" cy="237744"/>
          </a:xfrm>
          <a:prstGeom prst="ellipse">
            <a:avLst/>
          </a:prstGeom>
          <a:solidFill>
            <a:schemeClr val="accent5"/>
          </a:solidFill>
          <a:ln/>
        </p:spPr>
      </p:sp>
      <p:sp>
        <p:nvSpPr>
          <p:cNvPr id="7" name="Text 4"/>
          <p:cNvSpPr txBox="1"/>
          <p:nvPr/>
        </p:nvSpPr>
        <p:spPr>
          <a:xfrm>
            <a:off x="1005840" y="2194560"/>
            <a:ext cx="2514600" cy="548640"/>
          </a:xfrm>
          <a:prstGeom prst="rect">
            <a:avLst/>
          </a:prstGeom>
          <a:noFill/>
          <a:ln/>
        </p:spPr>
        <p:txBody>
          <a:bodyPr wrap="square" lIns="0" tIns="0" rIns="0" bIns="0" rtlCol="0" anchor="ctr"/>
          <a:lstStyle/>
          <a:p>
            <a:pPr indent="0" marL="0">
              <a:buNone/>
            </a:pPr>
            <a:r>
              <a:rPr lang="en-US" sz="1600" b="1" dirty="0">
                <a:solidFill>
                  <a:schemeClr val="tx2"/>
                </a:solidFill>
              </a:rPr>
              <a:t>Random (positive rate)</a:t>
            </a:r>
            <a:endParaRPr lang="en-US" sz="1600" dirty="0"/>
          </a:p>
        </p:txBody>
      </p:sp>
      <p:sp>
        <p:nvSpPr>
          <p:cNvPr id="8" name="Text 5"/>
          <p:cNvSpPr txBox="1"/>
          <p:nvPr/>
        </p:nvSpPr>
        <p:spPr>
          <a:xfrm>
            <a:off x="3566160" y="2194560"/>
            <a:ext cx="2697480" cy="548640"/>
          </a:xfrm>
          <a:prstGeom prst="rect">
            <a:avLst/>
          </a:prstGeom>
          <a:noFill/>
          <a:ln/>
        </p:spPr>
        <p:txBody>
          <a:bodyPr wrap="square" lIns="0" tIns="0" rIns="0" bIns="0" rtlCol="0" anchor="ctr"/>
          <a:lstStyle/>
          <a:p>
            <a:pPr indent="0" marL="0">
              <a:buNone/>
            </a:pPr>
            <a:r>
              <a:rPr lang="en-US" sz="1400" dirty="0">
                <a:solidFill>
                  <a:schemeClr val="accent4"/>
                </a:solidFill>
              </a:rPr>
              <a:t>What is chance?</a:t>
            </a:r>
            <a:endParaRPr lang="en-US" sz="1400" dirty="0"/>
          </a:p>
        </p:txBody>
      </p:sp>
      <p:sp>
        <p:nvSpPr>
          <p:cNvPr id="9" name="Dot"/>
          <p:cNvSpPr/>
          <p:nvPr/>
        </p:nvSpPr>
        <p:spPr>
          <a:xfrm>
            <a:off x="566928" y="2926080"/>
            <a:ext cx="237744" cy="237744"/>
          </a:xfrm>
          <a:prstGeom prst="ellipse">
            <a:avLst/>
          </a:prstGeom>
          <a:solidFill>
            <a:schemeClr val="accent5"/>
          </a:solidFill>
          <a:ln/>
        </p:spPr>
      </p:sp>
      <p:sp>
        <p:nvSpPr>
          <p:cNvPr id="10" name="Text 7"/>
          <p:cNvSpPr txBox="1"/>
          <p:nvPr/>
        </p:nvSpPr>
        <p:spPr>
          <a:xfrm>
            <a:off x="1005840" y="2770632"/>
            <a:ext cx="2514600" cy="548640"/>
          </a:xfrm>
          <a:prstGeom prst="rect">
            <a:avLst/>
          </a:prstGeom>
          <a:noFill/>
          <a:ln/>
        </p:spPr>
        <p:txBody>
          <a:bodyPr wrap="square" lIns="0" tIns="0" rIns="0" bIns="0" rtlCol="0" anchor="ctr"/>
          <a:lstStyle/>
          <a:p>
            <a:pPr indent="0" marL="0">
              <a:buNone/>
            </a:pPr>
            <a:r>
              <a:rPr lang="en-US" sz="1600" b="1" dirty="0">
                <a:solidFill>
                  <a:schemeClr val="tx2"/>
                </a:solidFill>
              </a:rPr>
              <a:t>Independent cascade</a:t>
            </a:r>
            <a:endParaRPr lang="en-US" sz="1600" dirty="0"/>
          </a:p>
        </p:txBody>
      </p:sp>
      <p:sp>
        <p:nvSpPr>
          <p:cNvPr id="11" name="Text 8"/>
          <p:cNvSpPr txBox="1"/>
          <p:nvPr/>
        </p:nvSpPr>
        <p:spPr>
          <a:xfrm>
            <a:off x="3566160" y="2770632"/>
            <a:ext cx="2697480" cy="548640"/>
          </a:xfrm>
          <a:prstGeom prst="rect">
            <a:avLst/>
          </a:prstGeom>
          <a:noFill/>
          <a:ln/>
        </p:spPr>
        <p:txBody>
          <a:bodyPr wrap="square" lIns="0" tIns="0" rIns="0" bIns="0" rtlCol="0" anchor="ctr"/>
          <a:lstStyle/>
          <a:p>
            <a:pPr indent="0" marL="0">
              <a:buNone/>
            </a:pPr>
            <a:r>
              <a:rPr lang="en-US" sz="1400" dirty="0">
                <a:solidFill>
                  <a:schemeClr val="accent4"/>
                </a:solidFill>
              </a:rPr>
              <a:t>Is a classical diffusion model enough?</a:t>
            </a:r>
            <a:endParaRPr lang="en-US" sz="1400" dirty="0"/>
          </a:p>
        </p:txBody>
      </p:sp>
      <p:sp>
        <p:nvSpPr>
          <p:cNvPr id="12" name="Dot"/>
          <p:cNvSpPr/>
          <p:nvPr/>
        </p:nvSpPr>
        <p:spPr>
          <a:xfrm>
            <a:off x="566928" y="3502152"/>
            <a:ext cx="237744" cy="237744"/>
          </a:xfrm>
          <a:prstGeom prst="ellipse">
            <a:avLst/>
          </a:prstGeom>
          <a:solidFill>
            <a:schemeClr val="accent4"/>
          </a:solidFill>
          <a:ln/>
        </p:spPr>
      </p:sp>
      <p:sp>
        <p:nvSpPr>
          <p:cNvPr id="13" name="Text 10"/>
          <p:cNvSpPr txBox="1"/>
          <p:nvPr/>
        </p:nvSpPr>
        <p:spPr>
          <a:xfrm>
            <a:off x="1005840" y="3346704"/>
            <a:ext cx="2514600" cy="548640"/>
          </a:xfrm>
          <a:prstGeom prst="rect">
            <a:avLst/>
          </a:prstGeom>
          <a:noFill/>
          <a:ln/>
        </p:spPr>
        <p:txBody>
          <a:bodyPr wrap="square" lIns="0" tIns="0" rIns="0" bIns="0" rtlCol="0" anchor="ctr"/>
          <a:lstStyle/>
          <a:p>
            <a:pPr indent="0" marL="0">
              <a:buNone/>
            </a:pPr>
            <a:r>
              <a:rPr lang="en-US" sz="1600" b="1" dirty="0">
                <a:solidFill>
                  <a:schemeClr val="tx2"/>
                </a:solidFill>
              </a:rPr>
              <a:t>Gradient boosting</a:t>
            </a:r>
            <a:endParaRPr lang="en-US" sz="1600" dirty="0"/>
          </a:p>
        </p:txBody>
      </p:sp>
      <p:sp>
        <p:nvSpPr>
          <p:cNvPr id="14" name="Text 11"/>
          <p:cNvSpPr txBox="1"/>
          <p:nvPr/>
        </p:nvSpPr>
        <p:spPr>
          <a:xfrm>
            <a:off x="3566160" y="3346704"/>
            <a:ext cx="2697480" cy="548640"/>
          </a:xfrm>
          <a:prstGeom prst="rect">
            <a:avLst/>
          </a:prstGeom>
          <a:noFill/>
          <a:ln/>
        </p:spPr>
        <p:txBody>
          <a:bodyPr wrap="square" lIns="0" tIns="0" rIns="0" bIns="0" rtlCol="0" anchor="ctr"/>
          <a:lstStyle/>
          <a:p>
            <a:pPr indent="0" marL="0">
              <a:buNone/>
            </a:pPr>
            <a:r>
              <a:rPr lang="en-US" sz="1400" dirty="0">
                <a:solidFill>
                  <a:schemeClr val="accent4"/>
                </a:solidFill>
              </a:rPr>
              <a:t>Does the graph add anything beyond features?</a:t>
            </a:r>
            <a:endParaRPr lang="en-US" sz="1400" dirty="0"/>
          </a:p>
        </p:txBody>
      </p:sp>
      <p:sp>
        <p:nvSpPr>
          <p:cNvPr id="15" name="Dot"/>
          <p:cNvSpPr/>
          <p:nvPr/>
        </p:nvSpPr>
        <p:spPr>
          <a:xfrm>
            <a:off x="566928" y="4078224"/>
            <a:ext cx="237744" cy="237744"/>
          </a:xfrm>
          <a:prstGeom prst="ellipse">
            <a:avLst/>
          </a:prstGeom>
          <a:solidFill>
            <a:schemeClr val="accent6"/>
          </a:solidFill>
          <a:ln/>
        </p:spPr>
      </p:sp>
      <p:sp>
        <p:nvSpPr>
          <p:cNvPr id="16" name="Text 13"/>
          <p:cNvSpPr txBox="1"/>
          <p:nvPr/>
        </p:nvSpPr>
        <p:spPr>
          <a:xfrm>
            <a:off x="1005840" y="3922776"/>
            <a:ext cx="2514600" cy="548640"/>
          </a:xfrm>
          <a:prstGeom prst="rect">
            <a:avLst/>
          </a:prstGeom>
          <a:noFill/>
          <a:ln/>
        </p:spPr>
        <p:txBody>
          <a:bodyPr wrap="square" lIns="0" tIns="0" rIns="0" bIns="0" rtlCol="0" anchor="ctr"/>
          <a:lstStyle/>
          <a:p>
            <a:pPr indent="0" marL="0">
              <a:buNone/>
            </a:pPr>
            <a:r>
              <a:rPr lang="en-US" sz="1600" b="1" dirty="0">
                <a:solidFill>
                  <a:schemeClr val="tx2"/>
                </a:solidFill>
              </a:rPr>
              <a:t>LSTM, one coin's history</a:t>
            </a:r>
            <a:endParaRPr lang="en-US" sz="1600" dirty="0"/>
          </a:p>
        </p:txBody>
      </p:sp>
      <p:sp>
        <p:nvSpPr>
          <p:cNvPr id="17" name="Text 14"/>
          <p:cNvSpPr txBox="1"/>
          <p:nvPr/>
        </p:nvSpPr>
        <p:spPr>
          <a:xfrm>
            <a:off x="3566160" y="3922776"/>
            <a:ext cx="2697480" cy="548640"/>
          </a:xfrm>
          <a:prstGeom prst="rect">
            <a:avLst/>
          </a:prstGeom>
          <a:noFill/>
          <a:ln/>
        </p:spPr>
        <p:txBody>
          <a:bodyPr wrap="square" lIns="0" tIns="0" rIns="0" bIns="0" rtlCol="0" anchor="ctr"/>
          <a:lstStyle/>
          <a:p>
            <a:pPr indent="0" marL="0">
              <a:buNone/>
            </a:pPr>
            <a:r>
              <a:rPr lang="en-US" sz="1400" dirty="0">
                <a:solidFill>
                  <a:schemeClr val="accent4"/>
                </a:solidFill>
              </a:rPr>
              <a:t>Does the network add anything?</a:t>
            </a:r>
            <a:endParaRPr lang="en-US" sz="1400" dirty="0"/>
          </a:p>
        </p:txBody>
      </p:sp>
      <p:sp>
        <p:nvSpPr>
          <p:cNvPr id="18" name="Dot"/>
          <p:cNvSpPr/>
          <p:nvPr/>
        </p:nvSpPr>
        <p:spPr>
          <a:xfrm>
            <a:off x="566928" y="4654296"/>
            <a:ext cx="237744" cy="237744"/>
          </a:xfrm>
          <a:prstGeom prst="ellipse">
            <a:avLst/>
          </a:prstGeom>
          <a:solidFill>
            <a:schemeClr val="accent6"/>
          </a:solidFill>
          <a:ln/>
        </p:spPr>
      </p:sp>
      <p:sp>
        <p:nvSpPr>
          <p:cNvPr id="19" name="Text 16"/>
          <p:cNvSpPr txBox="1"/>
          <p:nvPr/>
        </p:nvSpPr>
        <p:spPr>
          <a:xfrm>
            <a:off x="1005840" y="4498848"/>
            <a:ext cx="2514600" cy="548640"/>
          </a:xfrm>
          <a:prstGeom prst="rect">
            <a:avLst/>
          </a:prstGeom>
          <a:noFill/>
          <a:ln/>
        </p:spPr>
        <p:txBody>
          <a:bodyPr wrap="square" lIns="0" tIns="0" rIns="0" bIns="0" rtlCol="0" anchor="ctr"/>
          <a:lstStyle/>
          <a:p>
            <a:pPr indent="0" marL="0">
              <a:buNone/>
            </a:pPr>
            <a:r>
              <a:rPr lang="en-US" sz="1600" b="1" dirty="0">
                <a:solidFill>
                  <a:schemeClr val="tx2"/>
                </a:solidFill>
              </a:rPr>
              <a:t>TGN without memory</a:t>
            </a:r>
            <a:endParaRPr lang="en-US" sz="1600" dirty="0"/>
          </a:p>
        </p:txBody>
      </p:sp>
      <p:sp>
        <p:nvSpPr>
          <p:cNvPr id="20" name="Text 17"/>
          <p:cNvSpPr txBox="1"/>
          <p:nvPr/>
        </p:nvSpPr>
        <p:spPr>
          <a:xfrm>
            <a:off x="3566160" y="4498848"/>
            <a:ext cx="2697480" cy="548640"/>
          </a:xfrm>
          <a:prstGeom prst="rect">
            <a:avLst/>
          </a:prstGeom>
          <a:noFill/>
          <a:ln/>
        </p:spPr>
        <p:txBody>
          <a:bodyPr wrap="square" lIns="0" tIns="0" rIns="0" bIns="0" rtlCol="0" anchor="ctr"/>
          <a:lstStyle/>
          <a:p>
            <a:pPr indent="0" marL="0">
              <a:buNone/>
            </a:pPr>
            <a:r>
              <a:rPr lang="en-US" sz="1400" dirty="0">
                <a:solidFill>
                  <a:schemeClr val="accent4"/>
                </a:solidFill>
              </a:rPr>
              <a:t>Does remembering past events help?</a:t>
            </a:r>
            <a:endParaRPr lang="en-US" sz="1400" dirty="0"/>
          </a:p>
        </p:txBody>
      </p:sp>
      <p:sp>
        <p:nvSpPr>
          <p:cNvPr id="21" name="Dot"/>
          <p:cNvSpPr/>
          <p:nvPr/>
        </p:nvSpPr>
        <p:spPr>
          <a:xfrm>
            <a:off x="566928" y="5230368"/>
            <a:ext cx="237744" cy="237744"/>
          </a:xfrm>
          <a:prstGeom prst="ellipse">
            <a:avLst/>
          </a:prstGeom>
          <a:solidFill>
            <a:schemeClr val="accent1"/>
          </a:solidFill>
          <a:ln/>
        </p:spPr>
      </p:sp>
      <p:sp>
        <p:nvSpPr>
          <p:cNvPr id="22" name="Text 19"/>
          <p:cNvSpPr txBox="1"/>
          <p:nvPr/>
        </p:nvSpPr>
        <p:spPr>
          <a:xfrm>
            <a:off x="1005840" y="5074920"/>
            <a:ext cx="2514600" cy="548640"/>
          </a:xfrm>
          <a:prstGeom prst="rect">
            <a:avLst/>
          </a:prstGeom>
          <a:noFill/>
          <a:ln/>
        </p:spPr>
        <p:txBody>
          <a:bodyPr wrap="square" lIns="0" tIns="0" rIns="0" bIns="0" rtlCol="0" anchor="ctr"/>
          <a:lstStyle/>
          <a:p>
            <a:pPr indent="0" marL="0">
              <a:buNone/>
            </a:pPr>
            <a:r>
              <a:rPr lang="en-US" sz="1600" b="1" dirty="0">
                <a:solidFill>
                  <a:schemeClr val="tx2"/>
                </a:solidFill>
              </a:rPr>
              <a:t>TGN (main model)</a:t>
            </a:r>
            <a:endParaRPr lang="en-US" sz="1600" dirty="0"/>
          </a:p>
        </p:txBody>
      </p:sp>
      <p:sp>
        <p:nvSpPr>
          <p:cNvPr id="23" name="Text 20"/>
          <p:cNvSpPr txBox="1"/>
          <p:nvPr/>
        </p:nvSpPr>
        <p:spPr>
          <a:xfrm>
            <a:off x="3566160" y="5074920"/>
            <a:ext cx="2697480" cy="548640"/>
          </a:xfrm>
          <a:prstGeom prst="rect">
            <a:avLst/>
          </a:prstGeom>
          <a:noFill/>
          <a:ln/>
        </p:spPr>
        <p:txBody>
          <a:bodyPr wrap="square" lIns="0" tIns="0" rIns="0" bIns="0" rtlCol="0" anchor="ctr"/>
          <a:lstStyle/>
          <a:p>
            <a:pPr indent="0" marL="0">
              <a:buNone/>
            </a:pPr>
            <a:r>
              <a:rPr lang="en-US" sz="1400" dirty="0">
                <a:solidFill>
                  <a:schemeClr val="accent4"/>
                </a:solidFill>
              </a:rPr>
              <a:t>Can a temporal graph model predict contagion?</a:t>
            </a:r>
            <a:endParaRPr lang="en-US" sz="1400" dirty="0"/>
          </a:p>
        </p:txBody>
      </p:sp>
      <p:sp>
        <p:nvSpPr>
          <p:cNvPr id="24" name="Dot"/>
          <p:cNvSpPr/>
          <p:nvPr/>
        </p:nvSpPr>
        <p:spPr>
          <a:xfrm>
            <a:off x="566928" y="5806440"/>
            <a:ext cx="237744" cy="237744"/>
          </a:xfrm>
          <a:prstGeom prst="ellipse">
            <a:avLst/>
          </a:prstGeom>
          <a:solidFill>
            <a:schemeClr val="accent2"/>
          </a:solidFill>
          <a:ln/>
        </p:spPr>
      </p:sp>
      <p:sp>
        <p:nvSpPr>
          <p:cNvPr id="25" name="Text 22"/>
          <p:cNvSpPr txBox="1"/>
          <p:nvPr/>
        </p:nvSpPr>
        <p:spPr>
          <a:xfrm>
            <a:off x="1005840" y="5650992"/>
            <a:ext cx="2514600" cy="548640"/>
          </a:xfrm>
          <a:prstGeom prst="rect">
            <a:avLst/>
          </a:prstGeom>
          <a:noFill/>
          <a:ln/>
        </p:spPr>
        <p:txBody>
          <a:bodyPr wrap="square" lIns="0" tIns="0" rIns="0" bIns="0" rtlCol="0" anchor="ctr"/>
          <a:lstStyle/>
          <a:p>
            <a:pPr indent="0" marL="0">
              <a:buNone/>
            </a:pPr>
            <a:r>
              <a:rPr lang="en-US" sz="1600" b="1" dirty="0">
                <a:solidFill>
                  <a:schemeClr val="tx2"/>
                </a:solidFill>
              </a:rPr>
              <a:t>DyGFormer</a:t>
            </a:r>
            <a:endParaRPr lang="en-US" sz="1600" dirty="0"/>
          </a:p>
        </p:txBody>
      </p:sp>
      <p:sp>
        <p:nvSpPr>
          <p:cNvPr id="26" name="Text 23"/>
          <p:cNvSpPr txBox="1"/>
          <p:nvPr/>
        </p:nvSpPr>
        <p:spPr>
          <a:xfrm>
            <a:off x="3566160" y="5650992"/>
            <a:ext cx="2697480" cy="548640"/>
          </a:xfrm>
          <a:prstGeom prst="rect">
            <a:avLst/>
          </a:prstGeom>
          <a:noFill/>
          <a:ln/>
        </p:spPr>
        <p:txBody>
          <a:bodyPr wrap="square" lIns="0" tIns="0" rIns="0" bIns="0" rtlCol="0" anchor="ctr"/>
          <a:lstStyle/>
          <a:p>
            <a:pPr indent="0" marL="0">
              <a:buNone/>
            </a:pPr>
            <a:r>
              <a:rPr lang="en-US" sz="1400" dirty="0">
                <a:solidFill>
                  <a:schemeClr val="accent4"/>
                </a:solidFill>
              </a:rPr>
              <a:t>Is the result specific to one architecture?</a:t>
            </a:r>
            <a:endParaRPr lang="en-US" sz="1400" dirty="0"/>
          </a:p>
        </p:txBody>
      </p:sp>
      <p:sp>
        <p:nvSpPr>
          <p:cNvPr id="27" name="Text 24"/>
          <p:cNvSpPr txBox="1"/>
          <p:nvPr/>
        </p:nvSpPr>
        <p:spPr>
          <a:xfrm>
            <a:off x="6675120" y="1737360"/>
            <a:ext cx="4937760" cy="320040"/>
          </a:xfrm>
          <a:prstGeom prst="rect">
            <a:avLst/>
          </a:prstGeom>
          <a:noFill/>
          <a:ln/>
        </p:spPr>
        <p:txBody>
          <a:bodyPr wrap="square" lIns="0" tIns="0" rIns="0" bIns="0" rtlCol="0" anchor="t"/>
          <a:lstStyle/>
          <a:p>
            <a:pPr indent="0" marL="0">
              <a:buNone/>
            </a:pPr>
            <a:r>
              <a:rPr lang="en-US" sz="1800" b="1" dirty="0">
                <a:solidFill>
                  <a:schemeClr val="tx2"/>
                </a:solidFill>
              </a:rPr>
              <a:t>How we score</a:t>
            </a:r>
            <a:endParaRPr lang="en-US" sz="1800" dirty="0"/>
          </a:p>
        </p:txBody>
      </p:sp>
      <p:sp>
        <p:nvSpPr>
          <p:cNvPr id="28" name="Method card"/>
          <p:cNvSpPr/>
          <p:nvPr/>
        </p:nvSpPr>
        <p:spPr>
          <a:xfrm>
            <a:off x="6675120" y="2194560"/>
            <a:ext cx="4965192" cy="1234440"/>
          </a:xfrm>
          <a:prstGeom prst="roundRect">
            <a:avLst>
              <a:gd name="adj" fmla="val 7407"/>
            </a:avLst>
          </a:prstGeom>
          <a:solidFill>
            <a:schemeClr val="bg2"/>
          </a:solidFill>
          <a:ln/>
        </p:spPr>
      </p:sp>
      <p:sp>
        <p:nvSpPr>
          <p:cNvPr id="29" name="Text 26"/>
          <p:cNvSpPr txBox="1"/>
          <p:nvPr/>
        </p:nvSpPr>
        <p:spPr>
          <a:xfrm>
            <a:off x="6903720" y="2331720"/>
            <a:ext cx="4526280" cy="292608"/>
          </a:xfrm>
          <a:prstGeom prst="rect">
            <a:avLst/>
          </a:prstGeom>
          <a:noFill/>
          <a:ln/>
        </p:spPr>
        <p:txBody>
          <a:bodyPr wrap="square" lIns="0" tIns="0" rIns="0" bIns="0" rtlCol="0" anchor="t"/>
          <a:lstStyle/>
          <a:p>
            <a:pPr indent="0" marL="0">
              <a:buNone/>
            </a:pPr>
            <a:r>
              <a:rPr lang="en-US" sz="1600" b="1" dirty="0">
                <a:solidFill>
                  <a:schemeClr val="accent1"/>
                </a:solidFill>
              </a:rPr>
              <a:t>AUPRC (average precision)</a:t>
            </a:r>
            <a:endParaRPr lang="en-US" sz="1600" dirty="0"/>
          </a:p>
        </p:txBody>
      </p:sp>
      <p:sp>
        <p:nvSpPr>
          <p:cNvPr id="30" name="Text 27"/>
          <p:cNvSpPr txBox="1"/>
          <p:nvPr/>
        </p:nvSpPr>
        <p:spPr>
          <a:xfrm>
            <a:off x="6903720" y="2651760"/>
            <a:ext cx="4526280" cy="731520"/>
          </a:xfrm>
          <a:prstGeom prst="rect">
            <a:avLst/>
          </a:prstGeom>
          <a:noFill/>
          <a:ln/>
        </p:spPr>
        <p:txBody>
          <a:bodyPr wrap="square" lIns="0" tIns="0" rIns="0" bIns="0" rtlCol="0" anchor="t"/>
          <a:lstStyle/>
          <a:p>
            <a:pPr indent="0" marL="0">
              <a:buNone/>
            </a:pPr>
            <a:r>
              <a:rPr lang="en-US" sz="1400" dirty="0">
                <a:solidFill>
                  <a:schemeClr val="tx2"/>
                </a:solidFill>
              </a:rPr>
              <a:t>Only about 10% of events are positive, so answering “no” is 90% accurate and useless. Random scores the positive rate.</a:t>
            </a:r>
            <a:endParaRPr lang="en-US" sz="1400" dirty="0"/>
          </a:p>
        </p:txBody>
      </p:sp>
      <p:sp>
        <p:nvSpPr>
          <p:cNvPr id="31" name="Method card"/>
          <p:cNvSpPr/>
          <p:nvPr/>
        </p:nvSpPr>
        <p:spPr>
          <a:xfrm>
            <a:off x="6675120" y="3566160"/>
            <a:ext cx="4965192" cy="1234440"/>
          </a:xfrm>
          <a:prstGeom prst="roundRect">
            <a:avLst>
              <a:gd name="adj" fmla="val 7407"/>
            </a:avLst>
          </a:prstGeom>
          <a:solidFill>
            <a:schemeClr val="bg2"/>
          </a:solidFill>
          <a:ln/>
        </p:spPr>
      </p:sp>
      <p:sp>
        <p:nvSpPr>
          <p:cNvPr id="32" name="Text 29"/>
          <p:cNvSpPr txBox="1"/>
          <p:nvPr/>
        </p:nvSpPr>
        <p:spPr>
          <a:xfrm>
            <a:off x="6903720" y="3703320"/>
            <a:ext cx="4526280" cy="292608"/>
          </a:xfrm>
          <a:prstGeom prst="rect">
            <a:avLst/>
          </a:prstGeom>
          <a:noFill/>
          <a:ln/>
        </p:spPr>
        <p:txBody>
          <a:bodyPr wrap="square" lIns="0" tIns="0" rIns="0" bIns="0" rtlCol="0" anchor="t"/>
          <a:lstStyle/>
          <a:p>
            <a:pPr indent="0" marL="0">
              <a:buNone/>
            </a:pPr>
            <a:r>
              <a:rPr lang="en-US" sz="1600" b="1" dirty="0">
                <a:solidFill>
                  <a:schemeClr val="accent1"/>
                </a:solidFill>
              </a:rPr>
              <a:t>Day-block bootstrap</a:t>
            </a:r>
            <a:endParaRPr lang="en-US" sz="1600" dirty="0"/>
          </a:p>
        </p:txBody>
      </p:sp>
      <p:sp>
        <p:nvSpPr>
          <p:cNvPr id="33" name="Text 30"/>
          <p:cNvSpPr txBox="1"/>
          <p:nvPr/>
        </p:nvSpPr>
        <p:spPr>
          <a:xfrm>
            <a:off x="6903720" y="4023360"/>
            <a:ext cx="4526280" cy="731520"/>
          </a:xfrm>
          <a:prstGeom prst="rect">
            <a:avLst/>
          </a:prstGeom>
          <a:noFill/>
          <a:ln/>
        </p:spPr>
        <p:txBody>
          <a:bodyPr wrap="square" lIns="0" tIns="0" rIns="0" bIns="0" rtlCol="0" anchor="t"/>
          <a:lstStyle/>
          <a:p>
            <a:pPr indent="0" marL="0">
              <a:buNone/>
            </a:pPr>
            <a:r>
              <a:rPr lang="en-US" sz="1400" dirty="0">
                <a:solidFill>
                  <a:schemeClr val="tx2"/>
                </a:solidFill>
              </a:rPr>
              <a:t>Whole days are resampled (971 test days, 1,000 times), because one crash creates hundreds of correlated events.</a:t>
            </a:r>
            <a:endParaRPr lang="en-US" sz="1400" dirty="0"/>
          </a:p>
        </p:txBody>
      </p:sp>
      <p:sp>
        <p:nvSpPr>
          <p:cNvPr id="34" name="Method card"/>
          <p:cNvSpPr/>
          <p:nvPr/>
        </p:nvSpPr>
        <p:spPr>
          <a:xfrm>
            <a:off x="6675120" y="4937760"/>
            <a:ext cx="4965192" cy="1234440"/>
          </a:xfrm>
          <a:prstGeom prst="roundRect">
            <a:avLst>
              <a:gd name="adj" fmla="val 7407"/>
            </a:avLst>
          </a:prstGeom>
          <a:solidFill>
            <a:schemeClr val="bg2"/>
          </a:solidFill>
          <a:ln/>
        </p:spPr>
      </p:sp>
      <p:sp>
        <p:nvSpPr>
          <p:cNvPr id="35" name="Text 32"/>
          <p:cNvSpPr txBox="1"/>
          <p:nvPr/>
        </p:nvSpPr>
        <p:spPr>
          <a:xfrm>
            <a:off x="6903720" y="5074920"/>
            <a:ext cx="4526280" cy="292608"/>
          </a:xfrm>
          <a:prstGeom prst="rect">
            <a:avLst/>
          </a:prstGeom>
          <a:noFill/>
          <a:ln/>
        </p:spPr>
        <p:txBody>
          <a:bodyPr wrap="square" lIns="0" tIns="0" rIns="0" bIns="0" rtlCol="0" anchor="t"/>
          <a:lstStyle/>
          <a:p>
            <a:pPr indent="0" marL="0">
              <a:buNone/>
            </a:pPr>
            <a:r>
              <a:rPr lang="en-US" sz="1600" b="1" dirty="0">
                <a:solidFill>
                  <a:schemeClr val="accent1"/>
                </a:solidFill>
              </a:rPr>
              <a:t>Honest protocol</a:t>
            </a:r>
            <a:endParaRPr lang="en-US" sz="1600" dirty="0"/>
          </a:p>
        </p:txBody>
      </p:sp>
      <p:sp>
        <p:nvSpPr>
          <p:cNvPr id="36" name="Text 33"/>
          <p:cNvSpPr txBox="1"/>
          <p:nvPr/>
        </p:nvSpPr>
        <p:spPr>
          <a:xfrm>
            <a:off x="6903720" y="5394960"/>
            <a:ext cx="4526280" cy="731520"/>
          </a:xfrm>
          <a:prstGeom prst="rect">
            <a:avLst/>
          </a:prstGeom>
          <a:noFill/>
          <a:ln/>
        </p:spPr>
        <p:txBody>
          <a:bodyPr wrap="square" lIns="0" tIns="0" rIns="0" bIns="0" rtlCol="0" anchor="t"/>
          <a:lstStyle/>
          <a:p>
            <a:pPr indent="0" marL="0">
              <a:buNone/>
            </a:pPr>
            <a:r>
              <a:rPr lang="en-US" sz="1400" dirty="0">
                <a:solidFill>
                  <a:schemeClr val="tx2"/>
                </a:solidFill>
              </a:rPr>
              <a:t>Five seeds per model. All tuning on validation data; the test period is scored once per final model.</a:t>
            </a:r>
            <a:endParaRPr lang="en-US" sz="1400" dirty="0"/>
          </a:p>
        </p:txBody>
      </p:sp>
      <p:sp>
        <p:nvSpPr>
          <p:cNvPr id="25" name="Slide Number Placeholder 0"/>
          <p:cNvSpPr>
            <a:spLocks noGrp="1"/>
          </p:cNvSpPr>
          <p:nvPr>
            <p:ph type="sldNum" sz="quarter" idx="4294967295"/>
          </p:nvPr>
        </p:nvSpPr>
        <p:spPr>
          <a:xfrm>
            <a:off x="11094415" y="6437376"/>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31520"/>
          </a:xfrm>
          <a:prstGeom prst="rect">
            <a:avLst/>
          </a:prstGeom>
          <a:noFill/>
          <a:ln/>
        </p:spPr>
        <p:txBody>
          <a:bodyPr wrap="square" lIns="0" tIns="0" rIns="0" bIns="0" rtlCol="0" anchor="ctr"/>
          <a:lstStyle/>
          <a:p>
            <a:pPr algn="l" indent="0" marL="0">
              <a:buNone/>
            </a:pPr>
            <a:r>
              <a:rPr lang="en-US" sz="3400" b="1" dirty="0">
                <a:solidFill>
                  <a:schemeClr val="tx2"/>
                </a:solidFill>
              </a:rPr>
              <a:t>Results: the TGN beats chance and the cascade</a:t>
            </a:r>
            <a:endParaRPr lang="en-US" sz="3400" dirty="0"/>
          </a:p>
        </p:txBody>
      </p:sp>
      <p:sp>
        <p:nvSpPr>
          <p:cNvPr id="3" name="Text 0"/>
          <p:cNvSpPr/>
          <p:nvPr>
            <p:ph idx="101" type="body" hasCustomPrompt="1"/>
          </p:nvPr>
        </p:nvSpPr>
        <p:spPr>
          <a:xfrm>
            <a:off x="548640" y="1097280"/>
            <a:ext cx="11094415" cy="457200"/>
          </a:xfrm>
          <a:prstGeom prst="rect">
            <a:avLst/>
          </a:prstGeom>
          <a:noFill/>
          <a:ln/>
        </p:spPr>
        <p:txBody>
          <a:bodyPr wrap="square" lIns="0" tIns="0" rIns="0" bIns="0" rtlCol="0" anchor="t"/>
          <a:lstStyle/>
          <a:p>
            <a:pPr algn="l" indent="0" marL="0">
              <a:buNone/>
            </a:pPr>
            <a:r>
              <a:rPr lang="en-US" sz="1700" dirty="0">
                <a:solidFill>
                  <a:schemeClr val="accent4"/>
                </a:solidFill>
              </a:rPr>
              <a:t>Test AUPRC by horizon, 2024–2026 (neural models: mean of five seeds)</a:t>
            </a:r>
            <a:endParaRPr lang="en-US" sz="1700" dirty="0"/>
          </a:p>
        </p:txBody>
      </p:sp>
      <p:graphicFrame>
        <p:nvGraphicFramePr>
          <p:cNvPr id="5" name="Chart 0" descr=""/>
          <p:cNvGraphicFramePr/>
          <p:nvPr/>
        </p:nvGraphicFramePr>
        <p:xfrm>
          <a:off x="548640" y="1737360"/>
          <a:ext cx="7680960" cy="4526280"/>
        </p:xfrm>
        <a:graphic xmlns:a="http://schemas.openxmlformats.org/drawingml/2006/main">
          <a:graphicData uri="http://schemas.openxmlformats.org/drawingml/2006/chart">
            <c:chart xmlns:c="http://schemas.openxmlformats.org/drawingml/2006/chart" r:id="rId1"/>
          </a:graphicData>
        </a:graphic>
      </p:graphicFrame>
      <p:sp>
        <p:nvSpPr>
          <p:cNvPr id="6" name="Stat card"/>
          <p:cNvSpPr/>
          <p:nvPr/>
        </p:nvSpPr>
        <p:spPr>
          <a:xfrm>
            <a:off x="8503920" y="1783080"/>
            <a:ext cx="3136392" cy="1371600"/>
          </a:xfrm>
          <a:prstGeom prst="roundRect">
            <a:avLst>
              <a:gd name="adj" fmla="val 6667"/>
            </a:avLst>
          </a:prstGeom>
          <a:solidFill>
            <a:schemeClr val="bg2"/>
          </a:solidFill>
          <a:ln/>
        </p:spPr>
      </p:sp>
      <p:sp>
        <p:nvSpPr>
          <p:cNvPr id="7" name="Text 3"/>
          <p:cNvSpPr txBox="1"/>
          <p:nvPr/>
        </p:nvSpPr>
        <p:spPr>
          <a:xfrm>
            <a:off x="8732520" y="1892808"/>
            <a:ext cx="2679192" cy="658368"/>
          </a:xfrm>
          <a:prstGeom prst="rect">
            <a:avLst/>
          </a:prstGeom>
          <a:noFill/>
          <a:ln/>
        </p:spPr>
        <p:txBody>
          <a:bodyPr wrap="square" lIns="0" tIns="0" rIns="0" bIns="0" rtlCol="0" anchor="ctr"/>
          <a:lstStyle/>
          <a:p>
            <a:pPr indent="0" marL="0">
              <a:buNone/>
            </a:pPr>
            <a:r>
              <a:rPr lang="en-US" sz="3600" b="1" dirty="0">
                <a:solidFill>
                  <a:schemeClr val="accent1"/>
                </a:solidFill>
                <a:latin typeface="+mj-lt" pitchFamily="34" charset="0"/>
                <a:ea typeface="+mj-lt" pitchFamily="34" charset="-122"/>
                <a:cs typeface="+mj-lt" pitchFamily="34" charset="-120"/>
              </a:rPr>
              <a:t>≈ 2×</a:t>
            </a:r>
            <a:endParaRPr lang="en-US" sz="3600" dirty="0"/>
          </a:p>
        </p:txBody>
      </p:sp>
      <p:sp>
        <p:nvSpPr>
          <p:cNvPr id="8" name="Text 4"/>
          <p:cNvSpPr txBox="1"/>
          <p:nvPr/>
        </p:nvSpPr>
        <p:spPr>
          <a:xfrm>
            <a:off x="8732520" y="2578608"/>
            <a:ext cx="2679192" cy="521208"/>
          </a:xfrm>
          <a:prstGeom prst="rect">
            <a:avLst/>
          </a:prstGeom>
          <a:noFill/>
          <a:ln/>
        </p:spPr>
        <p:txBody>
          <a:bodyPr wrap="square" lIns="0" tIns="0" rIns="0" bIns="0" rtlCol="0" anchor="t"/>
          <a:lstStyle/>
          <a:p>
            <a:pPr indent="0" marL="0">
              <a:buNone/>
            </a:pPr>
            <a:r>
              <a:rPr lang="en-US" sz="1400" dirty="0">
                <a:solidFill>
                  <a:schemeClr val="tx2"/>
                </a:solidFill>
              </a:rPr>
              <a:t>TGN against random at 1 h: 0.205 against 0.105</a:t>
            </a:r>
            <a:endParaRPr lang="en-US" sz="1400" dirty="0"/>
          </a:p>
        </p:txBody>
      </p:sp>
      <p:sp>
        <p:nvSpPr>
          <p:cNvPr id="9" name="Stat card"/>
          <p:cNvSpPr/>
          <p:nvPr/>
        </p:nvSpPr>
        <p:spPr>
          <a:xfrm>
            <a:off x="8503920" y="3337560"/>
            <a:ext cx="3136392" cy="1371600"/>
          </a:xfrm>
          <a:prstGeom prst="roundRect">
            <a:avLst>
              <a:gd name="adj" fmla="val 6667"/>
            </a:avLst>
          </a:prstGeom>
          <a:solidFill>
            <a:schemeClr val="bg2"/>
          </a:solidFill>
          <a:ln/>
        </p:spPr>
      </p:sp>
      <p:sp>
        <p:nvSpPr>
          <p:cNvPr id="10" name="Text 6"/>
          <p:cNvSpPr txBox="1"/>
          <p:nvPr/>
        </p:nvSpPr>
        <p:spPr>
          <a:xfrm>
            <a:off x="8732520" y="3447288"/>
            <a:ext cx="2679192" cy="658368"/>
          </a:xfrm>
          <a:prstGeom prst="rect">
            <a:avLst/>
          </a:prstGeom>
          <a:noFill/>
          <a:ln/>
        </p:spPr>
        <p:txBody>
          <a:bodyPr wrap="square" lIns="0" tIns="0" rIns="0" bIns="0" rtlCol="0" anchor="ctr"/>
          <a:lstStyle/>
          <a:p>
            <a:pPr indent="0" marL="0">
              <a:buNone/>
            </a:pPr>
            <a:r>
              <a:rPr lang="en-US" sz="3600" b="1" dirty="0">
                <a:solidFill>
                  <a:schemeClr val="accent1"/>
                </a:solidFill>
                <a:latin typeface="+mj-lt" pitchFamily="34" charset="0"/>
                <a:ea typeface="+mj-lt" pitchFamily="34" charset="-122"/>
                <a:cs typeface="+mj-lt" pitchFamily="34" charset="-120"/>
              </a:rPr>
              <a:t>+0.046</a:t>
            </a:r>
            <a:endParaRPr lang="en-US" sz="3600" dirty="0"/>
          </a:p>
        </p:txBody>
      </p:sp>
      <p:sp>
        <p:nvSpPr>
          <p:cNvPr id="11" name="Text 7"/>
          <p:cNvSpPr txBox="1"/>
          <p:nvPr/>
        </p:nvSpPr>
        <p:spPr>
          <a:xfrm>
            <a:off x="8732520" y="4133088"/>
            <a:ext cx="2679192" cy="521208"/>
          </a:xfrm>
          <a:prstGeom prst="rect">
            <a:avLst/>
          </a:prstGeom>
          <a:noFill/>
          <a:ln/>
        </p:spPr>
        <p:txBody>
          <a:bodyPr wrap="square" lIns="0" tIns="0" rIns="0" bIns="0" rtlCol="0" anchor="t"/>
          <a:lstStyle/>
          <a:p>
            <a:pPr indent="0" marL="0">
              <a:buNone/>
            </a:pPr>
            <a:r>
              <a:rPr lang="en-US" sz="1400" dirty="0">
                <a:solidFill>
                  <a:schemeClr val="tx2"/>
                </a:solidFill>
              </a:rPr>
              <a:t>over the cascade at 1 h (95% interval 0.019 to 0.074)</a:t>
            </a:r>
            <a:endParaRPr lang="en-US" sz="1400" dirty="0"/>
          </a:p>
        </p:txBody>
      </p:sp>
      <p:sp>
        <p:nvSpPr>
          <p:cNvPr id="12" name="Stat card"/>
          <p:cNvSpPr/>
          <p:nvPr/>
        </p:nvSpPr>
        <p:spPr>
          <a:xfrm>
            <a:off x="8503920" y="4892040"/>
            <a:ext cx="3136392" cy="1371600"/>
          </a:xfrm>
          <a:prstGeom prst="roundRect">
            <a:avLst>
              <a:gd name="adj" fmla="val 6667"/>
            </a:avLst>
          </a:prstGeom>
          <a:solidFill>
            <a:schemeClr val="bg2"/>
          </a:solidFill>
          <a:ln/>
        </p:spPr>
      </p:sp>
      <p:sp>
        <p:nvSpPr>
          <p:cNvPr id="13" name="Text 9"/>
          <p:cNvSpPr txBox="1"/>
          <p:nvPr/>
        </p:nvSpPr>
        <p:spPr>
          <a:xfrm>
            <a:off x="8732520" y="5001768"/>
            <a:ext cx="2679192" cy="658368"/>
          </a:xfrm>
          <a:prstGeom prst="rect">
            <a:avLst/>
          </a:prstGeom>
          <a:noFill/>
          <a:ln/>
        </p:spPr>
        <p:txBody>
          <a:bodyPr wrap="square" lIns="0" tIns="0" rIns="0" bIns="0" rtlCol="0" anchor="ctr"/>
          <a:lstStyle/>
          <a:p>
            <a:pPr indent="0" marL="0">
              <a:buNone/>
            </a:pPr>
            <a:r>
              <a:rPr lang="en-US" sz="3600" b="1" dirty="0">
                <a:solidFill>
                  <a:schemeClr val="accent1"/>
                </a:solidFill>
                <a:latin typeface="+mj-lt" pitchFamily="34" charset="0"/>
                <a:ea typeface="+mj-lt" pitchFamily="34" charset="-122"/>
                <a:cs typeface="+mj-lt" pitchFamily="34" charset="-120"/>
              </a:rPr>
              <a:t>76%</a:t>
            </a:r>
            <a:endParaRPr lang="en-US" sz="3600" dirty="0"/>
          </a:p>
        </p:txBody>
      </p:sp>
      <p:sp>
        <p:nvSpPr>
          <p:cNvPr id="14" name="Text 10"/>
          <p:cNvSpPr txBox="1"/>
          <p:nvPr/>
        </p:nvSpPr>
        <p:spPr>
          <a:xfrm>
            <a:off x="8732520" y="5687568"/>
            <a:ext cx="2679192" cy="521208"/>
          </a:xfrm>
          <a:prstGeom prst="rect">
            <a:avLst/>
          </a:prstGeom>
          <a:noFill/>
          <a:ln/>
        </p:spPr>
        <p:txBody>
          <a:bodyPr wrap="square" lIns="0" tIns="0" rIns="0" bIns="0" rtlCol="0" anchor="t"/>
          <a:lstStyle/>
          <a:p>
            <a:pPr indent="0" marL="0">
              <a:buNone/>
            </a:pPr>
            <a:r>
              <a:rPr lang="en-US" sz="1400" dirty="0">
                <a:solidFill>
                  <a:schemeClr val="tx2"/>
                </a:solidFill>
              </a:rPr>
              <a:t>of the riskiest 1% of alerts come true within 6 h (random: 31%)</a:t>
            </a:r>
            <a:endParaRPr lang="en-US" sz="1400" dirty="0"/>
          </a:p>
        </p:txBody>
      </p:sp>
      <p:sp>
        <p:nvSpPr>
          <p:cNvPr id="25" name="Slide Number Placeholder 0"/>
          <p:cNvSpPr>
            <a:spLocks noGrp="1"/>
          </p:cNvSpPr>
          <p:nvPr>
            <p:ph type="sldNum" sz="quarter" idx="4294967295"/>
          </p:nvPr>
        </p:nvSpPr>
        <p:spPr>
          <a:xfrm>
            <a:off x="11094415" y="6437376"/>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31520"/>
          </a:xfrm>
          <a:prstGeom prst="rect">
            <a:avLst/>
          </a:prstGeom>
          <a:noFill/>
          <a:ln/>
        </p:spPr>
        <p:txBody>
          <a:bodyPr wrap="square" lIns="0" tIns="0" rIns="0" bIns="0" rtlCol="0" anchor="ctr"/>
          <a:lstStyle/>
          <a:p>
            <a:pPr algn="l" indent="0" marL="0">
              <a:buNone/>
            </a:pPr>
            <a:r>
              <a:rPr lang="en-US" sz="3400" b="1" dirty="0">
                <a:solidFill>
                  <a:schemeClr val="tx2"/>
                </a:solidFill>
              </a:rPr>
              <a:t>Where the graph helps</a:t>
            </a:r>
            <a:endParaRPr lang="en-US" sz="3400" dirty="0"/>
          </a:p>
        </p:txBody>
      </p:sp>
      <p:sp>
        <p:nvSpPr>
          <p:cNvPr id="3" name="Text 0"/>
          <p:cNvSpPr/>
          <p:nvPr>
            <p:ph idx="101" type="body" hasCustomPrompt="1"/>
          </p:nvPr>
        </p:nvSpPr>
        <p:spPr>
          <a:xfrm>
            <a:off x="548640" y="1097280"/>
            <a:ext cx="11094415" cy="457200"/>
          </a:xfrm>
          <a:prstGeom prst="rect">
            <a:avLst/>
          </a:prstGeom>
          <a:noFill/>
          <a:ln/>
        </p:spPr>
        <p:txBody>
          <a:bodyPr wrap="square" lIns="0" tIns="0" rIns="0" bIns="0" rtlCol="0" anchor="t"/>
          <a:lstStyle/>
          <a:p>
            <a:pPr algn="l" indent="0" marL="0">
              <a:buNone/>
            </a:pPr>
            <a:r>
              <a:rPr lang="en-US" sz="1700" dirty="0">
                <a:solidFill>
                  <a:schemeClr val="accent4"/>
                </a:solidFill>
              </a:rPr>
              <a:t>Memory matters for slower contagion; the graph matters after market-wide shocks</a:t>
            </a:r>
            <a:endParaRPr lang="en-US" sz="1700" dirty="0"/>
          </a:p>
        </p:txBody>
      </p:sp>
      <p:graphicFrame>
        <p:nvGraphicFramePr>
          <p:cNvPr id="5" name="Chart 0" descr=""/>
          <p:cNvGraphicFramePr/>
          <p:nvPr/>
        </p:nvGraphicFramePr>
        <p:xfrm>
          <a:off x="548640" y="1737360"/>
          <a:ext cx="7223760" cy="4526280"/>
        </p:xfrm>
        <a:graphic xmlns:a="http://schemas.openxmlformats.org/drawingml/2006/main">
          <a:graphicData uri="http://schemas.openxmlformats.org/drawingml/2006/chart">
            <c:chart xmlns:c="http://schemas.openxmlformats.org/drawingml/2006/chart" r:id="rId1"/>
          </a:graphicData>
        </a:graphic>
      </p:graphicFrame>
      <p:sp>
        <p:nvSpPr>
          <p:cNvPr id="6" name="Insight card"/>
          <p:cNvSpPr/>
          <p:nvPr/>
        </p:nvSpPr>
        <p:spPr>
          <a:xfrm>
            <a:off x="8046720" y="1783080"/>
            <a:ext cx="3593592" cy="1371600"/>
          </a:xfrm>
          <a:prstGeom prst="roundRect">
            <a:avLst>
              <a:gd name="adj" fmla="val 6667"/>
            </a:avLst>
          </a:prstGeom>
          <a:solidFill>
            <a:schemeClr val="bg2"/>
          </a:solidFill>
          <a:ln/>
        </p:spPr>
      </p:sp>
      <p:sp>
        <p:nvSpPr>
          <p:cNvPr id="7" name="Text 3"/>
          <p:cNvSpPr txBox="1"/>
          <p:nvPr/>
        </p:nvSpPr>
        <p:spPr>
          <a:xfrm>
            <a:off x="8275320" y="1911096"/>
            <a:ext cx="3154680" cy="292608"/>
          </a:xfrm>
          <a:prstGeom prst="rect">
            <a:avLst/>
          </a:prstGeom>
          <a:noFill/>
          <a:ln/>
        </p:spPr>
        <p:txBody>
          <a:bodyPr wrap="square" lIns="0" tIns="0" rIns="0" bIns="0" rtlCol="0" anchor="t"/>
          <a:lstStyle/>
          <a:p>
            <a:pPr indent="0" marL="0">
              <a:buNone/>
            </a:pPr>
            <a:r>
              <a:rPr lang="en-US" sz="1600" b="1" dirty="0">
                <a:solidFill>
                  <a:schemeClr val="accent1"/>
                </a:solidFill>
              </a:rPr>
              <a:t>Memory pays off later</a:t>
            </a:r>
            <a:endParaRPr lang="en-US" sz="1600" dirty="0"/>
          </a:p>
        </p:txBody>
      </p:sp>
      <p:sp>
        <p:nvSpPr>
          <p:cNvPr id="8" name="Text 4"/>
          <p:cNvSpPr txBox="1"/>
          <p:nvPr/>
        </p:nvSpPr>
        <p:spPr>
          <a:xfrm>
            <a:off x="8275320" y="2258568"/>
            <a:ext cx="3154680" cy="868680"/>
          </a:xfrm>
          <a:prstGeom prst="rect">
            <a:avLst/>
          </a:prstGeom>
          <a:noFill/>
          <a:ln/>
        </p:spPr>
        <p:txBody>
          <a:bodyPr wrap="square" lIns="0" tIns="0" rIns="0" bIns="0" rtlCol="0" anchor="t"/>
          <a:lstStyle/>
          <a:p>
            <a:pPr indent="0" marL="0">
              <a:buNone/>
            </a:pPr>
            <a:r>
              <a:rPr lang="en-US" sz="1400" dirty="0">
                <a:solidFill>
                  <a:schemeClr val="tx2"/>
                </a:solidFill>
              </a:rPr>
              <a:t>No effect at 1 h (−0.003), but memory adds 0.010 to 0.013 AUPRC at 6 to 24 h.</a:t>
            </a:r>
            <a:endParaRPr lang="en-US" sz="1400" dirty="0"/>
          </a:p>
        </p:txBody>
      </p:sp>
      <p:sp>
        <p:nvSpPr>
          <p:cNvPr id="9" name="Insight card"/>
          <p:cNvSpPr/>
          <p:nvPr/>
        </p:nvSpPr>
        <p:spPr>
          <a:xfrm>
            <a:off x="8046720" y="3291840"/>
            <a:ext cx="3593592" cy="1371600"/>
          </a:xfrm>
          <a:prstGeom prst="roundRect">
            <a:avLst>
              <a:gd name="adj" fmla="val 6667"/>
            </a:avLst>
          </a:prstGeom>
          <a:solidFill>
            <a:schemeClr val="bg2"/>
          </a:solidFill>
          <a:ln/>
        </p:spPr>
      </p:sp>
      <p:sp>
        <p:nvSpPr>
          <p:cNvPr id="10" name="Text 6"/>
          <p:cNvSpPr txBox="1"/>
          <p:nvPr/>
        </p:nvSpPr>
        <p:spPr>
          <a:xfrm>
            <a:off x="8275320" y="3419856"/>
            <a:ext cx="3154680" cy="292608"/>
          </a:xfrm>
          <a:prstGeom prst="rect">
            <a:avLst/>
          </a:prstGeom>
          <a:noFill/>
          <a:ln/>
        </p:spPr>
        <p:txBody>
          <a:bodyPr wrap="square" lIns="0" tIns="0" rIns="0" bIns="0" rtlCol="0" anchor="t"/>
          <a:lstStyle/>
          <a:p>
            <a:pPr indent="0" marL="0">
              <a:buNone/>
            </a:pPr>
            <a:r>
              <a:rPr lang="en-US" sz="1600" b="1" dirty="0">
                <a:solidFill>
                  <a:schemeClr val="accent1"/>
                </a:solidFill>
              </a:rPr>
              <a:t>Use the right tool</a:t>
            </a:r>
            <a:endParaRPr lang="en-US" sz="1600" dirty="0"/>
          </a:p>
        </p:txBody>
      </p:sp>
      <p:sp>
        <p:nvSpPr>
          <p:cNvPr id="11" name="Text 7"/>
          <p:cNvSpPr txBox="1"/>
          <p:nvPr/>
        </p:nvSpPr>
        <p:spPr>
          <a:xfrm>
            <a:off x="8275320" y="3767328"/>
            <a:ext cx="3154680" cy="868680"/>
          </a:xfrm>
          <a:prstGeom prst="rect">
            <a:avLst/>
          </a:prstGeom>
          <a:noFill/>
          <a:ln/>
        </p:spPr>
        <p:txBody>
          <a:bodyPr wrap="square" lIns="0" tIns="0" rIns="0" bIns="0" rtlCol="0" anchor="t"/>
          <a:lstStyle/>
          <a:p>
            <a:pPr indent="0" marL="0">
              <a:buNone/>
            </a:pPr>
            <a:r>
              <a:rPr lang="en-US" sz="1400" dirty="0">
                <a:solidFill>
                  <a:schemeClr val="tx2"/>
                </a:solidFill>
              </a:rPr>
              <a:t>After broad shocks use the TGN; after isolated shocks a simpler feature model is as good.</a:t>
            </a:r>
            <a:endParaRPr lang="en-US" sz="1400" dirty="0"/>
          </a:p>
        </p:txBody>
      </p:sp>
      <p:sp>
        <p:nvSpPr>
          <p:cNvPr id="12" name="Insight card"/>
          <p:cNvSpPr/>
          <p:nvPr/>
        </p:nvSpPr>
        <p:spPr>
          <a:xfrm>
            <a:off x="8046720" y="4800600"/>
            <a:ext cx="3593592" cy="1371600"/>
          </a:xfrm>
          <a:prstGeom prst="roundRect">
            <a:avLst>
              <a:gd name="adj" fmla="val 6667"/>
            </a:avLst>
          </a:prstGeom>
          <a:solidFill>
            <a:schemeClr val="bg2"/>
          </a:solidFill>
          <a:ln/>
        </p:spPr>
      </p:sp>
      <p:sp>
        <p:nvSpPr>
          <p:cNvPr id="13" name="Text 9"/>
          <p:cNvSpPr txBox="1"/>
          <p:nvPr/>
        </p:nvSpPr>
        <p:spPr>
          <a:xfrm>
            <a:off x="8275320" y="4928616"/>
            <a:ext cx="3154680" cy="292608"/>
          </a:xfrm>
          <a:prstGeom prst="rect">
            <a:avLst/>
          </a:prstGeom>
          <a:noFill/>
          <a:ln/>
        </p:spPr>
        <p:txBody>
          <a:bodyPr wrap="square" lIns="0" tIns="0" rIns="0" bIns="0" rtlCol="0" anchor="t"/>
          <a:lstStyle/>
          <a:p>
            <a:pPr indent="0" marL="0">
              <a:buNone/>
            </a:pPr>
            <a:r>
              <a:rPr lang="en-US" sz="1600" b="1" dirty="0">
                <a:solidFill>
                  <a:schemeClr val="accent1"/>
                </a:solidFill>
              </a:rPr>
              <a:t>Boosting overfits</a:t>
            </a:r>
            <a:endParaRPr lang="en-US" sz="1600" dirty="0"/>
          </a:p>
        </p:txBody>
      </p:sp>
      <p:sp>
        <p:nvSpPr>
          <p:cNvPr id="14" name="Text 10"/>
          <p:cNvSpPr txBox="1"/>
          <p:nvPr/>
        </p:nvSpPr>
        <p:spPr>
          <a:xfrm>
            <a:off x="8275320" y="5276088"/>
            <a:ext cx="3154680" cy="868680"/>
          </a:xfrm>
          <a:prstGeom prst="rect">
            <a:avLst/>
          </a:prstGeom>
          <a:noFill/>
          <a:ln/>
        </p:spPr>
        <p:txBody>
          <a:bodyPr wrap="square" lIns="0" tIns="0" rIns="0" bIns="0" rtlCol="0" anchor="t"/>
          <a:lstStyle/>
          <a:p>
            <a:pPr indent="0" marL="0">
              <a:buNone/>
            </a:pPr>
            <a:r>
              <a:rPr lang="en-US" sz="1400" dirty="0">
                <a:solidFill>
                  <a:schemeClr val="tx2"/>
                </a:solidFill>
              </a:rPr>
              <a:t>It matched the TGN on validation but had memorised training: 0.64 training AUPRC against 0.155 on validation.</a:t>
            </a:r>
            <a:endParaRPr lang="en-US" sz="1400" dirty="0"/>
          </a:p>
        </p:txBody>
      </p:sp>
      <p:sp>
        <p:nvSpPr>
          <p:cNvPr id="25" name="Slide Number Placeholder 0"/>
          <p:cNvSpPr>
            <a:spLocks noGrp="1"/>
          </p:cNvSpPr>
          <p:nvPr>
            <p:ph type="sldNum" sz="quarter" idx="4294967295"/>
          </p:nvPr>
        </p:nvSpPr>
        <p:spPr>
          <a:xfrm>
            <a:off x="11094415" y="6437376"/>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31520"/>
          </a:xfrm>
          <a:prstGeom prst="rect">
            <a:avLst/>
          </a:prstGeom>
          <a:noFill/>
          <a:ln/>
        </p:spPr>
        <p:txBody>
          <a:bodyPr wrap="square" lIns="0" tIns="0" rIns="0" bIns="0" rtlCol="0" anchor="ctr"/>
          <a:lstStyle/>
          <a:p>
            <a:pPr algn="l" indent="0" marL="0">
              <a:buNone/>
            </a:pPr>
            <a:r>
              <a:rPr lang="en-US" sz="3400" b="1" dirty="0">
                <a:solidFill>
                  <a:schemeClr val="tx2"/>
                </a:solidFill>
              </a:rPr>
              <a:t>What drives an alert</a:t>
            </a:r>
            <a:endParaRPr lang="en-US" sz="3400" dirty="0"/>
          </a:p>
        </p:txBody>
      </p:sp>
      <p:sp>
        <p:nvSpPr>
          <p:cNvPr id="3" name="Text 0"/>
          <p:cNvSpPr/>
          <p:nvPr>
            <p:ph idx="101" type="body" hasCustomPrompt="1"/>
          </p:nvPr>
        </p:nvSpPr>
        <p:spPr>
          <a:xfrm>
            <a:off x="548640" y="1097280"/>
            <a:ext cx="11094415" cy="457200"/>
          </a:xfrm>
          <a:prstGeom prst="rect">
            <a:avLst/>
          </a:prstGeom>
          <a:noFill/>
          <a:ln/>
        </p:spPr>
        <p:txBody>
          <a:bodyPr wrap="square" lIns="0" tIns="0" rIns="0" bIns="0" rtlCol="0" anchor="t"/>
          <a:lstStyle/>
          <a:p>
            <a:pPr algn="l" indent="0" marL="0">
              <a:buNone/>
            </a:pPr>
            <a:r>
              <a:rPr lang="en-US" sz="1700" dirty="0">
                <a:solidFill>
                  <a:schemeClr val="accent4"/>
                </a:solidFill>
              </a:rPr>
              <a:t>The signal is the receiving coin's current state, not chains of past events</a:t>
            </a:r>
            <a:endParaRPr lang="en-US" sz="1700" dirty="0"/>
          </a:p>
        </p:txBody>
      </p:sp>
      <p:graphicFrame>
        <p:nvGraphicFramePr>
          <p:cNvPr id="5" name="Chart 0" descr=""/>
          <p:cNvGraphicFramePr/>
          <p:nvPr/>
        </p:nvGraphicFramePr>
        <p:xfrm>
          <a:off x="548640" y="1737360"/>
          <a:ext cx="5029200" cy="370332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5532120"/>
            <a:ext cx="5029200" cy="685800"/>
          </a:xfrm>
          <a:prstGeom prst="rect">
            <a:avLst/>
          </a:prstGeom>
          <a:noFill/>
          <a:ln/>
        </p:spPr>
        <p:txBody>
          <a:bodyPr wrap="square" lIns="0" tIns="0" rIns="0" bIns="0" rtlCol="0" anchor="t"/>
          <a:lstStyle/>
          <a:p>
            <a:pPr indent="0" marL="0">
              <a:buNone/>
            </a:pPr>
            <a:r>
              <a:rPr lang="en-US" sz="1400" dirty="0">
                <a:solidFill>
                  <a:schemeClr val="tx2"/>
                </a:solidFill>
              </a:rPr>
              <a:t>Largest single inputs: volume surge against its past week 25%, 24-hour volatility 12%, latest return 9%.</a:t>
            </a:r>
            <a:endParaRPr lang="en-US" sz="1400" dirty="0"/>
          </a:p>
        </p:txBody>
      </p:sp>
      <p:graphicFrame>
        <p:nvGraphicFramePr>
          <p:cNvPr id="7" name="Chart 1" descr=""/>
          <p:cNvGraphicFramePr/>
          <p:nvPr/>
        </p:nvGraphicFramePr>
        <p:xfrm>
          <a:off x="5897880" y="1737360"/>
          <a:ext cx="5742432" cy="3703320"/>
        </p:xfrm>
        <a:graphic xmlns:a="http://schemas.openxmlformats.org/drawingml/2006/main">
          <a:graphicData uri="http://schemas.openxmlformats.org/drawingml/2006/chart">
            <c:chart xmlns:c="http://schemas.openxmlformats.org/drawingml/2006/chart" r:id="rId2"/>
          </a:graphicData>
        </a:graphic>
      </p:graphicFrame>
      <p:sp>
        <p:nvSpPr>
          <p:cNvPr id="8" name="Text 3"/>
          <p:cNvSpPr txBox="1"/>
          <p:nvPr/>
        </p:nvSpPr>
        <p:spPr>
          <a:xfrm>
            <a:off x="5897880" y="5532120"/>
            <a:ext cx="5742432" cy="685800"/>
          </a:xfrm>
          <a:prstGeom prst="rect">
            <a:avLst/>
          </a:prstGeom>
          <a:noFill/>
          <a:ln/>
        </p:spPr>
        <p:txBody>
          <a:bodyPr wrap="square" lIns="0" tIns="0" rIns="0" bIns="0" rtlCol="0" anchor="t"/>
          <a:lstStyle/>
          <a:p>
            <a:pPr indent="0" marL="0">
              <a:buNone/>
            </a:pPr>
            <a:r>
              <a:rPr lang="en-US" sz="1400" dirty="0">
                <a:solidFill>
                  <a:schemeClr val="tx2"/>
                </a:solidFill>
              </a:rPr>
              <a:t>TempME is close to random: the TGN's attention is almost uniform, and event motifs look the same as in a shuffled stream.</a:t>
            </a:r>
            <a:endParaRPr lang="en-US" sz="1400" dirty="0"/>
          </a:p>
        </p:txBody>
      </p:sp>
      <p:sp>
        <p:nvSpPr>
          <p:cNvPr id="25" name="Slide Number Placeholder 0"/>
          <p:cNvSpPr>
            <a:spLocks noGrp="1"/>
          </p:cNvSpPr>
          <p:nvPr>
            <p:ph type="sldNum" sz="quarter" idx="4294967295"/>
          </p:nvPr>
        </p:nvSpPr>
        <p:spPr>
          <a:xfrm>
            <a:off x="11094415" y="6437376"/>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31520"/>
          </a:xfrm>
          <a:prstGeom prst="rect">
            <a:avLst/>
          </a:prstGeom>
          <a:noFill/>
          <a:ln/>
        </p:spPr>
        <p:txBody>
          <a:bodyPr wrap="square" lIns="0" tIns="0" rIns="0" bIns="0" rtlCol="0" anchor="ctr"/>
          <a:lstStyle/>
          <a:p>
            <a:pPr algn="l" indent="0" marL="0">
              <a:buNone/>
            </a:pPr>
            <a:r>
              <a:rPr lang="en-US" sz="3400" b="1" dirty="0">
                <a:solidFill>
                  <a:schemeClr val="tx2"/>
                </a:solidFill>
              </a:rPr>
              <a:t>How long shocks last</a:t>
            </a:r>
            <a:endParaRPr lang="en-US" sz="3400" dirty="0"/>
          </a:p>
        </p:txBody>
      </p:sp>
      <p:sp>
        <p:nvSpPr>
          <p:cNvPr id="3" name="Text 0"/>
          <p:cNvSpPr/>
          <p:nvPr>
            <p:ph idx="101" type="body" hasCustomPrompt="1"/>
          </p:nvPr>
        </p:nvSpPr>
        <p:spPr>
          <a:xfrm>
            <a:off x="548640" y="1097280"/>
            <a:ext cx="11094415" cy="457200"/>
          </a:xfrm>
          <a:prstGeom prst="rect">
            <a:avLst/>
          </a:prstGeom>
          <a:noFill/>
          <a:ln/>
        </p:spPr>
        <p:txBody>
          <a:bodyPr wrap="square" lIns="0" tIns="0" rIns="0" bIns="0" rtlCol="0" anchor="t"/>
          <a:lstStyle/>
          <a:p>
            <a:pPr algn="l" indent="0" marL="0">
              <a:buNone/>
            </a:pPr>
            <a:r>
              <a:rPr lang="en-US" sz="1700" dirty="0">
                <a:solidFill>
                  <a:schemeClr val="accent4"/>
                </a:solidFill>
              </a:rPr>
              <a:t>Hours, not days: volatility is back to normal after a median of 8–10 hours</a:t>
            </a:r>
            <a:endParaRPr lang="en-US" sz="1700" dirty="0"/>
          </a:p>
        </p:txBody>
      </p:sp>
      <p:sp>
        <p:nvSpPr>
          <p:cNvPr id="5" name="Stat card"/>
          <p:cNvSpPr/>
          <p:nvPr/>
        </p:nvSpPr>
        <p:spPr>
          <a:xfrm>
            <a:off x="548640" y="1783080"/>
            <a:ext cx="2624328" cy="1463040"/>
          </a:xfrm>
          <a:prstGeom prst="roundRect">
            <a:avLst>
              <a:gd name="adj" fmla="val 6250"/>
            </a:avLst>
          </a:prstGeom>
          <a:solidFill>
            <a:schemeClr val="bg2"/>
          </a:solidFill>
          <a:ln/>
        </p:spPr>
      </p:sp>
      <p:sp>
        <p:nvSpPr>
          <p:cNvPr id="6" name="Text 3"/>
          <p:cNvSpPr txBox="1"/>
          <p:nvPr/>
        </p:nvSpPr>
        <p:spPr>
          <a:xfrm>
            <a:off x="777240" y="1892808"/>
            <a:ext cx="2167128" cy="702259"/>
          </a:xfrm>
          <a:prstGeom prst="rect">
            <a:avLst/>
          </a:prstGeom>
          <a:noFill/>
          <a:ln/>
        </p:spPr>
        <p:txBody>
          <a:bodyPr wrap="square" lIns="0" tIns="0" rIns="0" bIns="0" rtlCol="0" anchor="ctr"/>
          <a:lstStyle/>
          <a:p>
            <a:pPr indent="0" marL="0">
              <a:buNone/>
            </a:pPr>
            <a:r>
              <a:rPr lang="en-US" sz="3200" b="1" dirty="0">
                <a:solidFill>
                  <a:schemeClr val="accent1"/>
                </a:solidFill>
                <a:latin typeface="+mj-lt" pitchFamily="34" charset="0"/>
                <a:ea typeface="+mj-lt" pitchFamily="34" charset="-122"/>
                <a:cs typeface="+mj-lt" pitchFamily="34" charset="-120"/>
              </a:rPr>
              <a:t>8–10 h</a:t>
            </a:r>
            <a:endParaRPr lang="en-US" sz="3200" dirty="0"/>
          </a:p>
        </p:txBody>
      </p:sp>
      <p:sp>
        <p:nvSpPr>
          <p:cNvPr id="7" name="Text 4"/>
          <p:cNvSpPr txBox="1"/>
          <p:nvPr/>
        </p:nvSpPr>
        <p:spPr>
          <a:xfrm>
            <a:off x="777240" y="2631643"/>
            <a:ext cx="2167128" cy="555955"/>
          </a:xfrm>
          <a:prstGeom prst="rect">
            <a:avLst/>
          </a:prstGeom>
          <a:noFill/>
          <a:ln/>
        </p:spPr>
        <p:txBody>
          <a:bodyPr wrap="square" lIns="0" tIns="0" rIns="0" bIns="0" rtlCol="0" anchor="t"/>
          <a:lstStyle/>
          <a:p>
            <a:pPr indent="0" marL="0">
              <a:buNone/>
            </a:pPr>
            <a:r>
              <a:rPr lang="en-US" sz="1300" dirty="0">
                <a:solidFill>
                  <a:schemeClr val="tx2"/>
                </a:solidFill>
              </a:rPr>
              <a:t>median time for volatility to return to normal</a:t>
            </a:r>
            <a:endParaRPr lang="en-US" sz="1300" dirty="0"/>
          </a:p>
        </p:txBody>
      </p:sp>
      <p:sp>
        <p:nvSpPr>
          <p:cNvPr id="8" name="Stat card"/>
          <p:cNvSpPr/>
          <p:nvPr/>
        </p:nvSpPr>
        <p:spPr>
          <a:xfrm>
            <a:off x="3374136" y="1783080"/>
            <a:ext cx="2624328" cy="1463040"/>
          </a:xfrm>
          <a:prstGeom prst="roundRect">
            <a:avLst>
              <a:gd name="adj" fmla="val 6250"/>
            </a:avLst>
          </a:prstGeom>
          <a:solidFill>
            <a:schemeClr val="bg2"/>
          </a:solidFill>
          <a:ln/>
        </p:spPr>
      </p:sp>
      <p:sp>
        <p:nvSpPr>
          <p:cNvPr id="9" name="Text 6"/>
          <p:cNvSpPr txBox="1"/>
          <p:nvPr/>
        </p:nvSpPr>
        <p:spPr>
          <a:xfrm>
            <a:off x="3602736" y="1892808"/>
            <a:ext cx="2167128" cy="702259"/>
          </a:xfrm>
          <a:prstGeom prst="rect">
            <a:avLst/>
          </a:prstGeom>
          <a:noFill/>
          <a:ln/>
        </p:spPr>
        <p:txBody>
          <a:bodyPr wrap="square" lIns="0" tIns="0" rIns="0" bIns="0" rtlCol="0" anchor="ctr"/>
          <a:lstStyle/>
          <a:p>
            <a:pPr indent="0" marL="0">
              <a:buNone/>
            </a:pPr>
            <a:r>
              <a:rPr lang="en-US" sz="3200" b="1" dirty="0">
                <a:solidFill>
                  <a:schemeClr val="accent1"/>
                </a:solidFill>
                <a:latin typeface="+mj-lt" pitchFamily="34" charset="0"/>
                <a:ea typeface="+mj-lt" pitchFamily="34" charset="-122"/>
                <a:cs typeface="+mj-lt" pitchFamily="34" charset="-120"/>
              </a:rPr>
              <a:t>87%</a:t>
            </a:r>
            <a:endParaRPr lang="en-US" sz="3200" dirty="0"/>
          </a:p>
        </p:txBody>
      </p:sp>
      <p:sp>
        <p:nvSpPr>
          <p:cNvPr id="10" name="Text 7"/>
          <p:cNvSpPr txBox="1"/>
          <p:nvPr/>
        </p:nvSpPr>
        <p:spPr>
          <a:xfrm>
            <a:off x="3602736" y="2631643"/>
            <a:ext cx="2167128" cy="555955"/>
          </a:xfrm>
          <a:prstGeom prst="rect">
            <a:avLst/>
          </a:prstGeom>
          <a:noFill/>
          <a:ln/>
        </p:spPr>
        <p:txBody>
          <a:bodyPr wrap="square" lIns="0" tIns="0" rIns="0" bIns="0" rtlCol="0" anchor="t"/>
          <a:lstStyle/>
          <a:p>
            <a:pPr indent="0" marL="0">
              <a:buNone/>
            </a:pPr>
            <a:r>
              <a:rPr lang="en-US" sz="1300" dirty="0">
                <a:solidFill>
                  <a:schemeClr val="tx2"/>
                </a:solidFill>
              </a:rPr>
              <a:t>of shocks are back to normal within 24 hours</a:t>
            </a:r>
            <a:endParaRPr lang="en-US" sz="1300" dirty="0"/>
          </a:p>
        </p:txBody>
      </p:sp>
      <p:sp>
        <p:nvSpPr>
          <p:cNvPr id="11" name="Stat card"/>
          <p:cNvSpPr/>
          <p:nvPr/>
        </p:nvSpPr>
        <p:spPr>
          <a:xfrm>
            <a:off x="6199632" y="1783080"/>
            <a:ext cx="2624328" cy="1463040"/>
          </a:xfrm>
          <a:prstGeom prst="roundRect">
            <a:avLst>
              <a:gd name="adj" fmla="val 6250"/>
            </a:avLst>
          </a:prstGeom>
          <a:solidFill>
            <a:schemeClr val="bg2"/>
          </a:solidFill>
          <a:ln/>
        </p:spPr>
      </p:sp>
      <p:sp>
        <p:nvSpPr>
          <p:cNvPr id="12" name="Text 9"/>
          <p:cNvSpPr txBox="1"/>
          <p:nvPr/>
        </p:nvSpPr>
        <p:spPr>
          <a:xfrm>
            <a:off x="6428232" y="1892808"/>
            <a:ext cx="2167128" cy="702259"/>
          </a:xfrm>
          <a:prstGeom prst="rect">
            <a:avLst/>
          </a:prstGeom>
          <a:noFill/>
          <a:ln/>
        </p:spPr>
        <p:txBody>
          <a:bodyPr wrap="square" lIns="0" tIns="0" rIns="0" bIns="0" rtlCol="0" anchor="ctr"/>
          <a:lstStyle/>
          <a:p>
            <a:pPr indent="0" marL="0">
              <a:buNone/>
            </a:pPr>
            <a:r>
              <a:rPr lang="en-US" sz="3200" b="1" dirty="0">
                <a:solidFill>
                  <a:schemeClr val="accent1"/>
                </a:solidFill>
                <a:latin typeface="+mj-lt" pitchFamily="34" charset="0"/>
                <a:ea typeface="+mj-lt" pitchFamily="34" charset="-122"/>
                <a:cs typeface="+mj-lt" pitchFamily="34" charset="-120"/>
              </a:rPr>
              <a:t>55–65%</a:t>
            </a:r>
            <a:endParaRPr lang="en-US" sz="3200" dirty="0"/>
          </a:p>
        </p:txBody>
      </p:sp>
      <p:sp>
        <p:nvSpPr>
          <p:cNvPr id="13" name="Text 10"/>
          <p:cNvSpPr txBox="1"/>
          <p:nvPr/>
        </p:nvSpPr>
        <p:spPr>
          <a:xfrm>
            <a:off x="6428232" y="2631643"/>
            <a:ext cx="2167128" cy="555955"/>
          </a:xfrm>
          <a:prstGeom prst="rect">
            <a:avLst/>
          </a:prstGeom>
          <a:noFill/>
          <a:ln/>
        </p:spPr>
        <p:txBody>
          <a:bodyPr wrap="square" lIns="0" tIns="0" rIns="0" bIns="0" rtlCol="0" anchor="t"/>
          <a:lstStyle/>
          <a:p>
            <a:pPr indent="0" marL="0">
              <a:buNone/>
            </a:pPr>
            <a:r>
              <a:rPr lang="en-US" sz="1300" dirty="0">
                <a:solidFill>
                  <a:schemeClr val="tx2"/>
                </a:solidFill>
              </a:rPr>
              <a:t>are followed by another shock of the same coin within 24 h</a:t>
            </a:r>
            <a:endParaRPr lang="en-US" sz="1300" dirty="0"/>
          </a:p>
        </p:txBody>
      </p:sp>
      <p:sp>
        <p:nvSpPr>
          <p:cNvPr id="14" name="Stat card"/>
          <p:cNvSpPr/>
          <p:nvPr/>
        </p:nvSpPr>
        <p:spPr>
          <a:xfrm>
            <a:off x="9025128" y="1783080"/>
            <a:ext cx="2624328" cy="1463040"/>
          </a:xfrm>
          <a:prstGeom prst="roundRect">
            <a:avLst>
              <a:gd name="adj" fmla="val 6250"/>
            </a:avLst>
          </a:prstGeom>
          <a:solidFill>
            <a:schemeClr val="bg2"/>
          </a:solidFill>
          <a:ln/>
        </p:spPr>
      </p:sp>
      <p:sp>
        <p:nvSpPr>
          <p:cNvPr id="15" name="Text 12"/>
          <p:cNvSpPr txBox="1"/>
          <p:nvPr/>
        </p:nvSpPr>
        <p:spPr>
          <a:xfrm>
            <a:off x="9253728" y="1892808"/>
            <a:ext cx="2167128" cy="702259"/>
          </a:xfrm>
          <a:prstGeom prst="rect">
            <a:avLst/>
          </a:prstGeom>
          <a:noFill/>
          <a:ln/>
        </p:spPr>
        <p:txBody>
          <a:bodyPr wrap="square" lIns="0" tIns="0" rIns="0" bIns="0" rtlCol="0" anchor="ctr"/>
          <a:lstStyle/>
          <a:p>
            <a:pPr indent="0" marL="0">
              <a:buNone/>
            </a:pPr>
            <a:r>
              <a:rPr lang="en-US" sz="3200" b="1" dirty="0">
                <a:solidFill>
                  <a:schemeClr val="accent1"/>
                </a:solidFill>
                <a:latin typeface="+mj-lt" pitchFamily="34" charset="0"/>
                <a:ea typeface="+mj-lt" pitchFamily="34" charset="-122"/>
                <a:cs typeface="+mj-lt" pitchFamily="34" charset="-120"/>
              </a:rPr>
              <a:t>≈ 2.5 h</a:t>
            </a:r>
            <a:endParaRPr lang="en-US" sz="3200" dirty="0"/>
          </a:p>
        </p:txBody>
      </p:sp>
      <p:sp>
        <p:nvSpPr>
          <p:cNvPr id="16" name="Text 13"/>
          <p:cNvSpPr txBox="1"/>
          <p:nvPr/>
        </p:nvSpPr>
        <p:spPr>
          <a:xfrm>
            <a:off x="9253728" y="2631643"/>
            <a:ext cx="2167128" cy="555955"/>
          </a:xfrm>
          <a:prstGeom prst="rect">
            <a:avLst/>
          </a:prstGeom>
          <a:noFill/>
          <a:ln/>
        </p:spPr>
        <p:txBody>
          <a:bodyPr wrap="square" lIns="0" tIns="0" rIns="0" bIns="0" rtlCol="0" anchor="t"/>
          <a:lstStyle/>
          <a:p>
            <a:pPr indent="0" marL="0">
              <a:buNone/>
            </a:pPr>
            <a:r>
              <a:rPr lang="en-US" sz="1300" dirty="0">
                <a:solidFill>
                  <a:schemeClr val="tx2"/>
                </a:solidFill>
              </a:rPr>
              <a:t>half-life of the extra volatility against a calm hour</a:t>
            </a:r>
            <a:endParaRPr lang="en-US" sz="1300" dirty="0"/>
          </a:p>
        </p:txBody>
      </p:sp>
      <p:graphicFrame>
        <p:nvGraphicFramePr>
          <p:cNvPr id="17" name="Chart 0" descr=""/>
          <p:cNvGraphicFramePr/>
          <p:nvPr/>
        </p:nvGraphicFramePr>
        <p:xfrm>
          <a:off x="548640" y="3429000"/>
          <a:ext cx="6583680" cy="2880360"/>
        </p:xfrm>
        <a:graphic xmlns:a="http://schemas.openxmlformats.org/drawingml/2006/main">
          <a:graphicData uri="http://schemas.openxmlformats.org/drawingml/2006/chart">
            <c:chart xmlns:c="http://schemas.openxmlformats.org/drawingml/2006/chart" r:id="rId1"/>
          </a:graphicData>
        </a:graphic>
      </p:graphicFrame>
      <p:sp>
        <p:nvSpPr>
          <p:cNvPr id="18" name="Text 14"/>
          <p:cNvSpPr txBox="1"/>
          <p:nvPr/>
        </p:nvSpPr>
        <p:spPr>
          <a:xfrm>
            <a:off x="7406640" y="3520440"/>
            <a:ext cx="4233672"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2"/>
                </a:solidFill>
              </a:rPr>
              <a:t>Spillover depends on the type: a market-wide crash is followed by about 8 other coins, an isolated shock by 4.5 to 5.</a:t>
            </a:r>
            <a:endParaRPr lang="en-US" sz="1400" dirty="0"/>
          </a:p>
          <a:p>
            <a:pPr marL="342900" indent="-342900">
              <a:spcAft>
                <a:spcPts val="800"/>
              </a:spcAft>
              <a:buSzPct val="100000"/>
              <a:buChar char="•"/>
            </a:pPr>
            <a:r>
              <a:rPr lang="en-US" sz="1400" dirty="0">
                <a:solidFill>
                  <a:schemeClr val="tx2"/>
                </a:solidFill>
              </a:rPr>
              <a:t>Direction is mostly unpredictable; pumps tend to continue for a while.</a:t>
            </a:r>
            <a:endParaRPr lang="en-US" sz="1400" dirty="0"/>
          </a:p>
          <a:p>
            <a:pPr marL="342900" indent="-342900">
              <a:spcAft>
                <a:spcPts val="800"/>
              </a:spcAft>
              <a:buSzPct val="100000"/>
              <a:buChar char="•"/>
            </a:pPr>
            <a:r>
              <a:rPr lang="en-US" sz="1400" dirty="0">
                <a:solidFill>
                  <a:schemeClr val="tx2"/>
                </a:solidFill>
              </a:rPr>
              <a:t>Crises differ in intensity, not reach: LUNA raised the shock rate most (+0.19), the BTC ETF approval least (+0.01).</a:t>
            </a:r>
            <a:endParaRPr lang="en-US" sz="1400" dirty="0"/>
          </a:p>
        </p:txBody>
      </p:sp>
      <p:sp>
        <p:nvSpPr>
          <p:cNvPr id="25" name="Slide Number Placeholder 0"/>
          <p:cNvSpPr>
            <a:spLocks noGrp="1"/>
          </p:cNvSpPr>
          <p:nvPr>
            <p:ph type="sldNum" sz="quarter" idx="4294967295"/>
          </p:nvPr>
        </p:nvSpPr>
        <p:spPr>
          <a:xfrm>
            <a:off x="11094415" y="6437376"/>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31520"/>
          </a:xfrm>
          <a:prstGeom prst="rect">
            <a:avLst/>
          </a:prstGeom>
          <a:noFill/>
          <a:ln/>
        </p:spPr>
        <p:txBody>
          <a:bodyPr wrap="square" lIns="0" tIns="0" rIns="0" bIns="0" rtlCol="0" anchor="ctr"/>
          <a:lstStyle/>
          <a:p>
            <a:pPr algn="l" indent="0" marL="0">
              <a:buNone/>
            </a:pPr>
            <a:r>
              <a:rPr lang="en-US" sz="3400" b="1" dirty="0">
                <a:solidFill>
                  <a:schemeClr val="tx2"/>
                </a:solidFill>
              </a:rPr>
              <a:t>Robust to noise, weak against attacks</a:t>
            </a:r>
            <a:endParaRPr lang="en-US" sz="3400" dirty="0"/>
          </a:p>
        </p:txBody>
      </p:sp>
      <p:sp>
        <p:nvSpPr>
          <p:cNvPr id="3" name="Text 0"/>
          <p:cNvSpPr/>
          <p:nvPr>
            <p:ph idx="101" type="body" hasCustomPrompt="1"/>
          </p:nvPr>
        </p:nvSpPr>
        <p:spPr>
          <a:xfrm>
            <a:off x="548640" y="1097280"/>
            <a:ext cx="11094415" cy="457200"/>
          </a:xfrm>
          <a:prstGeom prst="rect">
            <a:avLst/>
          </a:prstGeom>
          <a:noFill/>
          <a:ln/>
        </p:spPr>
        <p:txBody>
          <a:bodyPr wrap="square" lIns="0" tIns="0" rIns="0" bIns="0" rtlCol="0" anchor="t"/>
          <a:lstStyle/>
          <a:p>
            <a:pPr algn="l" indent="0" marL="0">
              <a:buNone/>
            </a:pPr>
            <a:r>
              <a:rPr lang="en-US" sz="1700" dirty="0">
                <a:solidFill>
                  <a:schemeClr val="accent4"/>
                </a:solidFill>
              </a:rPr>
              <a:t>Change in 1-hour test AUPRC (seed-0 TGN, clean score 0.203)</a:t>
            </a:r>
            <a:endParaRPr lang="en-US" sz="1700" dirty="0"/>
          </a:p>
        </p:txBody>
      </p:sp>
      <p:graphicFrame>
        <p:nvGraphicFramePr>
          <p:cNvPr id="5" name="Chart 0" descr=""/>
          <p:cNvGraphicFramePr/>
          <p:nvPr/>
        </p:nvGraphicFramePr>
        <p:xfrm>
          <a:off x="548640" y="1737360"/>
          <a:ext cx="6126480" cy="4526280"/>
        </p:xfrm>
        <a:graphic xmlns:a="http://schemas.openxmlformats.org/drawingml/2006/main">
          <a:graphicData uri="http://schemas.openxmlformats.org/drawingml/2006/chart">
            <c:chart xmlns:c="http://schemas.openxmlformats.org/drawingml/2006/chart" r:id="rId1"/>
          </a:graphicData>
        </a:graphic>
      </p:graphicFrame>
      <p:sp>
        <p:nvSpPr>
          <p:cNvPr id="6" name="Robustness card"/>
          <p:cNvSpPr/>
          <p:nvPr/>
        </p:nvSpPr>
        <p:spPr>
          <a:xfrm>
            <a:off x="6995160" y="1783080"/>
            <a:ext cx="4645152" cy="1371600"/>
          </a:xfrm>
          <a:prstGeom prst="roundRect">
            <a:avLst>
              <a:gd name="adj" fmla="val 6667"/>
            </a:avLst>
          </a:prstGeom>
          <a:solidFill>
            <a:schemeClr val="bg2"/>
          </a:solidFill>
          <a:ln/>
        </p:spPr>
      </p:sp>
      <p:sp>
        <p:nvSpPr>
          <p:cNvPr id="7" name="Text 3"/>
          <p:cNvSpPr txBox="1"/>
          <p:nvPr/>
        </p:nvSpPr>
        <p:spPr>
          <a:xfrm>
            <a:off x="7223760" y="1911096"/>
            <a:ext cx="4206240" cy="292608"/>
          </a:xfrm>
          <a:prstGeom prst="rect">
            <a:avLst/>
          </a:prstGeom>
          <a:noFill/>
          <a:ln/>
        </p:spPr>
        <p:txBody>
          <a:bodyPr wrap="square" lIns="0" tIns="0" rIns="0" bIns="0" rtlCol="0" anchor="t"/>
          <a:lstStyle/>
          <a:p>
            <a:pPr indent="0" marL="0">
              <a:buNone/>
            </a:pPr>
            <a:r>
              <a:rPr lang="en-US" sz="1600" b="1" dirty="0">
                <a:solidFill>
                  <a:schemeClr val="tx2"/>
                </a:solidFill>
              </a:rPr>
              <a:t>Missing data: harmless</a:t>
            </a:r>
            <a:endParaRPr lang="en-US" sz="1600" dirty="0"/>
          </a:p>
        </p:txBody>
      </p:sp>
      <p:sp>
        <p:nvSpPr>
          <p:cNvPr id="8" name="Text 4"/>
          <p:cNvSpPr txBox="1"/>
          <p:nvPr/>
        </p:nvSpPr>
        <p:spPr>
          <a:xfrm>
            <a:off x="7223760" y="2258568"/>
            <a:ext cx="4206240" cy="868680"/>
          </a:xfrm>
          <a:prstGeom prst="rect">
            <a:avLst/>
          </a:prstGeom>
          <a:noFill/>
          <a:ln/>
        </p:spPr>
        <p:txBody>
          <a:bodyPr wrap="square" lIns="0" tIns="0" rIns="0" bIns="0" rtlCol="0" anchor="t"/>
          <a:lstStyle/>
          <a:p>
            <a:pPr indent="0" marL="0">
              <a:buNone/>
            </a:pPr>
            <a:r>
              <a:rPr lang="en-US" sz="1400" dirty="0">
                <a:solidFill>
                  <a:schemeClr val="tx2"/>
                </a:solidFill>
              </a:rPr>
              <a:t>Removing up to 50% of past events changes AUPRC by under 0.5%.</a:t>
            </a:r>
            <a:endParaRPr lang="en-US" sz="1400" dirty="0"/>
          </a:p>
        </p:txBody>
      </p:sp>
      <p:sp>
        <p:nvSpPr>
          <p:cNvPr id="9" name="Robustness card"/>
          <p:cNvSpPr/>
          <p:nvPr/>
        </p:nvSpPr>
        <p:spPr>
          <a:xfrm>
            <a:off x="6995160" y="3291840"/>
            <a:ext cx="4645152" cy="1371600"/>
          </a:xfrm>
          <a:prstGeom prst="roundRect">
            <a:avLst>
              <a:gd name="adj" fmla="val 6667"/>
            </a:avLst>
          </a:prstGeom>
          <a:solidFill>
            <a:schemeClr val="bg2"/>
          </a:solidFill>
          <a:ln/>
        </p:spPr>
      </p:sp>
      <p:sp>
        <p:nvSpPr>
          <p:cNvPr id="10" name="Text 6"/>
          <p:cNvSpPr txBox="1"/>
          <p:nvPr/>
        </p:nvSpPr>
        <p:spPr>
          <a:xfrm>
            <a:off x="7223760" y="3419856"/>
            <a:ext cx="4206240" cy="292608"/>
          </a:xfrm>
          <a:prstGeom prst="rect">
            <a:avLst/>
          </a:prstGeom>
          <a:noFill/>
          <a:ln/>
        </p:spPr>
        <p:txBody>
          <a:bodyPr wrap="square" lIns="0" tIns="0" rIns="0" bIns="0" rtlCol="0" anchor="t"/>
          <a:lstStyle/>
          <a:p>
            <a:pPr indent="0" marL="0">
              <a:buNone/>
            </a:pPr>
            <a:r>
              <a:rPr lang="en-US" sz="1600" b="1" dirty="0">
                <a:solidFill>
                  <a:schemeClr val="accent1"/>
                </a:solidFill>
              </a:rPr>
              <a:t>Attacks: the real risk</a:t>
            </a:r>
            <a:endParaRPr lang="en-US" sz="1600" dirty="0"/>
          </a:p>
        </p:txBody>
      </p:sp>
      <p:sp>
        <p:nvSpPr>
          <p:cNvPr id="11" name="Text 7"/>
          <p:cNvSpPr txBox="1"/>
          <p:nvPr/>
        </p:nvSpPr>
        <p:spPr>
          <a:xfrm>
            <a:off x="7223760" y="3767328"/>
            <a:ext cx="4206240" cy="868680"/>
          </a:xfrm>
          <a:prstGeom prst="rect">
            <a:avLst/>
          </a:prstGeom>
          <a:noFill/>
          <a:ln/>
        </p:spPr>
        <p:txBody>
          <a:bodyPr wrap="square" lIns="0" tIns="0" rIns="0" bIns="0" rtlCol="0" anchor="t"/>
          <a:lstStyle/>
          <a:p>
            <a:pPr indent="0" marL="0">
              <a:buNone/>
            </a:pPr>
            <a:r>
              <a:rPr lang="en-US" sz="1400" dirty="0">
                <a:solidFill>
                  <a:schemeClr val="tx2"/>
                </a:solidFill>
              </a:rPr>
              <a:t>A white-box FGSM attack of size 0.1 cuts AUPRC by 35%. A stronger 10-step attack is no worse (within 0.002).</a:t>
            </a:r>
            <a:endParaRPr lang="en-US" sz="1400" dirty="0"/>
          </a:p>
        </p:txBody>
      </p:sp>
      <p:sp>
        <p:nvSpPr>
          <p:cNvPr id="12" name="Robustness card"/>
          <p:cNvSpPr/>
          <p:nvPr/>
        </p:nvSpPr>
        <p:spPr>
          <a:xfrm>
            <a:off x="6995160" y="4800600"/>
            <a:ext cx="4645152" cy="1371600"/>
          </a:xfrm>
          <a:prstGeom prst="roundRect">
            <a:avLst>
              <a:gd name="adj" fmla="val 6667"/>
            </a:avLst>
          </a:prstGeom>
          <a:solidFill>
            <a:schemeClr val="bg2"/>
          </a:solidFill>
          <a:ln/>
        </p:spPr>
      </p:sp>
      <p:sp>
        <p:nvSpPr>
          <p:cNvPr id="13" name="Text 9"/>
          <p:cNvSpPr txBox="1"/>
          <p:nvPr/>
        </p:nvSpPr>
        <p:spPr>
          <a:xfrm>
            <a:off x="7223760" y="4928616"/>
            <a:ext cx="4206240" cy="292608"/>
          </a:xfrm>
          <a:prstGeom prst="rect">
            <a:avLst/>
          </a:prstGeom>
          <a:noFill/>
          <a:ln/>
        </p:spPr>
        <p:txBody>
          <a:bodyPr wrap="square" lIns="0" tIns="0" rIns="0" bIns="0" rtlCol="0" anchor="t"/>
          <a:lstStyle/>
          <a:p>
            <a:pPr indent="0" marL="0">
              <a:buNone/>
            </a:pPr>
            <a:r>
              <a:rPr lang="en-US" sz="1600" b="1" dirty="0">
                <a:solidFill>
                  <a:schemeClr val="tx2"/>
                </a:solidFill>
              </a:rPr>
              <a:t>Anomaly detector: negative result</a:t>
            </a:r>
            <a:endParaRPr lang="en-US" sz="1600" dirty="0"/>
          </a:p>
        </p:txBody>
      </p:sp>
      <p:sp>
        <p:nvSpPr>
          <p:cNvPr id="14" name="Text 10"/>
          <p:cNvSpPr txBox="1"/>
          <p:nvPr/>
        </p:nvSpPr>
        <p:spPr>
          <a:xfrm>
            <a:off x="7223760" y="5276088"/>
            <a:ext cx="4206240" cy="868680"/>
          </a:xfrm>
          <a:prstGeom prst="rect">
            <a:avLst/>
          </a:prstGeom>
          <a:noFill/>
          <a:ln/>
        </p:spPr>
        <p:txBody>
          <a:bodyPr wrap="square" lIns="0" tIns="0" rIns="0" bIns="0" rtlCol="0" anchor="t"/>
          <a:lstStyle/>
          <a:p>
            <a:pPr indent="0" marL="0">
              <a:buNone/>
            </a:pPr>
            <a:r>
              <a:rPr lang="en-US" sz="1400" dirty="0">
                <a:solidFill>
                  <a:schemeClr val="tx2"/>
                </a:solidFill>
              </a:rPr>
              <a:t>The graph autoencoder separates stress days with AUROC 0.51, against 0.89 for plain turbulence.</a:t>
            </a:r>
            <a:endParaRPr lang="en-US" sz="1400" dirty="0"/>
          </a:p>
        </p:txBody>
      </p:sp>
      <p:sp>
        <p:nvSpPr>
          <p:cNvPr id="25" name="Slide Number Placeholder 0"/>
          <p:cNvSpPr>
            <a:spLocks noGrp="1"/>
          </p:cNvSpPr>
          <p:nvPr>
            <p:ph type="sldNum" sz="quarter" idx="4294967295"/>
          </p:nvPr>
        </p:nvSpPr>
        <p:spPr>
          <a:xfrm>
            <a:off x="11094415" y="6437376"/>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31520"/>
          </a:xfrm>
          <a:prstGeom prst="rect">
            <a:avLst/>
          </a:prstGeom>
          <a:noFill/>
          <a:ln/>
        </p:spPr>
        <p:txBody>
          <a:bodyPr wrap="square" lIns="0" tIns="0" rIns="0" bIns="0" rtlCol="0" anchor="ctr"/>
          <a:lstStyle/>
          <a:p>
            <a:pPr algn="l" indent="0" marL="0">
              <a:buNone/>
            </a:pPr>
            <a:r>
              <a:rPr lang="en-US" sz="3400" b="1" dirty="0">
                <a:solidFill>
                  <a:schemeClr val="tx2"/>
                </a:solidFill>
              </a:rPr>
              <a:t>From model to a working tool</a:t>
            </a:r>
            <a:endParaRPr lang="en-US" sz="3400" dirty="0"/>
          </a:p>
        </p:txBody>
      </p:sp>
      <p:sp>
        <p:nvSpPr>
          <p:cNvPr id="3" name="Text 0"/>
          <p:cNvSpPr/>
          <p:nvPr>
            <p:ph idx="101" type="body" hasCustomPrompt="1"/>
          </p:nvPr>
        </p:nvSpPr>
        <p:spPr>
          <a:xfrm>
            <a:off x="548640" y="1097280"/>
            <a:ext cx="11094415" cy="457200"/>
          </a:xfrm>
          <a:prstGeom prst="rect">
            <a:avLst/>
          </a:prstGeom>
          <a:noFill/>
          <a:ln/>
        </p:spPr>
        <p:txBody>
          <a:bodyPr wrap="square" lIns="0" tIns="0" rIns="0" bIns="0" rtlCol="0" anchor="t"/>
          <a:lstStyle/>
          <a:p>
            <a:pPr algn="l" indent="0" marL="0">
              <a:buNone/>
            </a:pPr>
            <a:r>
              <a:rPr lang="en-US" sz="1700" dirty="0">
                <a:solidFill>
                  <a:schemeClr val="accent4"/>
                </a:solidFill>
              </a:rPr>
              <a:t>One command, one dashboard, and an honest compression study</a:t>
            </a:r>
            <a:endParaRPr lang="en-US" sz="1700" dirty="0"/>
          </a:p>
        </p:txBody>
      </p:sp>
      <p:sp>
        <p:nvSpPr>
          <p:cNvPr id="5" name="Deployment card"/>
          <p:cNvSpPr/>
          <p:nvPr/>
        </p:nvSpPr>
        <p:spPr>
          <a:xfrm>
            <a:off x="548640" y="1783080"/>
            <a:ext cx="3566160" cy="4480560"/>
          </a:xfrm>
          <a:prstGeom prst="roundRect">
            <a:avLst>
              <a:gd name="adj" fmla="val 2564"/>
            </a:avLst>
          </a:prstGeom>
          <a:solidFill>
            <a:schemeClr val="bg2"/>
          </a:solidFill>
          <a:ln/>
        </p:spPr>
      </p:sp>
      <p:sp>
        <p:nvSpPr>
          <p:cNvPr id="6" name="Deployment card"/>
          <p:cNvSpPr/>
          <p:nvPr/>
        </p:nvSpPr>
        <p:spPr>
          <a:xfrm>
            <a:off x="4311396" y="1783080"/>
            <a:ext cx="3566160" cy="4480560"/>
          </a:xfrm>
          <a:prstGeom prst="roundRect">
            <a:avLst>
              <a:gd name="adj" fmla="val 2564"/>
            </a:avLst>
          </a:prstGeom>
          <a:solidFill>
            <a:schemeClr val="bg2"/>
          </a:solidFill>
          <a:ln/>
        </p:spPr>
      </p:sp>
      <p:sp>
        <p:nvSpPr>
          <p:cNvPr id="7" name="Deployment card"/>
          <p:cNvSpPr/>
          <p:nvPr/>
        </p:nvSpPr>
        <p:spPr>
          <a:xfrm>
            <a:off x="8074152" y="1783080"/>
            <a:ext cx="3566160" cy="4480560"/>
          </a:xfrm>
          <a:prstGeom prst="roundRect">
            <a:avLst>
              <a:gd name="adj" fmla="val 2564"/>
            </a:avLst>
          </a:prstGeom>
          <a:solidFill>
            <a:schemeClr val="bg2"/>
          </a:solidFill>
          <a:ln/>
        </p:spPr>
      </p:sp>
      <p:sp>
        <p:nvSpPr>
          <p:cNvPr id="8" name="Text 5"/>
          <p:cNvSpPr txBox="1"/>
          <p:nvPr/>
        </p:nvSpPr>
        <p:spPr>
          <a:xfrm>
            <a:off x="777240" y="1920240"/>
            <a:ext cx="3108960" cy="320040"/>
          </a:xfrm>
          <a:prstGeom prst="rect">
            <a:avLst/>
          </a:prstGeom>
          <a:noFill/>
          <a:ln/>
        </p:spPr>
        <p:txBody>
          <a:bodyPr wrap="square" lIns="0" tIns="0" rIns="0" bIns="0" rtlCol="0" anchor="t"/>
          <a:lstStyle/>
          <a:p>
            <a:pPr indent="0" marL="0">
              <a:buNone/>
            </a:pPr>
            <a:r>
              <a:rPr lang="en-US" sz="1800" b="1" dirty="0">
                <a:solidFill>
                  <a:schemeClr val="tx2"/>
                </a:solidFill>
              </a:rPr>
              <a:t>Prediction command</a:t>
            </a:r>
            <a:endParaRPr lang="en-US" sz="1800" dirty="0"/>
          </a:p>
        </p:txBody>
      </p:sp>
      <p:sp>
        <p:nvSpPr>
          <p:cNvPr id="9" name="Terminal"/>
          <p:cNvSpPr/>
          <p:nvPr/>
        </p:nvSpPr>
        <p:spPr>
          <a:xfrm>
            <a:off x="777240" y="2377440"/>
            <a:ext cx="3108960" cy="731520"/>
          </a:xfrm>
          <a:prstGeom prst="roundRect">
            <a:avLst>
              <a:gd name="adj" fmla="val 7500"/>
            </a:avLst>
          </a:prstGeom>
          <a:solidFill>
            <a:schemeClr val="tx2"/>
          </a:solidFill>
          <a:ln/>
        </p:spPr>
      </p:sp>
      <p:sp>
        <p:nvSpPr>
          <p:cNvPr id="10" name="Text 7"/>
          <p:cNvSpPr txBox="1"/>
          <p:nvPr/>
        </p:nvSpPr>
        <p:spPr>
          <a:xfrm>
            <a:off x="960120" y="2377440"/>
            <a:ext cx="2743200" cy="731520"/>
          </a:xfrm>
          <a:prstGeom prst="rect">
            <a:avLst/>
          </a:prstGeom>
          <a:noFill/>
          <a:ln/>
        </p:spPr>
        <p:txBody>
          <a:bodyPr wrap="square" lIns="0" tIns="0" rIns="0" bIns="0" rtlCol="0" anchor="ctr"/>
          <a:lstStyle/>
          <a:p>
            <a:pPr indent="0" marL="0">
              <a:buNone/>
            </a:pPr>
            <a:r>
              <a:rPr lang="en-US" sz="1600" b="1" dirty="0">
                <a:solidFill>
                  <a:schemeClr val="accent3"/>
                </a:solidFill>
                <a:latin typeface="Courier New" pitchFamily="34" charset="0"/>
                <a:ea typeface="Courier New" pitchFamily="34" charset="-122"/>
                <a:cs typeface="Courier New" pitchFamily="34" charset="-120"/>
              </a:rPr>
              <a:t>$ cryptograph-predict</a:t>
            </a:r>
            <a:endParaRPr lang="en-US" sz="1600" dirty="0"/>
          </a:p>
        </p:txBody>
      </p:sp>
      <p:sp>
        <p:nvSpPr>
          <p:cNvPr id="11" name="Text 8"/>
          <p:cNvSpPr txBox="1"/>
          <p:nvPr/>
        </p:nvSpPr>
        <p:spPr>
          <a:xfrm>
            <a:off x="777240" y="3337560"/>
            <a:ext cx="3108960" cy="28346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2"/>
                </a:solidFill>
              </a:rPr>
              <a:t>Chance of a shock within 1 to 24 hours for every coin</a:t>
            </a:r>
            <a:endParaRPr lang="en-US" sz="1400" dirty="0"/>
          </a:p>
          <a:p>
            <a:pPr marL="342900" indent="-342900">
              <a:spcAft>
                <a:spcPts val="800"/>
              </a:spcAft>
              <a:buSzPct val="100000"/>
              <a:buChar char="•"/>
            </a:pPr>
            <a:r>
              <a:rPr lang="en-US" sz="1400" dirty="0">
                <a:solidFill>
                  <a:schemeClr val="tx2"/>
                </a:solidFill>
              </a:rPr>
              <a:t>The main reasons behind each alert</a:t>
            </a:r>
            <a:endParaRPr lang="en-US" sz="1400" dirty="0"/>
          </a:p>
          <a:p>
            <a:pPr marL="342900" indent="-342900">
              <a:spcAft>
                <a:spcPts val="800"/>
              </a:spcAft>
              <a:buSzPct val="100000"/>
              <a:buChar char="•"/>
            </a:pPr>
            <a:r>
              <a:rPr lang="en-US" sz="1400" dirty="0">
                <a:solidFill>
                  <a:schemeClr val="tx2"/>
                </a:solidFill>
              </a:rPr>
              <a:t>Scores calibrated on validation data, so they read as chances</a:t>
            </a:r>
            <a:endParaRPr lang="en-US" sz="1400" dirty="0"/>
          </a:p>
          <a:p>
            <a:pPr marL="342900" indent="-342900">
              <a:spcAft>
                <a:spcPts val="800"/>
              </a:spcAft>
              <a:buSzPct val="100000"/>
              <a:buChar char="•"/>
            </a:pPr>
            <a:r>
              <a:rPr lang="en-US" sz="1400" dirty="0">
                <a:solidFill>
                  <a:schemeClr val="tx2"/>
                </a:solidFill>
              </a:rPr>
              <a:t>About 35 seconds on a laptop CPU</a:t>
            </a:r>
            <a:endParaRPr lang="en-US" sz="1400" dirty="0"/>
          </a:p>
        </p:txBody>
      </p:sp>
      <p:sp>
        <p:nvSpPr>
          <p:cNvPr id="12" name="Text 9"/>
          <p:cNvSpPr txBox="1"/>
          <p:nvPr/>
        </p:nvSpPr>
        <p:spPr>
          <a:xfrm>
            <a:off x="4539996" y="1920240"/>
            <a:ext cx="3108960" cy="320040"/>
          </a:xfrm>
          <a:prstGeom prst="rect">
            <a:avLst/>
          </a:prstGeom>
          <a:noFill/>
          <a:ln/>
        </p:spPr>
        <p:txBody>
          <a:bodyPr wrap="square" lIns="0" tIns="0" rIns="0" bIns="0" rtlCol="0" anchor="t"/>
          <a:lstStyle/>
          <a:p>
            <a:pPr indent="0" marL="0">
              <a:buNone/>
            </a:pPr>
            <a:r>
              <a:rPr lang="en-US" sz="1800" b="1" dirty="0">
                <a:solidFill>
                  <a:schemeClr val="tx2"/>
                </a:solidFill>
              </a:rPr>
              <a:t>Compression study</a:t>
            </a:r>
            <a:endParaRPr lang="en-US" sz="1800" dirty="0"/>
          </a:p>
        </p:txBody>
      </p:sp>
      <p:graphicFrame>
        <p:nvGraphicFramePr>
          <p:cNvPr id="16" name="Compression table"/>
          <p:cNvGraphicFramePr>
            <a:graphicFrameLocks noGrp="1"/>
          </p:cNvGraphicFramePr>
          <p:nvPr>
            <p:extLst>
              <p:ext uri="{D42A27DB-BD31-4B8C-83A1-F6EECF244321}">
                <p14:modId xmlns:p14="http://schemas.microsoft.com/office/powerpoint/2010/main" val="1579011935"/>
              </p:ext>
            </p:extLst>
          </p:nvPr>
        </p:nvGraphicFramePr>
        <p:xfrm>
          <a:off x="4494276" y="2377440"/>
          <a:ext cx="3200400" cy="914400"/>
        </p:xfrm>
        <a:graphic>
          <a:graphicData uri="http://schemas.openxmlformats.org/drawingml/2006/table">
            <a:tbl>
              <a:tblPr/>
              <a:tblGrid>
                <a:gridCol w="914400"/>
                <a:gridCol w="640080"/>
                <a:gridCol w="640080"/>
                <a:gridCol w="1005840"/>
              </a:tblGrid>
              <a:tr h="457200">
                <a:tc>
                  <a:txBody>
                    <a:bodyPr/>
                    <a:lstStyle/>
                    <a:p>
                      <a:pPr algn="ctr" indent="0" marL="0">
                        <a:buNone/>
                      </a:pPr>
                      <a:r>
                        <a:rPr lang="en-US" sz="1200" b="1" dirty="0">
                          <a:solidFill>
                            <a:schemeClr val="bg1"/>
                          </a:solidFill>
                        </a:rPr>
                        <a:t>Version</a:t>
                      </a:r>
                      <a:endParaRPr lang="en-US" sz="1200" dirty="0"/>
                    </a:p>
                  </a:txBody>
                  <a:tcPr marL="45720" marR="45720" marT="45720" marB="45720" anchor="ctr">
                    <a:lnL w="9525" cap="flat" cmpd="sng" algn="ctr">
                      <a:solidFill>
                        <a:srgbClr val="E3E7EE"/>
                      </a:solidFill>
                      <a:prstDash val="solid"/>
                      <a:round/>
                      <a:headEnd type="none" w="med" len="med"/>
                      <a:tailEnd type="none" w="med" len="med"/>
                    </a:lnL>
                    <a:lnR w="9525" cap="flat" cmpd="sng" algn="ctr">
                      <a:solidFill>
                        <a:srgbClr val="E3E7EE"/>
                      </a:solidFill>
                      <a:prstDash val="solid"/>
                      <a:round/>
                      <a:headEnd type="none" w="med" len="med"/>
                      <a:tailEnd type="none" w="med" len="med"/>
                    </a:lnR>
                    <a:lnT w="9525" cap="flat" cmpd="sng" algn="ctr">
                      <a:solidFill>
                        <a:srgbClr val="E3E7EE"/>
                      </a:solidFill>
                      <a:prstDash val="solid"/>
                      <a:round/>
                      <a:headEnd type="none" w="med" len="med"/>
                      <a:tailEnd type="none" w="med" len="med"/>
                    </a:lnT>
                    <a:lnB w="9525" cap="flat" cmpd="sng" algn="ctr">
                      <a:solidFill>
                        <a:srgbClr val="E3E7EE"/>
                      </a:solidFill>
                      <a:prstDash val="solid"/>
                      <a:round/>
                      <a:headEnd type="none" w="med" len="med"/>
                      <a:tailEnd type="none" w="med" len="med"/>
                    </a:lnB>
                    <a:solidFill>
                      <a:schemeClr val="accent6"/>
                    </a:solidFill>
                  </a:tcPr>
                </a:tc>
                <a:tc>
                  <a:txBody>
                    <a:bodyPr/>
                    <a:lstStyle/>
                    <a:p>
                      <a:pPr algn="ctr" indent="0" marL="0">
                        <a:buNone/>
                      </a:pPr>
                      <a:r>
                        <a:rPr lang="en-US" sz="1200" b="1" dirty="0">
                          <a:solidFill>
                            <a:schemeClr val="bg1"/>
                          </a:solidFill>
                        </a:rPr>
                        <a:t>Size</a:t>
                      </a:r>
                      <a:endParaRPr lang="en-US" sz="1200" dirty="0"/>
                    </a:p>
                  </a:txBody>
                  <a:tcPr marL="45720" marR="45720" marT="45720" marB="45720" anchor="ctr">
                    <a:lnL w="9525" cap="flat" cmpd="sng" algn="ctr">
                      <a:solidFill>
                        <a:srgbClr val="E3E7EE"/>
                      </a:solidFill>
                      <a:prstDash val="solid"/>
                      <a:round/>
                      <a:headEnd type="none" w="med" len="med"/>
                      <a:tailEnd type="none" w="med" len="med"/>
                    </a:lnL>
                    <a:lnR w="9525" cap="flat" cmpd="sng" algn="ctr">
                      <a:solidFill>
                        <a:srgbClr val="E3E7EE"/>
                      </a:solidFill>
                      <a:prstDash val="solid"/>
                      <a:round/>
                      <a:headEnd type="none" w="med" len="med"/>
                      <a:tailEnd type="none" w="med" len="med"/>
                    </a:lnR>
                    <a:lnT w="9525" cap="flat" cmpd="sng" algn="ctr">
                      <a:solidFill>
                        <a:srgbClr val="E3E7EE"/>
                      </a:solidFill>
                      <a:prstDash val="solid"/>
                      <a:round/>
                      <a:headEnd type="none" w="med" len="med"/>
                      <a:tailEnd type="none" w="med" len="med"/>
                    </a:lnT>
                    <a:lnB w="9525" cap="flat" cmpd="sng" algn="ctr">
                      <a:solidFill>
                        <a:srgbClr val="E3E7EE"/>
                      </a:solidFill>
                      <a:prstDash val="solid"/>
                      <a:round/>
                      <a:headEnd type="none" w="med" len="med"/>
                      <a:tailEnd type="none" w="med" len="med"/>
                    </a:lnB>
                    <a:solidFill>
                      <a:schemeClr val="accent6"/>
                    </a:solidFill>
                  </a:tcPr>
                </a:tc>
                <a:tc>
                  <a:txBody>
                    <a:bodyPr/>
                    <a:lstStyle/>
                    <a:p>
                      <a:pPr algn="ctr" indent="0" marL="0">
                        <a:buNone/>
                      </a:pPr>
                      <a:r>
                        <a:rPr lang="en-US" sz="1200" b="1" dirty="0">
                          <a:solidFill>
                            <a:schemeClr val="bg1"/>
                          </a:solidFill>
                        </a:rPr>
                        <a:t>Speed</a:t>
                      </a:r>
                      <a:endParaRPr lang="en-US" sz="1200" dirty="0"/>
                    </a:p>
                  </a:txBody>
                  <a:tcPr marL="45720" marR="45720" marT="45720" marB="45720" anchor="ctr">
                    <a:lnL w="9525" cap="flat" cmpd="sng" algn="ctr">
                      <a:solidFill>
                        <a:srgbClr val="E3E7EE"/>
                      </a:solidFill>
                      <a:prstDash val="solid"/>
                      <a:round/>
                      <a:headEnd type="none" w="med" len="med"/>
                      <a:tailEnd type="none" w="med" len="med"/>
                    </a:lnL>
                    <a:lnR w="9525" cap="flat" cmpd="sng" algn="ctr">
                      <a:solidFill>
                        <a:srgbClr val="E3E7EE"/>
                      </a:solidFill>
                      <a:prstDash val="solid"/>
                      <a:round/>
                      <a:headEnd type="none" w="med" len="med"/>
                      <a:tailEnd type="none" w="med" len="med"/>
                    </a:lnR>
                    <a:lnT w="9525" cap="flat" cmpd="sng" algn="ctr">
                      <a:solidFill>
                        <a:srgbClr val="E3E7EE"/>
                      </a:solidFill>
                      <a:prstDash val="solid"/>
                      <a:round/>
                      <a:headEnd type="none" w="med" len="med"/>
                      <a:tailEnd type="none" w="med" len="med"/>
                    </a:lnT>
                    <a:lnB w="9525" cap="flat" cmpd="sng" algn="ctr">
                      <a:solidFill>
                        <a:srgbClr val="E3E7EE"/>
                      </a:solidFill>
                      <a:prstDash val="solid"/>
                      <a:round/>
                      <a:headEnd type="none" w="med" len="med"/>
                      <a:tailEnd type="none" w="med" len="med"/>
                    </a:lnB>
                    <a:solidFill>
                      <a:schemeClr val="accent6"/>
                    </a:solidFill>
                  </a:tcPr>
                </a:tc>
                <a:tc>
                  <a:txBody>
                    <a:bodyPr/>
                    <a:lstStyle/>
                    <a:p>
                      <a:pPr algn="ctr" indent="0" marL="0">
                        <a:buNone/>
                      </a:pPr>
                      <a:r>
                        <a:rPr lang="en-US" sz="1200" b="1" dirty="0">
                          <a:solidFill>
                            <a:schemeClr val="bg1"/>
                          </a:solidFill>
                        </a:rPr>
                        <a:t>AUPRC lost</a:t>
                      </a:r>
                      <a:endParaRPr lang="en-US" sz="1200" dirty="0"/>
                    </a:p>
                  </a:txBody>
                  <a:tcPr marL="45720" marR="45720" marT="45720" marB="45720" anchor="ctr">
                    <a:lnL w="9525" cap="flat" cmpd="sng" algn="ctr">
                      <a:solidFill>
                        <a:srgbClr val="E3E7EE"/>
                      </a:solidFill>
                      <a:prstDash val="solid"/>
                      <a:round/>
                      <a:headEnd type="none" w="med" len="med"/>
                      <a:tailEnd type="none" w="med" len="med"/>
                    </a:lnL>
                    <a:lnR w="9525" cap="flat" cmpd="sng" algn="ctr">
                      <a:solidFill>
                        <a:srgbClr val="E3E7EE"/>
                      </a:solidFill>
                      <a:prstDash val="solid"/>
                      <a:round/>
                      <a:headEnd type="none" w="med" len="med"/>
                      <a:tailEnd type="none" w="med" len="med"/>
                    </a:lnR>
                    <a:lnT w="9525" cap="flat" cmpd="sng" algn="ctr">
                      <a:solidFill>
                        <a:srgbClr val="E3E7EE"/>
                      </a:solidFill>
                      <a:prstDash val="solid"/>
                      <a:round/>
                      <a:headEnd type="none" w="med" len="med"/>
                      <a:tailEnd type="none" w="med" len="med"/>
                    </a:lnT>
                    <a:lnB w="9525" cap="flat" cmpd="sng" algn="ctr">
                      <a:solidFill>
                        <a:srgbClr val="E3E7EE"/>
                      </a:solidFill>
                      <a:prstDash val="solid"/>
                      <a:round/>
                      <a:headEnd type="none" w="med" len="med"/>
                      <a:tailEnd type="none" w="med" len="med"/>
                    </a:lnB>
                    <a:solidFill>
                      <a:schemeClr val="accent6"/>
                    </a:solidFill>
                  </a:tcPr>
                </a:tc>
              </a:tr>
              <a:tr h="457200">
                <a:tc>
                  <a:txBody>
                    <a:bodyPr/>
                    <a:lstStyle/>
                    <a:p>
                      <a:pPr algn="ctr" indent="0" marL="0">
                        <a:buNone/>
                      </a:pPr>
                      <a:r>
                        <a:rPr lang="en-US" sz="1200" b="1" dirty="0">
                          <a:solidFill>
                            <a:schemeClr val="tx2"/>
                          </a:solidFill>
                        </a:rPr>
                        <a:t>Full model</a:t>
                      </a:r>
                      <a:endParaRPr lang="en-US" sz="1200" dirty="0"/>
                    </a:p>
                  </a:txBody>
                  <a:tcPr marL="45720" marR="45720" marT="45720" marB="45720" anchor="ctr">
                    <a:lnL w="9525" cap="flat" cmpd="sng" algn="ctr">
                      <a:solidFill>
                        <a:srgbClr val="E3E7EE"/>
                      </a:solidFill>
                      <a:prstDash val="solid"/>
                      <a:round/>
                      <a:headEnd type="none" w="med" len="med"/>
                      <a:tailEnd type="none" w="med" len="med"/>
                    </a:lnL>
                    <a:lnR w="9525" cap="flat" cmpd="sng" algn="ctr">
                      <a:solidFill>
                        <a:srgbClr val="E3E7EE"/>
                      </a:solidFill>
                      <a:prstDash val="solid"/>
                      <a:round/>
                      <a:headEnd type="none" w="med" len="med"/>
                      <a:tailEnd type="none" w="med" len="med"/>
                    </a:lnR>
                    <a:lnT w="9525" cap="flat" cmpd="sng" algn="ctr">
                      <a:solidFill>
                        <a:srgbClr val="E3E7EE"/>
                      </a:solidFill>
                      <a:prstDash val="solid"/>
                      <a:round/>
                      <a:headEnd type="none" w="med" len="med"/>
                      <a:tailEnd type="none" w="med" len="med"/>
                    </a:lnT>
                    <a:lnB w="9525" cap="flat" cmpd="sng" algn="ctr">
                      <a:solidFill>
                        <a:srgbClr val="E3E7EE"/>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2"/>
                          </a:solidFill>
                        </a:rPr>
                        <a:t>296 kB</a:t>
                      </a:r>
                      <a:endParaRPr lang="en-US" sz="1200" dirty="0"/>
                    </a:p>
                  </a:txBody>
                  <a:tcPr marL="45720" marR="45720" marT="45720" marB="45720" anchor="ctr">
                    <a:lnL w="9525" cap="flat" cmpd="sng" algn="ctr">
                      <a:solidFill>
                        <a:srgbClr val="E3E7EE"/>
                      </a:solidFill>
                      <a:prstDash val="solid"/>
                      <a:round/>
                      <a:headEnd type="none" w="med" len="med"/>
                      <a:tailEnd type="none" w="med" len="med"/>
                    </a:lnL>
                    <a:lnR w="9525" cap="flat" cmpd="sng" algn="ctr">
                      <a:solidFill>
                        <a:srgbClr val="E3E7EE"/>
                      </a:solidFill>
                      <a:prstDash val="solid"/>
                      <a:round/>
                      <a:headEnd type="none" w="med" len="med"/>
                      <a:tailEnd type="none" w="med" len="med"/>
                    </a:lnR>
                    <a:lnT w="9525" cap="flat" cmpd="sng" algn="ctr">
                      <a:solidFill>
                        <a:srgbClr val="E3E7EE"/>
                      </a:solidFill>
                      <a:prstDash val="solid"/>
                      <a:round/>
                      <a:headEnd type="none" w="med" len="med"/>
                      <a:tailEnd type="none" w="med" len="med"/>
                    </a:lnT>
                    <a:lnB w="9525" cap="flat" cmpd="sng" algn="ctr">
                      <a:solidFill>
                        <a:srgbClr val="E3E7EE"/>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2"/>
                          </a:solidFill>
                        </a:rPr>
                        <a:t>1.2 ms</a:t>
                      </a:r>
                      <a:endParaRPr lang="en-US" sz="1200" dirty="0"/>
                    </a:p>
                  </a:txBody>
                  <a:tcPr marL="45720" marR="45720" marT="45720" marB="45720" anchor="ctr">
                    <a:lnL w="9525" cap="flat" cmpd="sng" algn="ctr">
                      <a:solidFill>
                        <a:srgbClr val="E3E7EE"/>
                      </a:solidFill>
                      <a:prstDash val="solid"/>
                      <a:round/>
                      <a:headEnd type="none" w="med" len="med"/>
                      <a:tailEnd type="none" w="med" len="med"/>
                    </a:lnL>
                    <a:lnR w="9525" cap="flat" cmpd="sng" algn="ctr">
                      <a:solidFill>
                        <a:srgbClr val="E3E7EE"/>
                      </a:solidFill>
                      <a:prstDash val="solid"/>
                      <a:round/>
                      <a:headEnd type="none" w="med" len="med"/>
                      <a:tailEnd type="none" w="med" len="med"/>
                    </a:lnR>
                    <a:lnT w="9525" cap="flat" cmpd="sng" algn="ctr">
                      <a:solidFill>
                        <a:srgbClr val="E3E7EE"/>
                      </a:solidFill>
                      <a:prstDash val="solid"/>
                      <a:round/>
                      <a:headEnd type="none" w="med" len="med"/>
                      <a:tailEnd type="none" w="med" len="med"/>
                    </a:lnT>
                    <a:lnB w="9525" cap="flat" cmpd="sng" algn="ctr">
                      <a:solidFill>
                        <a:srgbClr val="E3E7EE"/>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2"/>
                          </a:solidFill>
                        </a:rPr>
                        <a:t>none</a:t>
                      </a:r>
                      <a:endParaRPr lang="en-US" sz="1200" dirty="0"/>
                    </a:p>
                  </a:txBody>
                  <a:tcPr marL="45720" marR="45720" marT="45720" marB="45720" anchor="ctr">
                    <a:lnL w="9525" cap="flat" cmpd="sng" algn="ctr">
                      <a:solidFill>
                        <a:srgbClr val="E3E7EE"/>
                      </a:solidFill>
                      <a:prstDash val="solid"/>
                      <a:round/>
                      <a:headEnd type="none" w="med" len="med"/>
                      <a:tailEnd type="none" w="med" len="med"/>
                    </a:lnL>
                    <a:lnR w="9525" cap="flat" cmpd="sng" algn="ctr">
                      <a:solidFill>
                        <a:srgbClr val="E3E7EE"/>
                      </a:solidFill>
                      <a:prstDash val="solid"/>
                      <a:round/>
                      <a:headEnd type="none" w="med" len="med"/>
                      <a:tailEnd type="none" w="med" len="med"/>
                    </a:lnR>
                    <a:lnT w="9525" cap="flat" cmpd="sng" algn="ctr">
                      <a:solidFill>
                        <a:srgbClr val="E3E7EE"/>
                      </a:solidFill>
                      <a:prstDash val="solid"/>
                      <a:round/>
                      <a:headEnd type="none" w="med" len="med"/>
                      <a:tailEnd type="none" w="med" len="med"/>
                    </a:lnT>
                    <a:lnB w="9525" cap="flat" cmpd="sng" algn="ctr">
                      <a:solidFill>
                        <a:srgbClr val="E3E7EE"/>
                      </a:solidFill>
                      <a:prstDash val="solid"/>
                      <a:round/>
                      <a:headEnd type="none" w="med" len="med"/>
                      <a:tailEnd type="none" w="med" len="med"/>
                    </a:lnB>
                    <a:solidFill>
                      <a:schemeClr val="bg1"/>
                    </a:solidFill>
                  </a:tcPr>
                </a:tc>
              </a:tr>
              <a:tr h="457200">
                <a:tc>
                  <a:txBody>
                    <a:bodyPr/>
                    <a:lstStyle/>
                    <a:p>
                      <a:pPr algn="ctr" indent="0" marL="0">
                        <a:buNone/>
                      </a:pPr>
                      <a:r>
                        <a:rPr lang="en-US" sz="1200" b="1" dirty="0">
                          <a:solidFill>
                            <a:schemeClr val="tx2"/>
                          </a:solidFill>
                        </a:rPr>
                        <a:t>8-bit</a:t>
                      </a:r>
                      <a:endParaRPr lang="en-US" sz="1200" dirty="0"/>
                    </a:p>
                  </a:txBody>
                  <a:tcPr marL="45720" marR="45720" marT="45720" marB="45720" anchor="ctr">
                    <a:lnL w="9525" cap="flat" cmpd="sng" algn="ctr">
                      <a:solidFill>
                        <a:srgbClr val="E3E7EE"/>
                      </a:solidFill>
                      <a:prstDash val="solid"/>
                      <a:round/>
                      <a:headEnd type="none" w="med" len="med"/>
                      <a:tailEnd type="none" w="med" len="med"/>
                    </a:lnL>
                    <a:lnR w="9525" cap="flat" cmpd="sng" algn="ctr">
                      <a:solidFill>
                        <a:srgbClr val="E3E7EE"/>
                      </a:solidFill>
                      <a:prstDash val="solid"/>
                      <a:round/>
                      <a:headEnd type="none" w="med" len="med"/>
                      <a:tailEnd type="none" w="med" len="med"/>
                    </a:lnR>
                    <a:lnT w="9525" cap="flat" cmpd="sng" algn="ctr">
                      <a:solidFill>
                        <a:srgbClr val="E3E7EE"/>
                      </a:solidFill>
                      <a:prstDash val="solid"/>
                      <a:round/>
                      <a:headEnd type="none" w="med" len="med"/>
                      <a:tailEnd type="none" w="med" len="med"/>
                    </a:lnT>
                    <a:lnB w="9525" cap="flat" cmpd="sng" algn="ctr">
                      <a:solidFill>
                        <a:srgbClr val="E3E7EE"/>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2"/>
                          </a:solidFill>
                        </a:rPr>
                        <a:t>94 kB</a:t>
                      </a:r>
                      <a:endParaRPr lang="en-US" sz="1200" dirty="0"/>
                    </a:p>
                  </a:txBody>
                  <a:tcPr marL="45720" marR="45720" marT="45720" marB="45720" anchor="ctr">
                    <a:lnL w="9525" cap="flat" cmpd="sng" algn="ctr">
                      <a:solidFill>
                        <a:srgbClr val="E3E7EE"/>
                      </a:solidFill>
                      <a:prstDash val="solid"/>
                      <a:round/>
                      <a:headEnd type="none" w="med" len="med"/>
                      <a:tailEnd type="none" w="med" len="med"/>
                    </a:lnL>
                    <a:lnR w="9525" cap="flat" cmpd="sng" algn="ctr">
                      <a:solidFill>
                        <a:srgbClr val="E3E7EE"/>
                      </a:solidFill>
                      <a:prstDash val="solid"/>
                      <a:round/>
                      <a:headEnd type="none" w="med" len="med"/>
                      <a:tailEnd type="none" w="med" len="med"/>
                    </a:lnR>
                    <a:lnT w="9525" cap="flat" cmpd="sng" algn="ctr">
                      <a:solidFill>
                        <a:srgbClr val="E3E7EE"/>
                      </a:solidFill>
                      <a:prstDash val="solid"/>
                      <a:round/>
                      <a:headEnd type="none" w="med" len="med"/>
                      <a:tailEnd type="none" w="med" len="med"/>
                    </a:lnT>
                    <a:lnB w="9525" cap="flat" cmpd="sng" algn="ctr">
                      <a:solidFill>
                        <a:srgbClr val="E3E7EE"/>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2"/>
                          </a:solidFill>
                        </a:rPr>
                        <a:t>2.1 ms</a:t>
                      </a:r>
                      <a:endParaRPr lang="en-US" sz="1200" dirty="0"/>
                    </a:p>
                  </a:txBody>
                  <a:tcPr marL="45720" marR="45720" marT="45720" marB="45720" anchor="ctr">
                    <a:lnL w="9525" cap="flat" cmpd="sng" algn="ctr">
                      <a:solidFill>
                        <a:srgbClr val="E3E7EE"/>
                      </a:solidFill>
                      <a:prstDash val="solid"/>
                      <a:round/>
                      <a:headEnd type="none" w="med" len="med"/>
                      <a:tailEnd type="none" w="med" len="med"/>
                    </a:lnL>
                    <a:lnR w="9525" cap="flat" cmpd="sng" algn="ctr">
                      <a:solidFill>
                        <a:srgbClr val="E3E7EE"/>
                      </a:solidFill>
                      <a:prstDash val="solid"/>
                      <a:round/>
                      <a:headEnd type="none" w="med" len="med"/>
                      <a:tailEnd type="none" w="med" len="med"/>
                    </a:lnR>
                    <a:lnT w="9525" cap="flat" cmpd="sng" algn="ctr">
                      <a:solidFill>
                        <a:srgbClr val="E3E7EE"/>
                      </a:solidFill>
                      <a:prstDash val="solid"/>
                      <a:round/>
                      <a:headEnd type="none" w="med" len="med"/>
                      <a:tailEnd type="none" w="med" len="med"/>
                    </a:lnT>
                    <a:lnB w="9525" cap="flat" cmpd="sng" algn="ctr">
                      <a:solidFill>
                        <a:srgbClr val="E3E7EE"/>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2"/>
                          </a:solidFill>
                        </a:rPr>
                        <a:t>0.004 to 0.007</a:t>
                      </a:r>
                      <a:endParaRPr lang="en-US" sz="1200" dirty="0"/>
                    </a:p>
                  </a:txBody>
                  <a:tcPr marL="45720" marR="45720" marT="45720" marB="45720" anchor="ctr">
                    <a:lnL w="9525" cap="flat" cmpd="sng" algn="ctr">
                      <a:solidFill>
                        <a:srgbClr val="E3E7EE"/>
                      </a:solidFill>
                      <a:prstDash val="solid"/>
                      <a:round/>
                      <a:headEnd type="none" w="med" len="med"/>
                      <a:tailEnd type="none" w="med" len="med"/>
                    </a:lnL>
                    <a:lnR w="9525" cap="flat" cmpd="sng" algn="ctr">
                      <a:solidFill>
                        <a:srgbClr val="E3E7EE"/>
                      </a:solidFill>
                      <a:prstDash val="solid"/>
                      <a:round/>
                      <a:headEnd type="none" w="med" len="med"/>
                      <a:tailEnd type="none" w="med" len="med"/>
                    </a:lnR>
                    <a:lnT w="9525" cap="flat" cmpd="sng" algn="ctr">
                      <a:solidFill>
                        <a:srgbClr val="E3E7EE"/>
                      </a:solidFill>
                      <a:prstDash val="solid"/>
                      <a:round/>
                      <a:headEnd type="none" w="med" len="med"/>
                      <a:tailEnd type="none" w="med" len="med"/>
                    </a:lnT>
                    <a:lnB w="9525" cap="flat" cmpd="sng" algn="ctr">
                      <a:solidFill>
                        <a:srgbClr val="E3E7EE"/>
                      </a:solidFill>
                      <a:prstDash val="solid"/>
                      <a:round/>
                      <a:headEnd type="none" w="med" len="med"/>
                      <a:tailEnd type="none" w="med" len="med"/>
                    </a:lnB>
                    <a:solidFill>
                      <a:schemeClr val="bg1"/>
                    </a:solidFill>
                  </a:tcPr>
                </a:tc>
              </a:tr>
              <a:tr h="457200">
                <a:tc>
                  <a:txBody>
                    <a:bodyPr/>
                    <a:lstStyle/>
                    <a:p>
                      <a:pPr algn="ctr" indent="0" marL="0">
                        <a:buNone/>
                      </a:pPr>
                      <a:r>
                        <a:rPr lang="en-US" sz="1200" b="1" dirty="0">
                          <a:solidFill>
                            <a:schemeClr val="tx2"/>
                          </a:solidFill>
                        </a:rPr>
                        <a:t>Pruned</a:t>
                      </a:r>
                      <a:endParaRPr lang="en-US" sz="1200" dirty="0"/>
                    </a:p>
                  </a:txBody>
                  <a:tcPr marL="45720" marR="45720" marT="45720" marB="45720" anchor="ctr">
                    <a:lnL w="9525" cap="flat" cmpd="sng" algn="ctr">
                      <a:solidFill>
                        <a:srgbClr val="E3E7EE"/>
                      </a:solidFill>
                      <a:prstDash val="solid"/>
                      <a:round/>
                      <a:headEnd type="none" w="med" len="med"/>
                      <a:tailEnd type="none" w="med" len="med"/>
                    </a:lnL>
                    <a:lnR w="9525" cap="flat" cmpd="sng" algn="ctr">
                      <a:solidFill>
                        <a:srgbClr val="E3E7EE"/>
                      </a:solidFill>
                      <a:prstDash val="solid"/>
                      <a:round/>
                      <a:headEnd type="none" w="med" len="med"/>
                      <a:tailEnd type="none" w="med" len="med"/>
                    </a:lnR>
                    <a:lnT w="9525" cap="flat" cmpd="sng" algn="ctr">
                      <a:solidFill>
                        <a:srgbClr val="E3E7EE"/>
                      </a:solidFill>
                      <a:prstDash val="solid"/>
                      <a:round/>
                      <a:headEnd type="none" w="med" len="med"/>
                      <a:tailEnd type="none" w="med" len="med"/>
                    </a:lnT>
                    <a:lnB w="9525" cap="flat" cmpd="sng" algn="ctr">
                      <a:solidFill>
                        <a:srgbClr val="E3E7EE"/>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2"/>
                          </a:solidFill>
                        </a:rPr>
                        <a:t>296 kB</a:t>
                      </a:r>
                      <a:endParaRPr lang="en-US" sz="1200" dirty="0"/>
                    </a:p>
                  </a:txBody>
                  <a:tcPr marL="45720" marR="45720" marT="45720" marB="45720" anchor="ctr">
                    <a:lnL w="9525" cap="flat" cmpd="sng" algn="ctr">
                      <a:solidFill>
                        <a:srgbClr val="E3E7EE"/>
                      </a:solidFill>
                      <a:prstDash val="solid"/>
                      <a:round/>
                      <a:headEnd type="none" w="med" len="med"/>
                      <a:tailEnd type="none" w="med" len="med"/>
                    </a:lnL>
                    <a:lnR w="9525" cap="flat" cmpd="sng" algn="ctr">
                      <a:solidFill>
                        <a:srgbClr val="E3E7EE"/>
                      </a:solidFill>
                      <a:prstDash val="solid"/>
                      <a:round/>
                      <a:headEnd type="none" w="med" len="med"/>
                      <a:tailEnd type="none" w="med" len="med"/>
                    </a:lnR>
                    <a:lnT w="9525" cap="flat" cmpd="sng" algn="ctr">
                      <a:solidFill>
                        <a:srgbClr val="E3E7EE"/>
                      </a:solidFill>
                      <a:prstDash val="solid"/>
                      <a:round/>
                      <a:headEnd type="none" w="med" len="med"/>
                      <a:tailEnd type="none" w="med" len="med"/>
                    </a:lnT>
                    <a:lnB w="9525" cap="flat" cmpd="sng" algn="ctr">
                      <a:solidFill>
                        <a:srgbClr val="E3E7EE"/>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2"/>
                          </a:solidFill>
                        </a:rPr>
                        <a:t>1.4 ms</a:t>
                      </a:r>
                      <a:endParaRPr lang="en-US" sz="1200" dirty="0"/>
                    </a:p>
                  </a:txBody>
                  <a:tcPr marL="45720" marR="45720" marT="45720" marB="45720" anchor="ctr">
                    <a:lnL w="9525" cap="flat" cmpd="sng" algn="ctr">
                      <a:solidFill>
                        <a:srgbClr val="E3E7EE"/>
                      </a:solidFill>
                      <a:prstDash val="solid"/>
                      <a:round/>
                      <a:headEnd type="none" w="med" len="med"/>
                      <a:tailEnd type="none" w="med" len="med"/>
                    </a:lnL>
                    <a:lnR w="9525" cap="flat" cmpd="sng" algn="ctr">
                      <a:solidFill>
                        <a:srgbClr val="E3E7EE"/>
                      </a:solidFill>
                      <a:prstDash val="solid"/>
                      <a:round/>
                      <a:headEnd type="none" w="med" len="med"/>
                      <a:tailEnd type="none" w="med" len="med"/>
                    </a:lnR>
                    <a:lnT w="9525" cap="flat" cmpd="sng" algn="ctr">
                      <a:solidFill>
                        <a:srgbClr val="E3E7EE"/>
                      </a:solidFill>
                      <a:prstDash val="solid"/>
                      <a:round/>
                      <a:headEnd type="none" w="med" len="med"/>
                      <a:tailEnd type="none" w="med" len="med"/>
                    </a:lnT>
                    <a:lnB w="9525" cap="flat" cmpd="sng" algn="ctr">
                      <a:solidFill>
                        <a:srgbClr val="E3E7EE"/>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2"/>
                          </a:solidFill>
                        </a:rPr>
                        <a:t>0.002 to 0.010</a:t>
                      </a:r>
                      <a:endParaRPr lang="en-US" sz="1200" dirty="0"/>
                    </a:p>
                  </a:txBody>
                  <a:tcPr marL="45720" marR="45720" marT="45720" marB="45720" anchor="ctr">
                    <a:lnL w="9525" cap="flat" cmpd="sng" algn="ctr">
                      <a:solidFill>
                        <a:srgbClr val="E3E7EE"/>
                      </a:solidFill>
                      <a:prstDash val="solid"/>
                      <a:round/>
                      <a:headEnd type="none" w="med" len="med"/>
                      <a:tailEnd type="none" w="med" len="med"/>
                    </a:lnL>
                    <a:lnR w="9525" cap="flat" cmpd="sng" algn="ctr">
                      <a:solidFill>
                        <a:srgbClr val="E3E7EE"/>
                      </a:solidFill>
                      <a:prstDash val="solid"/>
                      <a:round/>
                      <a:headEnd type="none" w="med" len="med"/>
                      <a:tailEnd type="none" w="med" len="med"/>
                    </a:lnR>
                    <a:lnT w="9525" cap="flat" cmpd="sng" algn="ctr">
                      <a:solidFill>
                        <a:srgbClr val="E3E7EE"/>
                      </a:solidFill>
                      <a:prstDash val="solid"/>
                      <a:round/>
                      <a:headEnd type="none" w="med" len="med"/>
                      <a:tailEnd type="none" w="med" len="med"/>
                    </a:lnT>
                    <a:lnB w="9525" cap="flat" cmpd="sng" algn="ctr">
                      <a:solidFill>
                        <a:srgbClr val="E3E7EE"/>
                      </a:solidFill>
                      <a:prstDash val="solid"/>
                      <a:round/>
                      <a:headEnd type="none" w="med" len="med"/>
                      <a:tailEnd type="none" w="med" len="med"/>
                    </a:lnB>
                    <a:solidFill>
                      <a:schemeClr val="bg1"/>
                    </a:solidFill>
                  </a:tcPr>
                </a:tc>
              </a:tr>
            </a:tbl>
          </a:graphicData>
        </a:graphic>
      </p:graphicFrame>
      <p:sp>
        <p:nvSpPr>
          <p:cNvPr id="14" name="Text 10"/>
          <p:cNvSpPr txBox="1"/>
          <p:nvPr/>
        </p:nvSpPr>
        <p:spPr>
          <a:xfrm>
            <a:off x="4539996" y="4297680"/>
            <a:ext cx="3108960" cy="502920"/>
          </a:xfrm>
          <a:prstGeom prst="rect">
            <a:avLst/>
          </a:prstGeom>
          <a:noFill/>
          <a:ln/>
        </p:spPr>
        <p:txBody>
          <a:bodyPr wrap="square" lIns="0" tIns="0" rIns="0" bIns="0" rtlCol="0" anchor="t"/>
          <a:lstStyle/>
          <a:p>
            <a:pPr indent="0" marL="0">
              <a:buNone/>
            </a:pPr>
            <a:r>
              <a:rPr lang="en-US" sz="1200" dirty="0">
                <a:solidFill>
                  <a:schemeClr val="accent4"/>
                </a:solidFill>
              </a:rPr>
              <a:t>Speed per 200 events on one CPU thread; 8-bit loss is significant (p ≤ 0.006).</a:t>
            </a:r>
            <a:endParaRPr lang="en-US" sz="1200" dirty="0"/>
          </a:p>
        </p:txBody>
      </p:sp>
      <p:sp>
        <p:nvSpPr>
          <p:cNvPr id="15" name="Text 11"/>
          <p:cNvSpPr txBox="1"/>
          <p:nvPr/>
        </p:nvSpPr>
        <p:spPr>
          <a:xfrm>
            <a:off x="4539996" y="4892040"/>
            <a:ext cx="3108960" cy="1280160"/>
          </a:xfrm>
          <a:prstGeom prst="rect">
            <a:avLst/>
          </a:prstGeom>
          <a:noFill/>
          <a:ln/>
        </p:spPr>
        <p:txBody>
          <a:bodyPr wrap="square" lIns="0" tIns="0" rIns="0" bIns="0" rtlCol="0" anchor="t"/>
          <a:lstStyle/>
          <a:p>
            <a:pPr indent="0" marL="0">
              <a:buNone/>
            </a:pPr>
            <a:r>
              <a:rPr lang="en-US" sz="1400" b="1" dirty="0">
                <a:solidFill>
                  <a:schemeClr val="accent1"/>
                </a:solidFill>
              </a:rPr>
              <a:t>Verdict: serve the full model. </a:t>
            </a:r>
            <a:pPr indent="0" marL="0">
              <a:buNone/>
            </a:pPr>
            <a:r>
              <a:rPr lang="en-US" sz="1400" dirty="0">
                <a:solidFill>
                  <a:schemeClr val="tx2"/>
                </a:solidFill>
              </a:rPr>
              <a:t>It scores an event in about 6 microseconds; a smaller file is not faster here.</a:t>
            </a:r>
            <a:endParaRPr lang="en-US" sz="1400" dirty="0"/>
          </a:p>
        </p:txBody>
      </p:sp>
      <p:sp>
        <p:nvSpPr>
          <p:cNvPr id="16" name="Text 12"/>
          <p:cNvSpPr txBox="1"/>
          <p:nvPr/>
        </p:nvSpPr>
        <p:spPr>
          <a:xfrm>
            <a:off x="8302752" y="1920240"/>
            <a:ext cx="3108960" cy="320040"/>
          </a:xfrm>
          <a:prstGeom prst="rect">
            <a:avLst/>
          </a:prstGeom>
          <a:noFill/>
          <a:ln/>
        </p:spPr>
        <p:txBody>
          <a:bodyPr wrap="square" lIns="0" tIns="0" rIns="0" bIns="0" rtlCol="0" anchor="t"/>
          <a:lstStyle/>
          <a:p>
            <a:pPr indent="0" marL="0">
              <a:buNone/>
            </a:pPr>
            <a:r>
              <a:rPr lang="en-US" sz="1800" b="1" dirty="0">
                <a:solidFill>
                  <a:schemeClr val="tx2"/>
                </a:solidFill>
              </a:rPr>
              <a:t>Dashboard</a:t>
            </a:r>
            <a:endParaRPr lang="en-US" sz="1800" dirty="0"/>
          </a:p>
        </p:txBody>
      </p:sp>
      <p:sp>
        <p:nvSpPr>
          <p:cNvPr id="17" name="Dashboard mock"/>
          <p:cNvSpPr/>
          <p:nvPr/>
        </p:nvSpPr>
        <p:spPr>
          <a:xfrm>
            <a:off x="8302752" y="2377440"/>
            <a:ext cx="3108960" cy="1965960"/>
          </a:xfrm>
          <a:prstGeom prst="roundRect">
            <a:avLst>
              <a:gd name="adj" fmla="val 2791"/>
            </a:avLst>
          </a:prstGeom>
          <a:solidFill>
            <a:schemeClr val="tx2"/>
          </a:solidFill>
          <a:ln/>
        </p:spPr>
      </p:sp>
      <p:sp>
        <p:nvSpPr>
          <p:cNvPr id="18" name="Text 14"/>
          <p:cNvSpPr txBox="1"/>
          <p:nvPr/>
        </p:nvSpPr>
        <p:spPr>
          <a:xfrm>
            <a:off x="8485632" y="2468880"/>
            <a:ext cx="2286000" cy="256032"/>
          </a:xfrm>
          <a:prstGeom prst="rect">
            <a:avLst/>
          </a:prstGeom>
          <a:noFill/>
          <a:ln/>
        </p:spPr>
        <p:txBody>
          <a:bodyPr wrap="square" lIns="0" tIns="0" rIns="0" bIns="0" rtlCol="0" anchor="t"/>
          <a:lstStyle/>
          <a:p>
            <a:pPr indent="0" marL="0">
              <a:buNone/>
            </a:pPr>
            <a:r>
              <a:rPr lang="en-US" sz="1200" b="1" dirty="0">
                <a:solidFill>
                  <a:schemeClr val="bg1"/>
                </a:solidFill>
              </a:rPr>
              <a:t>Who's at risk</a:t>
            </a:r>
            <a:endParaRPr lang="en-US" sz="1200" dirty="0"/>
          </a:p>
        </p:txBody>
      </p:sp>
      <p:sp>
        <p:nvSpPr>
          <p:cNvPr id="19" name="Mock bar"/>
          <p:cNvSpPr/>
          <p:nvPr/>
        </p:nvSpPr>
        <p:spPr>
          <a:xfrm>
            <a:off x="8485632" y="2788920"/>
            <a:ext cx="2606040" cy="137160"/>
          </a:xfrm>
          <a:prstGeom prst="roundRect">
            <a:avLst>
              <a:gd name="adj" fmla="val 26667"/>
            </a:avLst>
          </a:prstGeom>
          <a:solidFill>
            <a:schemeClr val="accent1"/>
          </a:solidFill>
          <a:ln/>
        </p:spPr>
      </p:sp>
      <p:sp>
        <p:nvSpPr>
          <p:cNvPr id="20" name="Mock bar"/>
          <p:cNvSpPr/>
          <p:nvPr/>
        </p:nvSpPr>
        <p:spPr>
          <a:xfrm>
            <a:off x="8485632" y="2999232"/>
            <a:ext cx="2171700" cy="137160"/>
          </a:xfrm>
          <a:prstGeom prst="roundRect">
            <a:avLst>
              <a:gd name="adj" fmla="val 26667"/>
            </a:avLst>
          </a:prstGeom>
          <a:solidFill>
            <a:schemeClr val="accent5"/>
          </a:solidFill>
          <a:ln/>
        </p:spPr>
      </p:sp>
      <p:sp>
        <p:nvSpPr>
          <p:cNvPr id="21" name="Mock bar"/>
          <p:cNvSpPr/>
          <p:nvPr/>
        </p:nvSpPr>
        <p:spPr>
          <a:xfrm>
            <a:off x="8485632" y="3209544"/>
            <a:ext cx="2084832" cy="137160"/>
          </a:xfrm>
          <a:prstGeom prst="roundRect">
            <a:avLst>
              <a:gd name="adj" fmla="val 26667"/>
            </a:avLst>
          </a:prstGeom>
          <a:solidFill>
            <a:schemeClr val="accent5"/>
          </a:solidFill>
          <a:ln/>
        </p:spPr>
      </p:sp>
      <p:sp>
        <p:nvSpPr>
          <p:cNvPr id="22" name="Mock bar"/>
          <p:cNvSpPr/>
          <p:nvPr/>
        </p:nvSpPr>
        <p:spPr>
          <a:xfrm>
            <a:off x="8485632" y="3419856"/>
            <a:ext cx="1911096" cy="137160"/>
          </a:xfrm>
          <a:prstGeom prst="roundRect">
            <a:avLst>
              <a:gd name="adj" fmla="val 26667"/>
            </a:avLst>
          </a:prstGeom>
          <a:solidFill>
            <a:schemeClr val="accent5"/>
          </a:solidFill>
          <a:ln/>
        </p:spPr>
      </p:sp>
      <p:sp>
        <p:nvSpPr>
          <p:cNvPr id="23" name="Mock bar"/>
          <p:cNvSpPr/>
          <p:nvPr/>
        </p:nvSpPr>
        <p:spPr>
          <a:xfrm>
            <a:off x="8485632" y="3630168"/>
            <a:ext cx="1650492" cy="137160"/>
          </a:xfrm>
          <a:prstGeom prst="roundRect">
            <a:avLst>
              <a:gd name="adj" fmla="val 26667"/>
            </a:avLst>
          </a:prstGeom>
          <a:solidFill>
            <a:schemeClr val="accent5"/>
          </a:solidFill>
          <a:ln/>
        </p:spPr>
      </p:sp>
      <p:sp>
        <p:nvSpPr>
          <p:cNvPr id="24" name="Mock bar"/>
          <p:cNvSpPr/>
          <p:nvPr/>
        </p:nvSpPr>
        <p:spPr>
          <a:xfrm>
            <a:off x="8485632" y="3840480"/>
            <a:ext cx="1476756" cy="137160"/>
          </a:xfrm>
          <a:prstGeom prst="roundRect">
            <a:avLst>
              <a:gd name="adj" fmla="val 26667"/>
            </a:avLst>
          </a:prstGeom>
          <a:solidFill>
            <a:schemeClr val="accent5"/>
          </a:solidFill>
          <a:ln/>
        </p:spPr>
      </p:sp>
      <p:sp>
        <p:nvSpPr>
          <p:cNvPr id="25" name="Mock bar"/>
          <p:cNvSpPr/>
          <p:nvPr/>
        </p:nvSpPr>
        <p:spPr>
          <a:xfrm>
            <a:off x="8485632" y="4050792"/>
            <a:ext cx="1216152" cy="137160"/>
          </a:xfrm>
          <a:prstGeom prst="roundRect">
            <a:avLst>
              <a:gd name="adj" fmla="val 26667"/>
            </a:avLst>
          </a:prstGeom>
          <a:solidFill>
            <a:schemeClr val="accent5"/>
          </a:solidFill>
          <a:ln/>
        </p:spPr>
      </p:sp>
      <p:sp>
        <p:nvSpPr>
          <p:cNvPr id="26" name="Text 22"/>
          <p:cNvSpPr txBox="1"/>
          <p:nvPr/>
        </p:nvSpPr>
        <p:spPr>
          <a:xfrm>
            <a:off x="8302752" y="4526280"/>
            <a:ext cx="3108960" cy="12344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Plain-language reasons for every alert</a:t>
            </a:r>
            <a:endParaRPr lang="en-US" sz="1400" dirty="0"/>
          </a:p>
          <a:p>
            <a:pPr marL="342900" indent="-342900">
              <a:spcAft>
                <a:spcPts val="600"/>
              </a:spcAft>
              <a:buSzPct val="100000"/>
              <a:buChar char="•"/>
            </a:pPr>
            <a:r>
              <a:rPr lang="en-US" sz="1400" dirty="0">
                <a:solidFill>
                  <a:schemeClr val="tx2"/>
                </a:solidFill>
              </a:rPr>
              <a:t>Replay of nine past crises</a:t>
            </a:r>
            <a:endParaRPr lang="en-US" sz="1400" dirty="0"/>
          </a:p>
          <a:p>
            <a:pPr marL="342900" indent="-342900">
              <a:spcAft>
                <a:spcPts val="600"/>
              </a:spcAft>
              <a:buSzPct val="100000"/>
              <a:buChar char="•"/>
            </a:pPr>
            <a:r>
              <a:rPr lang="en-US" sz="1400" dirty="0">
                <a:solidFill>
                  <a:schemeClr val="tx2"/>
                </a:solidFill>
              </a:rPr>
              <a:t>Market map of the coin network</a:t>
            </a:r>
            <a:endParaRPr lang="en-US" sz="1400" dirty="0"/>
          </a:p>
          <a:p>
            <a:pPr marL="342900" indent="-342900">
              <a:spcAft>
                <a:spcPts val="600"/>
              </a:spcAft>
              <a:buSzPct val="100000"/>
              <a:buChar char="•"/>
            </a:pPr>
            <a:r>
              <a:rPr lang="en-US" sz="1400" dirty="0">
                <a:solidFill>
                  <a:schemeClr val="tx2"/>
                </a:solidFill>
              </a:rPr>
              <a:t>What-if: shock a coin, see it spread</a:t>
            </a:r>
            <a:endParaRPr lang="en-US" sz="1400" dirty="0"/>
          </a:p>
        </p:txBody>
      </p:sp>
      <p:sp>
        <p:nvSpPr>
          <p:cNvPr id="27" name="Text 23"/>
          <p:cNvSpPr txBox="1"/>
          <p:nvPr/>
        </p:nvSpPr>
        <p:spPr>
          <a:xfrm>
            <a:off x="8302752" y="5791200"/>
            <a:ext cx="3108960" cy="457200"/>
          </a:xfrm>
          <a:prstGeom prst="rect">
            <a:avLst/>
          </a:prstGeom>
          <a:noFill/>
          <a:ln/>
        </p:spPr>
        <p:txBody>
          <a:bodyPr wrap="square" lIns="0" tIns="0" rIns="0" bIns="0" rtlCol="0" anchor="t"/>
          <a:lstStyle/>
          <a:p>
            <a:pPr indent="0" marL="0">
              <a:buNone/>
            </a:pPr>
            <a:r>
              <a:rPr lang="en-US" sz="1200" i="1" dirty="0">
                <a:solidFill>
                  <a:schemeClr val="accent4"/>
                </a:solidFill>
              </a:rPr>
              <a:t>Tabs: Who's at risk · Why · What if? · Past crises · Market map · How it works</a:t>
            </a:r>
            <a:endParaRPr lang="en-US" sz="1200" dirty="0"/>
          </a:p>
        </p:txBody>
      </p:sp>
      <p:sp>
        <p:nvSpPr>
          <p:cNvPr id="25" name="Slide Number Placeholder 0"/>
          <p:cNvSpPr>
            <a:spLocks noGrp="1"/>
          </p:cNvSpPr>
          <p:nvPr>
            <p:ph type="sldNum" sz="quarter" idx="4294967295"/>
          </p:nvPr>
        </p:nvSpPr>
        <p:spPr>
          <a:xfrm>
            <a:off x="11094415" y="6437376"/>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31520"/>
          </a:xfrm>
          <a:prstGeom prst="rect">
            <a:avLst/>
          </a:prstGeom>
          <a:noFill/>
          <a:ln/>
        </p:spPr>
        <p:txBody>
          <a:bodyPr wrap="square" lIns="0" tIns="0" rIns="0" bIns="0" rtlCol="0" anchor="ctr"/>
          <a:lstStyle/>
          <a:p>
            <a:pPr algn="l" indent="0" marL="0">
              <a:buNone/>
            </a:pPr>
            <a:r>
              <a:rPr lang="en-US" sz="3400" b="1" dirty="0">
                <a:solidFill>
                  <a:schemeClr val="tx2"/>
                </a:solidFill>
              </a:rPr>
              <a:t>Replaying real crises</a:t>
            </a:r>
            <a:endParaRPr lang="en-US" sz="3400" dirty="0"/>
          </a:p>
        </p:txBody>
      </p:sp>
      <p:sp>
        <p:nvSpPr>
          <p:cNvPr id="3" name="Text 0"/>
          <p:cNvSpPr/>
          <p:nvPr>
            <p:ph idx="101" type="body" hasCustomPrompt="1"/>
          </p:nvPr>
        </p:nvSpPr>
        <p:spPr>
          <a:xfrm>
            <a:off x="548640" y="1097280"/>
            <a:ext cx="11094415" cy="457200"/>
          </a:xfrm>
          <a:prstGeom prst="rect">
            <a:avLst/>
          </a:prstGeom>
          <a:noFill/>
          <a:ln/>
        </p:spPr>
        <p:txBody>
          <a:bodyPr wrap="square" lIns="0" tIns="0" rIns="0" bIns="0" rtlCol="0" anchor="t"/>
          <a:lstStyle/>
          <a:p>
            <a:pPr algn="l" indent="0" marL="0">
              <a:buNone/>
            </a:pPr>
            <a:r>
              <a:rPr lang="en-US" sz="1700" dirty="0">
                <a:solidFill>
                  <a:schemeClr val="accent4"/>
                </a:solidFill>
              </a:rPr>
              <a:t>Did the model's five riskiest coins shock within 6 hours? Compared with picking five at random</a:t>
            </a:r>
            <a:endParaRPr lang="en-US" sz="1700" dirty="0"/>
          </a:p>
        </p:txBody>
      </p:sp>
      <p:graphicFrame>
        <p:nvGraphicFramePr>
          <p:cNvPr id="5" name="Chart 0" descr=""/>
          <p:cNvGraphicFramePr/>
          <p:nvPr/>
        </p:nvGraphicFramePr>
        <p:xfrm>
          <a:off x="548640" y="1737360"/>
          <a:ext cx="7498080" cy="397764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5852160"/>
            <a:ext cx="7498080" cy="365760"/>
          </a:xfrm>
          <a:prstGeom prst="rect">
            <a:avLst/>
          </a:prstGeom>
          <a:noFill/>
          <a:ln/>
        </p:spPr>
        <p:txBody>
          <a:bodyPr wrap="square" lIns="0" tIns="0" rIns="0" bIns="0" rtlCol="0" anchor="t"/>
          <a:lstStyle/>
          <a:p>
            <a:pPr indent="0" marL="0">
              <a:buNone/>
            </a:pPr>
            <a:r>
              <a:rPr lang="en-US" sz="1400" b="1" dirty="0">
                <a:solidFill>
                  <a:schemeClr val="accent6"/>
                </a:solidFill>
              </a:rPr>
              <a:t>Training: </a:t>
            </a:r>
            <a:pPr indent="0" marL="0">
              <a:buNone/>
            </a:pPr>
            <a:r>
              <a:rPr lang="en-US" sz="1400" dirty="0">
                <a:solidFill>
                  <a:schemeClr val="tx2"/>
                </a:solidFill>
              </a:rPr>
              <a:t>COVID to Celsius     </a:t>
            </a:r>
            <a:pPr indent="0" marL="0">
              <a:buNone/>
            </a:pPr>
            <a:r>
              <a:rPr lang="en-US" sz="1400" b="1" dirty="0">
                <a:solidFill>
                  <a:schemeClr val="accent2"/>
                </a:solidFill>
              </a:rPr>
              <a:t>Validation: </a:t>
            </a:r>
            <a:pPr indent="0" marL="0">
              <a:buNone/>
            </a:pPr>
            <a:r>
              <a:rPr lang="en-US" sz="1400" dirty="0">
                <a:solidFill>
                  <a:schemeClr val="tx2"/>
                </a:solidFill>
              </a:rPr>
              <a:t>FTX, SVB     </a:t>
            </a:r>
            <a:pPr indent="0" marL="0">
              <a:buNone/>
            </a:pPr>
            <a:r>
              <a:rPr lang="en-US" sz="1400" b="1" dirty="0">
                <a:solidFill>
                  <a:schemeClr val="accent1"/>
                </a:solidFill>
              </a:rPr>
              <a:t>Test: </a:t>
            </a:r>
            <a:pPr indent="0" marL="0">
              <a:buNone/>
            </a:pPr>
            <a:r>
              <a:rPr lang="en-US" sz="1400" dirty="0">
                <a:solidFill>
                  <a:schemeClr val="tx2"/>
                </a:solidFill>
              </a:rPr>
              <a:t>BTC ETF, Yen, Oct-10</a:t>
            </a:r>
            <a:endParaRPr lang="en-US" sz="1400" dirty="0"/>
          </a:p>
        </p:txBody>
      </p:sp>
      <p:sp>
        <p:nvSpPr>
          <p:cNvPr id="7" name="Text 3"/>
          <p:cNvSpPr txBox="1"/>
          <p:nvPr/>
        </p:nvSpPr>
        <p:spPr>
          <a:xfrm>
            <a:off x="8321040" y="1783080"/>
            <a:ext cx="3291840" cy="320040"/>
          </a:xfrm>
          <a:prstGeom prst="rect">
            <a:avLst/>
          </a:prstGeom>
          <a:noFill/>
          <a:ln/>
        </p:spPr>
        <p:txBody>
          <a:bodyPr wrap="square" lIns="0" tIns="0" rIns="0" bIns="0" rtlCol="0" anchor="t"/>
          <a:lstStyle/>
          <a:p>
            <a:pPr indent="0" marL="0">
              <a:buNone/>
            </a:pPr>
            <a:r>
              <a:rPr lang="en-US" sz="1800" b="1" dirty="0">
                <a:solidFill>
                  <a:schemeClr val="tx2"/>
                </a:solidFill>
              </a:rPr>
              <a:t>Reading this fairly</a:t>
            </a:r>
            <a:endParaRPr lang="en-US" sz="1800" dirty="0"/>
          </a:p>
        </p:txBody>
      </p:sp>
      <p:sp>
        <p:nvSpPr>
          <p:cNvPr id="8" name="Reading card"/>
          <p:cNvSpPr/>
          <p:nvPr/>
        </p:nvSpPr>
        <p:spPr>
          <a:xfrm>
            <a:off x="8321040" y="2240280"/>
            <a:ext cx="3319272" cy="1188720"/>
          </a:xfrm>
          <a:prstGeom prst="roundRect">
            <a:avLst>
              <a:gd name="adj" fmla="val 7692"/>
            </a:avLst>
          </a:prstGeom>
          <a:solidFill>
            <a:schemeClr val="bg2"/>
          </a:solidFill>
          <a:ln/>
        </p:spPr>
      </p:sp>
      <p:sp>
        <p:nvSpPr>
          <p:cNvPr id="9" name="Text 5"/>
          <p:cNvSpPr txBox="1"/>
          <p:nvPr/>
        </p:nvSpPr>
        <p:spPr>
          <a:xfrm>
            <a:off x="8503920" y="2350008"/>
            <a:ext cx="2971800" cy="274320"/>
          </a:xfrm>
          <a:prstGeom prst="rect">
            <a:avLst/>
          </a:prstGeom>
          <a:noFill/>
          <a:ln/>
        </p:spPr>
        <p:txBody>
          <a:bodyPr wrap="square" lIns="0" tIns="0" rIns="0" bIns="0" rtlCol="0" anchor="t"/>
          <a:lstStyle/>
          <a:p>
            <a:pPr indent="0" marL="0">
              <a:buNone/>
            </a:pPr>
            <a:r>
              <a:rPr lang="en-US" sz="1500" b="1" dirty="0">
                <a:solidFill>
                  <a:schemeClr val="accent1"/>
                </a:solidFill>
              </a:rPr>
              <a:t>FTX, Yen, Oct-10</a:t>
            </a:r>
            <a:endParaRPr lang="en-US" sz="1500" dirty="0"/>
          </a:p>
        </p:txBody>
      </p:sp>
      <p:sp>
        <p:nvSpPr>
          <p:cNvPr id="10" name="Text 6"/>
          <p:cNvSpPr txBox="1"/>
          <p:nvPr/>
        </p:nvSpPr>
        <p:spPr>
          <a:xfrm>
            <a:off x="8503920" y="2660904"/>
            <a:ext cx="2971800" cy="731520"/>
          </a:xfrm>
          <a:prstGeom prst="rect">
            <a:avLst/>
          </a:prstGeom>
          <a:noFill/>
          <a:ln/>
        </p:spPr>
        <p:txBody>
          <a:bodyPr wrap="square" lIns="0" tIns="0" rIns="0" bIns="0" rtlCol="0" anchor="t"/>
          <a:lstStyle/>
          <a:p>
            <a:pPr indent="0" marL="0">
              <a:buNone/>
            </a:pPr>
            <a:r>
              <a:rPr lang="en-US" sz="1400" dirty="0">
                <a:solidFill>
                  <a:schemeClr val="tx2"/>
                </a:solidFill>
              </a:rPr>
              <a:t>Every coin shocked, so any pick is right: 5 of 5 equals chance.</a:t>
            </a:r>
            <a:endParaRPr lang="en-US" sz="1400" dirty="0"/>
          </a:p>
        </p:txBody>
      </p:sp>
      <p:sp>
        <p:nvSpPr>
          <p:cNvPr id="11" name="Reading card"/>
          <p:cNvSpPr/>
          <p:nvPr/>
        </p:nvSpPr>
        <p:spPr>
          <a:xfrm>
            <a:off x="8321040" y="3566160"/>
            <a:ext cx="3319272" cy="1188720"/>
          </a:xfrm>
          <a:prstGeom prst="roundRect">
            <a:avLst>
              <a:gd name="adj" fmla="val 7692"/>
            </a:avLst>
          </a:prstGeom>
          <a:solidFill>
            <a:schemeClr val="bg2"/>
          </a:solidFill>
          <a:ln/>
        </p:spPr>
      </p:sp>
      <p:sp>
        <p:nvSpPr>
          <p:cNvPr id="12" name="Text 8"/>
          <p:cNvSpPr txBox="1"/>
          <p:nvPr/>
        </p:nvSpPr>
        <p:spPr>
          <a:xfrm>
            <a:off x="8503920" y="3675888"/>
            <a:ext cx="2971800" cy="274320"/>
          </a:xfrm>
          <a:prstGeom prst="rect">
            <a:avLst/>
          </a:prstGeom>
          <a:noFill/>
          <a:ln/>
        </p:spPr>
        <p:txBody>
          <a:bodyPr wrap="square" lIns="0" tIns="0" rIns="0" bIns="0" rtlCol="0" anchor="t"/>
          <a:lstStyle/>
          <a:p>
            <a:pPr indent="0" marL="0">
              <a:buNone/>
            </a:pPr>
            <a:r>
              <a:rPr lang="en-US" sz="1500" b="1" dirty="0">
                <a:solidFill>
                  <a:schemeClr val="accent1"/>
                </a:solidFill>
              </a:rPr>
              <a:t>BTC ETF approval (test)</a:t>
            </a:r>
            <a:endParaRPr lang="en-US" sz="1500" dirty="0"/>
          </a:p>
        </p:txBody>
      </p:sp>
      <p:sp>
        <p:nvSpPr>
          <p:cNvPr id="13" name="Text 9"/>
          <p:cNvSpPr txBox="1"/>
          <p:nvPr/>
        </p:nvSpPr>
        <p:spPr>
          <a:xfrm>
            <a:off x="8503920" y="3986784"/>
            <a:ext cx="2971800" cy="731520"/>
          </a:xfrm>
          <a:prstGeom prst="rect">
            <a:avLst/>
          </a:prstGeom>
          <a:noFill/>
          <a:ln/>
        </p:spPr>
        <p:txBody>
          <a:bodyPr wrap="square" lIns="0" tIns="0" rIns="0" bIns="0" rtlCol="0" anchor="t"/>
          <a:lstStyle/>
          <a:p>
            <a:pPr indent="0" marL="0">
              <a:buNone/>
            </a:pPr>
            <a:r>
              <a:rPr lang="en-US" sz="1400" dirty="0">
                <a:solidFill>
                  <a:schemeClr val="tx2"/>
                </a:solidFill>
              </a:rPr>
              <a:t>3 of 5 against 1.6 by chance: the one clean test win.</a:t>
            </a:r>
            <a:endParaRPr lang="en-US" sz="1400" dirty="0"/>
          </a:p>
        </p:txBody>
      </p:sp>
      <p:sp>
        <p:nvSpPr>
          <p:cNvPr id="14" name="Reading card"/>
          <p:cNvSpPr/>
          <p:nvPr/>
        </p:nvSpPr>
        <p:spPr>
          <a:xfrm>
            <a:off x="8321040" y="4892040"/>
            <a:ext cx="3319272" cy="1188720"/>
          </a:xfrm>
          <a:prstGeom prst="roundRect">
            <a:avLst>
              <a:gd name="adj" fmla="val 7692"/>
            </a:avLst>
          </a:prstGeom>
          <a:solidFill>
            <a:schemeClr val="bg2"/>
          </a:solidFill>
          <a:ln/>
        </p:spPr>
      </p:sp>
      <p:sp>
        <p:nvSpPr>
          <p:cNvPr id="15" name="Text 11"/>
          <p:cNvSpPr txBox="1"/>
          <p:nvPr/>
        </p:nvSpPr>
        <p:spPr>
          <a:xfrm>
            <a:off x="8503920" y="5001768"/>
            <a:ext cx="2971800" cy="274320"/>
          </a:xfrm>
          <a:prstGeom prst="rect">
            <a:avLst/>
          </a:prstGeom>
          <a:noFill/>
          <a:ln/>
        </p:spPr>
        <p:txBody>
          <a:bodyPr wrap="square" lIns="0" tIns="0" rIns="0" bIns="0" rtlCol="0" anchor="t"/>
          <a:lstStyle/>
          <a:p>
            <a:pPr indent="0" marL="0">
              <a:buNone/>
            </a:pPr>
            <a:r>
              <a:rPr lang="en-US" sz="1500" b="1" dirty="0">
                <a:solidFill>
                  <a:schemeClr val="accent1"/>
                </a:solidFill>
              </a:rPr>
              <a:t>Thin evidence</a:t>
            </a:r>
            <a:endParaRPr lang="en-US" sz="1500" dirty="0"/>
          </a:p>
        </p:txBody>
      </p:sp>
      <p:sp>
        <p:nvSpPr>
          <p:cNvPr id="16" name="Text 12"/>
          <p:cNvSpPr txBox="1"/>
          <p:nvPr/>
        </p:nvSpPr>
        <p:spPr>
          <a:xfrm>
            <a:off x="8503920" y="5312664"/>
            <a:ext cx="2971800" cy="731520"/>
          </a:xfrm>
          <a:prstGeom prst="rect">
            <a:avLst/>
          </a:prstGeom>
          <a:noFill/>
          <a:ln/>
        </p:spPr>
        <p:txBody>
          <a:bodyPr wrap="square" lIns="0" tIns="0" rIns="0" bIns="0" rtlCol="0" anchor="t"/>
          <a:lstStyle/>
          <a:p>
            <a:pPr indent="0" marL="0">
              <a:buNone/>
            </a:pPr>
            <a:r>
              <a:rPr lang="en-US" sz="1400" dirty="0">
                <a:solidFill>
                  <a:schemeClr val="tx2"/>
                </a:solidFill>
              </a:rPr>
              <a:t>Only three crises lie in the test period.</a:t>
            </a:r>
            <a:endParaRPr lang="en-US" sz="1400" dirty="0"/>
          </a:p>
        </p:txBody>
      </p:sp>
      <p:sp>
        <p:nvSpPr>
          <p:cNvPr id="25" name="Slide Number Placeholder 0"/>
          <p:cNvSpPr>
            <a:spLocks noGrp="1"/>
          </p:cNvSpPr>
          <p:nvPr>
            <p:ph type="sldNum" sz="quarter" idx="4294967295"/>
          </p:nvPr>
        </p:nvSpPr>
        <p:spPr>
          <a:xfrm>
            <a:off x="11094415" y="6437376"/>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31520"/>
          </a:xfrm>
          <a:prstGeom prst="rect">
            <a:avLst/>
          </a:prstGeom>
          <a:noFill/>
          <a:ln/>
        </p:spPr>
        <p:txBody>
          <a:bodyPr wrap="square" lIns="0" tIns="0" rIns="0" bIns="0" rtlCol="0" anchor="ctr"/>
          <a:lstStyle/>
          <a:p>
            <a:pPr algn="l" indent="0" marL="0">
              <a:buNone/>
            </a:pPr>
            <a:r>
              <a:rPr lang="en-US" sz="3400" b="1" dirty="0">
                <a:solidFill>
                  <a:schemeClr val="tx2"/>
                </a:solidFill>
              </a:rPr>
              <a:t>Built to be trusted and reproduced</a:t>
            </a:r>
            <a:endParaRPr lang="en-US" sz="3400" dirty="0"/>
          </a:p>
        </p:txBody>
      </p:sp>
      <p:sp>
        <p:nvSpPr>
          <p:cNvPr id="3" name="Text 0"/>
          <p:cNvSpPr/>
          <p:nvPr>
            <p:ph idx="101" type="body" hasCustomPrompt="1"/>
          </p:nvPr>
        </p:nvSpPr>
        <p:spPr>
          <a:xfrm>
            <a:off x="548640" y="1097280"/>
            <a:ext cx="11094415" cy="457200"/>
          </a:xfrm>
          <a:prstGeom prst="rect">
            <a:avLst/>
          </a:prstGeom>
          <a:noFill/>
          <a:ln/>
        </p:spPr>
        <p:txBody>
          <a:bodyPr wrap="square" lIns="0" tIns="0" rIns="0" bIns="0" rtlCol="0" anchor="t"/>
          <a:lstStyle/>
          <a:p>
            <a:pPr algn="l" indent="0" marL="0">
              <a:buNone/>
            </a:pPr>
            <a:r>
              <a:rPr lang="en-US" sz="1700" dirty="0">
                <a:solidFill>
                  <a:schemeClr val="accent4"/>
                </a:solidFill>
              </a:rPr>
              <a:t>Every number in this talk traces to a recorded run</a:t>
            </a:r>
            <a:endParaRPr lang="en-US" sz="1700" dirty="0"/>
          </a:p>
        </p:txBody>
      </p:sp>
      <p:sp>
        <p:nvSpPr>
          <p:cNvPr id="5" name="Rigour card"/>
          <p:cNvSpPr/>
          <p:nvPr/>
        </p:nvSpPr>
        <p:spPr>
          <a:xfrm>
            <a:off x="548640" y="1783080"/>
            <a:ext cx="3566160" cy="2103120"/>
          </a:xfrm>
          <a:prstGeom prst="roundRect">
            <a:avLst>
              <a:gd name="adj" fmla="val 4348"/>
            </a:avLst>
          </a:prstGeom>
          <a:solidFill>
            <a:schemeClr val="bg2"/>
          </a:solidFill>
          <a:ln/>
        </p:spPr>
      </p:sp>
      <p:sp>
        <p:nvSpPr>
          <p:cNvPr id="6" name="Text 3"/>
          <p:cNvSpPr txBox="1"/>
          <p:nvPr/>
        </p:nvSpPr>
        <p:spPr>
          <a:xfrm>
            <a:off x="777240" y="1920240"/>
            <a:ext cx="3108960" cy="640080"/>
          </a:xfrm>
          <a:prstGeom prst="rect">
            <a:avLst/>
          </a:prstGeom>
          <a:noFill/>
          <a:ln/>
        </p:spPr>
        <p:txBody>
          <a:bodyPr wrap="square" lIns="0" tIns="0" rIns="0" bIns="0" rtlCol="0" anchor="ctr"/>
          <a:lstStyle/>
          <a:p>
            <a:pPr indent="0" marL="0">
              <a:buNone/>
            </a:pPr>
            <a:r>
              <a:rPr lang="en-US" sz="3200" b="1" dirty="0">
                <a:solidFill>
                  <a:schemeClr val="accent1"/>
                </a:solidFill>
                <a:latin typeface="+mj-lt" pitchFamily="34" charset="0"/>
                <a:ea typeface="+mj-lt" pitchFamily="34" charset="-122"/>
                <a:cs typeface="+mj-lt" pitchFamily="34" charset="-120"/>
              </a:rPr>
              <a:t>208</a:t>
            </a:r>
            <a:endParaRPr lang="en-US" sz="3200" dirty="0"/>
          </a:p>
        </p:txBody>
      </p:sp>
      <p:sp>
        <p:nvSpPr>
          <p:cNvPr id="7" name="Text 4"/>
          <p:cNvSpPr txBox="1"/>
          <p:nvPr/>
        </p:nvSpPr>
        <p:spPr>
          <a:xfrm>
            <a:off x="777240" y="2606040"/>
            <a:ext cx="3108960" cy="320040"/>
          </a:xfrm>
          <a:prstGeom prst="rect">
            <a:avLst/>
          </a:prstGeom>
          <a:noFill/>
          <a:ln/>
        </p:spPr>
        <p:txBody>
          <a:bodyPr wrap="square" lIns="0" tIns="0" rIns="0" bIns="0" rtlCol="0" anchor="t"/>
          <a:lstStyle/>
          <a:p>
            <a:pPr indent="0" marL="0">
              <a:buNone/>
            </a:pPr>
            <a:r>
              <a:rPr lang="en-US" sz="1600" b="1" dirty="0">
                <a:solidFill>
                  <a:schemeClr val="tx2"/>
                </a:solidFill>
              </a:rPr>
              <a:t>automated tests</a:t>
            </a:r>
            <a:endParaRPr lang="en-US" sz="1600" dirty="0"/>
          </a:p>
        </p:txBody>
      </p:sp>
      <p:sp>
        <p:nvSpPr>
          <p:cNvPr id="8" name="Text 5"/>
          <p:cNvSpPr txBox="1"/>
          <p:nvPr/>
        </p:nvSpPr>
        <p:spPr>
          <a:xfrm>
            <a:off x="777240" y="2971800"/>
            <a:ext cx="3108960" cy="822960"/>
          </a:xfrm>
          <a:prstGeom prst="rect">
            <a:avLst/>
          </a:prstGeom>
          <a:noFill/>
          <a:ln/>
        </p:spPr>
        <p:txBody>
          <a:bodyPr wrap="square" lIns="0" tIns="0" rIns="0" bIns="0" rtlCol="0" anchor="t"/>
          <a:lstStyle/>
          <a:p>
            <a:pPr indent="0" marL="0">
              <a:buNone/>
            </a:pPr>
            <a:r>
              <a:rPr lang="en-US" sz="1400" dirty="0">
                <a:solidFill>
                  <a:schemeClr val="accent4"/>
                </a:solidFill>
              </a:rPr>
              <a:t>Run on GitHub on every push, with pinned library versions.</a:t>
            </a:r>
            <a:endParaRPr lang="en-US" sz="1400" dirty="0"/>
          </a:p>
        </p:txBody>
      </p:sp>
      <p:sp>
        <p:nvSpPr>
          <p:cNvPr id="9" name="Rigour card"/>
          <p:cNvSpPr/>
          <p:nvPr/>
        </p:nvSpPr>
        <p:spPr>
          <a:xfrm>
            <a:off x="4311396" y="1783080"/>
            <a:ext cx="3566160" cy="2103120"/>
          </a:xfrm>
          <a:prstGeom prst="roundRect">
            <a:avLst>
              <a:gd name="adj" fmla="val 4348"/>
            </a:avLst>
          </a:prstGeom>
          <a:solidFill>
            <a:schemeClr val="bg2"/>
          </a:solidFill>
          <a:ln/>
        </p:spPr>
      </p:sp>
      <p:sp>
        <p:nvSpPr>
          <p:cNvPr id="10" name="Text 7"/>
          <p:cNvSpPr txBox="1"/>
          <p:nvPr/>
        </p:nvSpPr>
        <p:spPr>
          <a:xfrm>
            <a:off x="4539996" y="1920240"/>
            <a:ext cx="3108960" cy="640080"/>
          </a:xfrm>
          <a:prstGeom prst="rect">
            <a:avLst/>
          </a:prstGeom>
          <a:noFill/>
          <a:ln/>
        </p:spPr>
        <p:txBody>
          <a:bodyPr wrap="square" lIns="0" tIns="0" rIns="0" bIns="0" rtlCol="0" anchor="ctr"/>
          <a:lstStyle/>
          <a:p>
            <a:pPr indent="0" marL="0">
              <a:buNone/>
            </a:pPr>
            <a:r>
              <a:rPr lang="en-US" sz="3200" b="1" dirty="0">
                <a:solidFill>
                  <a:schemeClr val="accent1"/>
                </a:solidFill>
                <a:latin typeface="+mj-lt" pitchFamily="34" charset="0"/>
                <a:ea typeface="+mj-lt" pitchFamily="34" charset="-122"/>
                <a:cs typeface="+mj-lt" pitchFamily="34" charset="-120"/>
              </a:rPr>
              <a:t>SHA-256</a:t>
            </a:r>
            <a:endParaRPr lang="en-US" sz="3200" dirty="0"/>
          </a:p>
        </p:txBody>
      </p:sp>
      <p:sp>
        <p:nvSpPr>
          <p:cNvPr id="11" name="Text 8"/>
          <p:cNvSpPr txBox="1"/>
          <p:nvPr/>
        </p:nvSpPr>
        <p:spPr>
          <a:xfrm>
            <a:off x="4539996" y="2606040"/>
            <a:ext cx="3108960" cy="320040"/>
          </a:xfrm>
          <a:prstGeom prst="rect">
            <a:avLst/>
          </a:prstGeom>
          <a:noFill/>
          <a:ln/>
        </p:spPr>
        <p:txBody>
          <a:bodyPr wrap="square" lIns="0" tIns="0" rIns="0" bIns="0" rtlCol="0" anchor="t"/>
          <a:lstStyle/>
          <a:p>
            <a:pPr indent="0" marL="0">
              <a:buNone/>
            </a:pPr>
            <a:r>
              <a:rPr lang="en-US" sz="1600" b="1" dirty="0">
                <a:solidFill>
                  <a:schemeClr val="tx2"/>
                </a:solidFill>
              </a:rPr>
              <a:t>on every data file</a:t>
            </a:r>
            <a:endParaRPr lang="en-US" sz="1600" dirty="0"/>
          </a:p>
        </p:txBody>
      </p:sp>
      <p:sp>
        <p:nvSpPr>
          <p:cNvPr id="12" name="Text 9"/>
          <p:cNvSpPr txBox="1"/>
          <p:nvPr/>
        </p:nvSpPr>
        <p:spPr>
          <a:xfrm>
            <a:off x="4539996" y="2971800"/>
            <a:ext cx="3108960" cy="822960"/>
          </a:xfrm>
          <a:prstGeom prst="rect">
            <a:avLst/>
          </a:prstGeom>
          <a:noFill/>
          <a:ln/>
        </p:spPr>
        <p:txBody>
          <a:bodyPr wrap="square" lIns="0" tIns="0" rIns="0" bIns="0" rtlCol="0" anchor="t"/>
          <a:lstStyle/>
          <a:p>
            <a:pPr indent="0" marL="0">
              <a:buNone/>
            </a:pPr>
            <a:r>
              <a:rPr lang="en-US" sz="1400" dirty="0">
                <a:solidFill>
                  <a:schemeClr val="accent4"/>
                </a:solidFill>
              </a:rPr>
              <a:t>Data is shared as a checksum-verified package and never stored in git.</a:t>
            </a:r>
            <a:endParaRPr lang="en-US" sz="1400" dirty="0"/>
          </a:p>
        </p:txBody>
      </p:sp>
      <p:sp>
        <p:nvSpPr>
          <p:cNvPr id="13" name="Rigour card"/>
          <p:cNvSpPr/>
          <p:nvPr/>
        </p:nvSpPr>
        <p:spPr>
          <a:xfrm>
            <a:off x="8074152" y="1783080"/>
            <a:ext cx="3566160" cy="2103120"/>
          </a:xfrm>
          <a:prstGeom prst="roundRect">
            <a:avLst>
              <a:gd name="adj" fmla="val 4348"/>
            </a:avLst>
          </a:prstGeom>
          <a:solidFill>
            <a:schemeClr val="bg2"/>
          </a:solidFill>
          <a:ln/>
        </p:spPr>
      </p:sp>
      <p:sp>
        <p:nvSpPr>
          <p:cNvPr id="14" name="Text 11"/>
          <p:cNvSpPr txBox="1"/>
          <p:nvPr/>
        </p:nvSpPr>
        <p:spPr>
          <a:xfrm>
            <a:off x="8302752" y="1920240"/>
            <a:ext cx="3108960" cy="640080"/>
          </a:xfrm>
          <a:prstGeom prst="rect">
            <a:avLst/>
          </a:prstGeom>
          <a:noFill/>
          <a:ln/>
        </p:spPr>
        <p:txBody>
          <a:bodyPr wrap="square" lIns="0" tIns="0" rIns="0" bIns="0" rtlCol="0" anchor="ctr"/>
          <a:lstStyle/>
          <a:p>
            <a:pPr indent="0" marL="0">
              <a:buNone/>
            </a:pPr>
            <a:r>
              <a:rPr lang="en-US" sz="3200" b="1" dirty="0">
                <a:solidFill>
                  <a:schemeClr val="accent1"/>
                </a:solidFill>
                <a:latin typeface="+mj-lt" pitchFamily="34" charset="0"/>
                <a:ea typeface="+mj-lt" pitchFamily="34" charset="-122"/>
                <a:cs typeface="+mj-lt" pitchFamily="34" charset="-120"/>
              </a:rPr>
              <a:t>Every run</a:t>
            </a:r>
            <a:endParaRPr lang="en-US" sz="3200" dirty="0"/>
          </a:p>
        </p:txBody>
      </p:sp>
      <p:sp>
        <p:nvSpPr>
          <p:cNvPr id="15" name="Text 12"/>
          <p:cNvSpPr txBox="1"/>
          <p:nvPr/>
        </p:nvSpPr>
        <p:spPr>
          <a:xfrm>
            <a:off x="8302752" y="2606040"/>
            <a:ext cx="3108960" cy="320040"/>
          </a:xfrm>
          <a:prstGeom prst="rect">
            <a:avLst/>
          </a:prstGeom>
          <a:noFill/>
          <a:ln/>
        </p:spPr>
        <p:txBody>
          <a:bodyPr wrap="square" lIns="0" tIns="0" rIns="0" bIns="0" rtlCol="0" anchor="t"/>
          <a:lstStyle/>
          <a:p>
            <a:pPr indent="0" marL="0">
              <a:buNone/>
            </a:pPr>
            <a:r>
              <a:rPr lang="en-US" sz="1600" b="1" dirty="0">
                <a:solidFill>
                  <a:schemeClr val="tx2"/>
                </a:solidFill>
              </a:rPr>
              <a:t>logged and reproducible</a:t>
            </a:r>
            <a:endParaRPr lang="en-US" sz="1600" dirty="0"/>
          </a:p>
        </p:txBody>
      </p:sp>
      <p:sp>
        <p:nvSpPr>
          <p:cNvPr id="16" name="Text 13"/>
          <p:cNvSpPr txBox="1"/>
          <p:nvPr/>
        </p:nvSpPr>
        <p:spPr>
          <a:xfrm>
            <a:off x="8302752" y="2971800"/>
            <a:ext cx="3108960" cy="822960"/>
          </a:xfrm>
          <a:prstGeom prst="rect">
            <a:avLst/>
          </a:prstGeom>
          <a:noFill/>
          <a:ln/>
        </p:spPr>
        <p:txBody>
          <a:bodyPr wrap="square" lIns="0" tIns="0" rIns="0" bIns="0" rtlCol="0" anchor="t"/>
          <a:lstStyle/>
          <a:p>
            <a:pPr indent="0" marL="0">
              <a:buNone/>
            </a:pPr>
            <a:r>
              <a:rPr lang="en-US" sz="1400" dirty="0">
                <a:solidFill>
                  <a:schemeClr val="accent4"/>
                </a:solidFill>
              </a:rPr>
              <a:t>Configuration, seed, git commit and library versions are recorded.</a:t>
            </a:r>
            <a:endParaRPr lang="en-US" sz="1400" dirty="0"/>
          </a:p>
        </p:txBody>
      </p:sp>
      <p:sp>
        <p:nvSpPr>
          <p:cNvPr id="17" name="Rigour card"/>
          <p:cNvSpPr/>
          <p:nvPr/>
        </p:nvSpPr>
        <p:spPr>
          <a:xfrm>
            <a:off x="548640" y="4069080"/>
            <a:ext cx="3566160" cy="2103120"/>
          </a:xfrm>
          <a:prstGeom prst="roundRect">
            <a:avLst>
              <a:gd name="adj" fmla="val 4348"/>
            </a:avLst>
          </a:prstGeom>
          <a:solidFill>
            <a:schemeClr val="bg2"/>
          </a:solidFill>
          <a:ln/>
        </p:spPr>
      </p:sp>
      <p:sp>
        <p:nvSpPr>
          <p:cNvPr id="18" name="Text 15"/>
          <p:cNvSpPr txBox="1"/>
          <p:nvPr/>
        </p:nvSpPr>
        <p:spPr>
          <a:xfrm>
            <a:off x="777240" y="4206240"/>
            <a:ext cx="3108960" cy="640080"/>
          </a:xfrm>
          <a:prstGeom prst="rect">
            <a:avLst/>
          </a:prstGeom>
          <a:noFill/>
          <a:ln/>
        </p:spPr>
        <p:txBody>
          <a:bodyPr wrap="square" lIns="0" tIns="0" rIns="0" bIns="0" rtlCol="0" anchor="ctr"/>
          <a:lstStyle/>
          <a:p>
            <a:pPr indent="0" marL="0">
              <a:buNone/>
            </a:pPr>
            <a:r>
              <a:rPr lang="en-US" sz="3200" b="1" dirty="0">
                <a:solidFill>
                  <a:schemeClr val="accent1"/>
                </a:solidFill>
                <a:latin typeface="+mj-lt" pitchFamily="34" charset="0"/>
                <a:ea typeface="+mj-lt" pitchFamily="34" charset="-122"/>
                <a:cs typeface="+mj-lt" pitchFamily="34" charset="-120"/>
              </a:rPr>
              <a:t>Once</a:t>
            </a:r>
            <a:endParaRPr lang="en-US" sz="3200" dirty="0"/>
          </a:p>
        </p:txBody>
      </p:sp>
      <p:sp>
        <p:nvSpPr>
          <p:cNvPr id="19" name="Text 16"/>
          <p:cNvSpPr txBox="1"/>
          <p:nvPr/>
        </p:nvSpPr>
        <p:spPr>
          <a:xfrm>
            <a:off x="777240" y="4892040"/>
            <a:ext cx="3108960" cy="320040"/>
          </a:xfrm>
          <a:prstGeom prst="rect">
            <a:avLst/>
          </a:prstGeom>
          <a:noFill/>
          <a:ln/>
        </p:spPr>
        <p:txBody>
          <a:bodyPr wrap="square" lIns="0" tIns="0" rIns="0" bIns="0" rtlCol="0" anchor="t"/>
          <a:lstStyle/>
          <a:p>
            <a:pPr indent="0" marL="0">
              <a:buNone/>
            </a:pPr>
            <a:r>
              <a:rPr lang="en-US" sz="1600" b="1" dirty="0">
                <a:solidFill>
                  <a:schemeClr val="tx2"/>
                </a:solidFill>
              </a:rPr>
              <a:t>test period scored</a:t>
            </a:r>
            <a:endParaRPr lang="en-US" sz="1600" dirty="0"/>
          </a:p>
        </p:txBody>
      </p:sp>
      <p:sp>
        <p:nvSpPr>
          <p:cNvPr id="20" name="Text 17"/>
          <p:cNvSpPr txBox="1"/>
          <p:nvPr/>
        </p:nvSpPr>
        <p:spPr>
          <a:xfrm>
            <a:off x="777240" y="5257800"/>
            <a:ext cx="3108960" cy="822960"/>
          </a:xfrm>
          <a:prstGeom prst="rect">
            <a:avLst/>
          </a:prstGeom>
          <a:noFill/>
          <a:ln/>
        </p:spPr>
        <p:txBody>
          <a:bodyPr wrap="square" lIns="0" tIns="0" rIns="0" bIns="0" rtlCol="0" anchor="t"/>
          <a:lstStyle/>
          <a:p>
            <a:pPr indent="0" marL="0">
              <a:buNone/>
            </a:pPr>
            <a:r>
              <a:rPr lang="en-US" sz="1400" dirty="0">
                <a:solidFill>
                  <a:schemeClr val="accent4"/>
                </a:solidFill>
              </a:rPr>
              <a:t>All tuning on validation data; every variant scored on test is listed.</a:t>
            </a:r>
            <a:endParaRPr lang="en-US" sz="1400" dirty="0"/>
          </a:p>
        </p:txBody>
      </p:sp>
      <p:sp>
        <p:nvSpPr>
          <p:cNvPr id="21" name="Rigour card"/>
          <p:cNvSpPr/>
          <p:nvPr/>
        </p:nvSpPr>
        <p:spPr>
          <a:xfrm>
            <a:off x="4311396" y="4069080"/>
            <a:ext cx="3566160" cy="2103120"/>
          </a:xfrm>
          <a:prstGeom prst="roundRect">
            <a:avLst>
              <a:gd name="adj" fmla="val 4348"/>
            </a:avLst>
          </a:prstGeom>
          <a:solidFill>
            <a:schemeClr val="bg2"/>
          </a:solidFill>
          <a:ln/>
        </p:spPr>
      </p:sp>
      <p:sp>
        <p:nvSpPr>
          <p:cNvPr id="22" name="Text 19"/>
          <p:cNvSpPr txBox="1"/>
          <p:nvPr/>
        </p:nvSpPr>
        <p:spPr>
          <a:xfrm>
            <a:off x="4539996" y="4206240"/>
            <a:ext cx="3108960" cy="640080"/>
          </a:xfrm>
          <a:prstGeom prst="rect">
            <a:avLst/>
          </a:prstGeom>
          <a:noFill/>
          <a:ln/>
        </p:spPr>
        <p:txBody>
          <a:bodyPr wrap="square" lIns="0" tIns="0" rIns="0" bIns="0" rtlCol="0" anchor="ctr"/>
          <a:lstStyle/>
          <a:p>
            <a:pPr indent="0" marL="0">
              <a:buNone/>
            </a:pPr>
            <a:r>
              <a:rPr lang="en-US" sz="3200" b="1" dirty="0">
                <a:solidFill>
                  <a:schemeClr val="accent1"/>
                </a:solidFill>
                <a:latin typeface="+mj-lt" pitchFamily="34" charset="0"/>
                <a:ea typeface="+mj-lt" pitchFamily="34" charset="-122"/>
                <a:cs typeface="+mj-lt" pitchFamily="34" charset="-120"/>
              </a:rPr>
              <a:t>No leaks</a:t>
            </a:r>
            <a:endParaRPr lang="en-US" sz="3200" dirty="0"/>
          </a:p>
        </p:txBody>
      </p:sp>
      <p:sp>
        <p:nvSpPr>
          <p:cNvPr id="23" name="Text 20"/>
          <p:cNvSpPr txBox="1"/>
          <p:nvPr/>
        </p:nvSpPr>
        <p:spPr>
          <a:xfrm>
            <a:off x="4539996" y="4892040"/>
            <a:ext cx="3108960" cy="320040"/>
          </a:xfrm>
          <a:prstGeom prst="rect">
            <a:avLst/>
          </a:prstGeom>
          <a:noFill/>
          <a:ln/>
        </p:spPr>
        <p:txBody>
          <a:bodyPr wrap="square" lIns="0" tIns="0" rIns="0" bIns="0" rtlCol="0" anchor="t"/>
          <a:lstStyle/>
          <a:p>
            <a:pPr indent="0" marL="0">
              <a:buNone/>
            </a:pPr>
            <a:r>
              <a:rPr lang="en-US" sz="1600" b="1" dirty="0">
                <a:solidFill>
                  <a:schemeClr val="tx2"/>
                </a:solidFill>
              </a:rPr>
              <a:t>enforced by tests</a:t>
            </a:r>
            <a:endParaRPr lang="en-US" sz="1600" dirty="0"/>
          </a:p>
        </p:txBody>
      </p:sp>
      <p:sp>
        <p:nvSpPr>
          <p:cNvPr id="24" name="Text 21"/>
          <p:cNvSpPr txBox="1"/>
          <p:nvPr/>
        </p:nvSpPr>
        <p:spPr>
          <a:xfrm>
            <a:off x="4539996" y="5257800"/>
            <a:ext cx="3108960" cy="822960"/>
          </a:xfrm>
          <a:prstGeom prst="rect">
            <a:avLst/>
          </a:prstGeom>
          <a:noFill/>
          <a:ln/>
        </p:spPr>
        <p:txBody>
          <a:bodyPr wrap="square" lIns="0" tIns="0" rIns="0" bIns="0" rtlCol="0" anchor="t"/>
          <a:lstStyle/>
          <a:p>
            <a:pPr indent="0" marL="0">
              <a:buNone/>
            </a:pPr>
            <a:r>
              <a:rPr lang="en-US" sz="1400" dirty="0">
                <a:solidFill>
                  <a:schemeClr val="accent4"/>
                </a:solidFill>
              </a:rPr>
              <a:t>Rules for labels, scalers and memory updates are checked automatically.</a:t>
            </a:r>
            <a:endParaRPr lang="en-US" sz="1400" dirty="0"/>
          </a:p>
        </p:txBody>
      </p:sp>
      <p:sp>
        <p:nvSpPr>
          <p:cNvPr id="25" name="Rigour card"/>
          <p:cNvSpPr/>
          <p:nvPr/>
        </p:nvSpPr>
        <p:spPr>
          <a:xfrm>
            <a:off x="8074152" y="4069080"/>
            <a:ext cx="3566160" cy="2103120"/>
          </a:xfrm>
          <a:prstGeom prst="roundRect">
            <a:avLst>
              <a:gd name="adj" fmla="val 4348"/>
            </a:avLst>
          </a:prstGeom>
          <a:solidFill>
            <a:schemeClr val="bg2"/>
          </a:solidFill>
          <a:ln/>
        </p:spPr>
      </p:sp>
      <p:sp>
        <p:nvSpPr>
          <p:cNvPr id="26" name="Text 23"/>
          <p:cNvSpPr txBox="1"/>
          <p:nvPr/>
        </p:nvSpPr>
        <p:spPr>
          <a:xfrm>
            <a:off x="8302752" y="4206240"/>
            <a:ext cx="3108960" cy="640080"/>
          </a:xfrm>
          <a:prstGeom prst="rect">
            <a:avLst/>
          </a:prstGeom>
          <a:noFill/>
          <a:ln/>
        </p:spPr>
        <p:txBody>
          <a:bodyPr wrap="square" lIns="0" tIns="0" rIns="0" bIns="0" rtlCol="0" anchor="ctr"/>
          <a:lstStyle/>
          <a:p>
            <a:pPr indent="0" marL="0">
              <a:buNone/>
            </a:pPr>
            <a:r>
              <a:rPr lang="en-US" sz="3200" b="1" dirty="0">
                <a:solidFill>
                  <a:schemeClr val="accent1"/>
                </a:solidFill>
                <a:latin typeface="+mj-lt" pitchFamily="34" charset="0"/>
                <a:ea typeface="+mj-lt" pitchFamily="34" charset="-122"/>
                <a:cs typeface="+mj-lt" pitchFamily="34" charset="-120"/>
              </a:rPr>
              <a:t>Rebuilt</a:t>
            </a:r>
            <a:endParaRPr lang="en-US" sz="3200" dirty="0"/>
          </a:p>
        </p:txBody>
      </p:sp>
      <p:sp>
        <p:nvSpPr>
          <p:cNvPr id="27" name="Text 24"/>
          <p:cNvSpPr txBox="1"/>
          <p:nvPr/>
        </p:nvSpPr>
        <p:spPr>
          <a:xfrm>
            <a:off x="8302752" y="4892040"/>
            <a:ext cx="3108960" cy="320040"/>
          </a:xfrm>
          <a:prstGeom prst="rect">
            <a:avLst/>
          </a:prstGeom>
          <a:noFill/>
          <a:ln/>
        </p:spPr>
        <p:txBody>
          <a:bodyPr wrap="square" lIns="0" tIns="0" rIns="0" bIns="0" rtlCol="0" anchor="t"/>
          <a:lstStyle/>
          <a:p>
            <a:pPr indent="0" marL="0">
              <a:buNone/>
            </a:pPr>
            <a:r>
              <a:rPr lang="en-US" sz="1600" b="1" dirty="0">
                <a:solidFill>
                  <a:schemeClr val="tx2"/>
                </a:solidFill>
              </a:rPr>
              <a:t>after an internal review</a:t>
            </a:r>
            <a:endParaRPr lang="en-US" sz="1600" dirty="0"/>
          </a:p>
        </p:txBody>
      </p:sp>
      <p:sp>
        <p:nvSpPr>
          <p:cNvPr id="28" name="Text 25"/>
          <p:cNvSpPr txBox="1"/>
          <p:nvPr/>
        </p:nvSpPr>
        <p:spPr>
          <a:xfrm>
            <a:off x="8302752" y="5257800"/>
            <a:ext cx="3108960" cy="822960"/>
          </a:xfrm>
          <a:prstGeom prst="rect">
            <a:avLst/>
          </a:prstGeom>
          <a:noFill/>
          <a:ln/>
        </p:spPr>
        <p:txBody>
          <a:bodyPr wrap="square" lIns="0" tIns="0" rIns="0" bIns="0" rtlCol="0" anchor="t"/>
          <a:lstStyle/>
          <a:p>
            <a:pPr indent="0" marL="0">
              <a:buNone/>
            </a:pPr>
            <a:r>
              <a:rPr lang="en-US" sz="1400" dirty="0">
                <a:solidFill>
                  <a:schemeClr val="accent4"/>
                </a:solidFill>
              </a:rPr>
              <a:t>A first version had a leaky label and a broken baseline; all results were re-run.</a:t>
            </a:r>
            <a:endParaRPr lang="en-US" sz="1400" dirty="0"/>
          </a:p>
        </p:txBody>
      </p:sp>
      <p:sp>
        <p:nvSpPr>
          <p:cNvPr id="25" name="Slide Number Placeholder 0"/>
          <p:cNvSpPr>
            <a:spLocks noGrp="1"/>
          </p:cNvSpPr>
          <p:nvPr>
            <p:ph type="sldNum" sz="quarter" idx="4294967295"/>
          </p:nvPr>
        </p:nvSpPr>
        <p:spPr>
          <a:xfrm>
            <a:off x="11094415" y="6437376"/>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31520"/>
          </a:xfrm>
          <a:prstGeom prst="rect">
            <a:avLst/>
          </a:prstGeom>
          <a:noFill/>
          <a:ln/>
        </p:spPr>
        <p:txBody>
          <a:bodyPr wrap="square" lIns="0" tIns="0" rIns="0" bIns="0" rtlCol="0" anchor="ctr"/>
          <a:lstStyle/>
          <a:p>
            <a:pPr algn="l" indent="0" marL="0">
              <a:buNone/>
            </a:pPr>
            <a:r>
              <a:rPr lang="en-US" sz="3400" b="1" dirty="0">
                <a:solidFill>
                  <a:schemeClr val="tx2"/>
                </a:solidFill>
              </a:rPr>
              <a:t>Limitations and next steps</a:t>
            </a:r>
            <a:endParaRPr lang="en-US" sz="3400" dirty="0"/>
          </a:p>
        </p:txBody>
      </p:sp>
      <p:sp>
        <p:nvSpPr>
          <p:cNvPr id="3" name="Text 0"/>
          <p:cNvSpPr/>
          <p:nvPr>
            <p:ph idx="101" type="body" hasCustomPrompt="1"/>
          </p:nvPr>
        </p:nvSpPr>
        <p:spPr>
          <a:xfrm>
            <a:off x="548640" y="1097280"/>
            <a:ext cx="11094415" cy="457200"/>
          </a:xfrm>
          <a:prstGeom prst="rect">
            <a:avLst/>
          </a:prstGeom>
          <a:noFill/>
          <a:ln/>
        </p:spPr>
        <p:txBody>
          <a:bodyPr wrap="square" lIns="0" tIns="0" rIns="0" bIns="0" rtlCol="0" anchor="t"/>
          <a:lstStyle/>
          <a:p>
            <a:pPr algn="l" indent="0" marL="0">
              <a:buNone/>
            </a:pPr>
            <a:r>
              <a:rPr lang="en-US" sz="1700" dirty="0">
                <a:solidFill>
                  <a:schemeClr val="accent4"/>
                </a:solidFill>
              </a:rPr>
              <a:t>An honest edge over chance, with clear ways to extend it</a:t>
            </a:r>
            <a:endParaRPr lang="en-US" sz="1700" dirty="0"/>
          </a:p>
        </p:txBody>
      </p:sp>
      <p:sp>
        <p:nvSpPr>
          <p:cNvPr id="5" name="Limitations card"/>
          <p:cNvSpPr/>
          <p:nvPr/>
        </p:nvSpPr>
        <p:spPr>
          <a:xfrm>
            <a:off x="548640" y="1783080"/>
            <a:ext cx="5413248" cy="4160520"/>
          </a:xfrm>
          <a:prstGeom prst="roundRect">
            <a:avLst>
              <a:gd name="adj" fmla="val 2198"/>
            </a:avLst>
          </a:prstGeom>
          <a:solidFill>
            <a:schemeClr val="bg2"/>
          </a:solidFill>
          <a:ln/>
        </p:spPr>
      </p:sp>
      <p:sp>
        <p:nvSpPr>
          <p:cNvPr id="6" name="Text 3"/>
          <p:cNvSpPr txBox="1"/>
          <p:nvPr/>
        </p:nvSpPr>
        <p:spPr>
          <a:xfrm>
            <a:off x="822960" y="1965960"/>
            <a:ext cx="4846320" cy="411480"/>
          </a:xfrm>
          <a:prstGeom prst="rect">
            <a:avLst/>
          </a:prstGeom>
          <a:noFill/>
          <a:ln/>
        </p:spPr>
        <p:txBody>
          <a:bodyPr wrap="square" lIns="0" tIns="0" rIns="0" bIns="0" rtlCol="0" anchor="t"/>
          <a:lstStyle/>
          <a:p>
            <a:pPr indent="0" marL="0">
              <a:buNone/>
            </a:pPr>
            <a:r>
              <a:rPr lang="en-US" sz="2200" b="1" dirty="0">
                <a:solidFill>
                  <a:schemeClr val="accent1"/>
                </a:solidFill>
              </a:rPr>
              <a:t>Limitations</a:t>
            </a:r>
            <a:endParaRPr lang="en-US" sz="2200" dirty="0"/>
          </a:p>
        </p:txBody>
      </p:sp>
      <p:sp>
        <p:nvSpPr>
          <p:cNvPr id="7" name="Text 4"/>
          <p:cNvSpPr txBox="1"/>
          <p:nvPr/>
        </p:nvSpPr>
        <p:spPr>
          <a:xfrm>
            <a:off x="822960" y="2606040"/>
            <a:ext cx="4892040" cy="35661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2"/>
                </a:solidFill>
              </a:rPr>
              <a:t>Modest edge: 1.2 to 2 times random, not a precise forecaster</a:t>
            </a:r>
            <a:endParaRPr lang="en-US" sz="1600" dirty="0"/>
          </a:p>
          <a:p>
            <a:pPr marL="342900" indent="-342900">
              <a:spcAft>
                <a:spcPts val="1000"/>
              </a:spcAft>
              <a:buSzPct val="100000"/>
              <a:buChar char="•"/>
            </a:pPr>
            <a:r>
              <a:rPr lang="en-US" sz="1600" dirty="0">
                <a:solidFill>
                  <a:schemeClr val="tx2"/>
                </a:solidFill>
              </a:rPr>
              <a:t>One market, one exchange, one test period</a:t>
            </a:r>
            <a:endParaRPr lang="en-US" sz="1600" dirty="0"/>
          </a:p>
          <a:p>
            <a:pPr marL="342900" indent="-342900">
              <a:spcAft>
                <a:spcPts val="1000"/>
              </a:spcAft>
              <a:buSzPct val="100000"/>
              <a:buChar char="•"/>
            </a:pPr>
            <a:r>
              <a:rPr lang="en-US" sz="1600" dirty="0">
                <a:solidFill>
                  <a:schemeClr val="tx2"/>
                </a:solidFill>
              </a:rPr>
              <a:t>Only three crises in the test period; in two, every coin shocked</a:t>
            </a:r>
            <a:endParaRPr lang="en-US" sz="1600" dirty="0"/>
          </a:p>
          <a:p>
            <a:pPr marL="342900" indent="-342900">
              <a:spcAft>
                <a:spcPts val="1000"/>
              </a:spcAft>
              <a:buSzPct val="100000"/>
              <a:buChar char="•"/>
            </a:pPr>
            <a:r>
              <a:rPr lang="en-US" sz="1600" dirty="0">
                <a:solidFill>
                  <a:schemeClr val="tx2"/>
                </a:solidFill>
              </a:rPr>
              <a:t>Vulnerable to targeted manipulation of its inputs</a:t>
            </a:r>
            <a:endParaRPr lang="en-US" sz="1600" dirty="0"/>
          </a:p>
          <a:p>
            <a:pPr marL="342900" indent="-342900">
              <a:spcAft>
                <a:spcPts val="1000"/>
              </a:spcAft>
              <a:buSzPct val="100000"/>
              <a:buChar char="•"/>
            </a:pPr>
            <a:r>
              <a:rPr lang="en-US" sz="1600" dirty="0">
                <a:solidFill>
                  <a:schemeClr val="tx2"/>
                </a:solidFill>
              </a:rPr>
              <a:t>Event-level explanations are weak for this model</a:t>
            </a:r>
            <a:endParaRPr lang="en-US" sz="1600" dirty="0"/>
          </a:p>
          <a:p>
            <a:pPr marL="342900" indent="-342900">
              <a:spcAft>
                <a:spcPts val="1000"/>
              </a:spcAft>
              <a:buSzPct val="100000"/>
              <a:buChar char="•"/>
            </a:pPr>
            <a:r>
              <a:rPr lang="en-US" sz="1600" dirty="0">
                <a:solidFill>
                  <a:schemeClr val="tx2"/>
                </a:solidFill>
              </a:rPr>
              <a:t>Probabilities calibrated on 2022–23 data may drift</a:t>
            </a:r>
            <a:endParaRPr lang="en-US" sz="1600" dirty="0"/>
          </a:p>
        </p:txBody>
      </p:sp>
      <p:sp>
        <p:nvSpPr>
          <p:cNvPr id="8" name="Next steps card"/>
          <p:cNvSpPr/>
          <p:nvPr/>
        </p:nvSpPr>
        <p:spPr>
          <a:xfrm>
            <a:off x="6227064" y="1783080"/>
            <a:ext cx="5413248" cy="4160520"/>
          </a:xfrm>
          <a:prstGeom prst="roundRect">
            <a:avLst>
              <a:gd name="adj" fmla="val 2198"/>
            </a:avLst>
          </a:prstGeom>
          <a:solidFill>
            <a:schemeClr val="bg2"/>
          </a:solidFill>
          <a:ln/>
        </p:spPr>
      </p:sp>
      <p:sp>
        <p:nvSpPr>
          <p:cNvPr id="9" name="Text 6"/>
          <p:cNvSpPr txBox="1"/>
          <p:nvPr/>
        </p:nvSpPr>
        <p:spPr>
          <a:xfrm>
            <a:off x="6501384" y="1965960"/>
            <a:ext cx="4846320" cy="411480"/>
          </a:xfrm>
          <a:prstGeom prst="rect">
            <a:avLst/>
          </a:prstGeom>
          <a:noFill/>
          <a:ln/>
        </p:spPr>
        <p:txBody>
          <a:bodyPr wrap="square" lIns="0" tIns="0" rIns="0" bIns="0" rtlCol="0" anchor="t"/>
          <a:lstStyle/>
          <a:p>
            <a:pPr indent="0" marL="0">
              <a:buNone/>
            </a:pPr>
            <a:r>
              <a:rPr lang="en-US" sz="2200" b="1" dirty="0">
                <a:solidFill>
                  <a:schemeClr val="accent2"/>
                </a:solidFill>
              </a:rPr>
              <a:t>Next steps</a:t>
            </a:r>
            <a:endParaRPr lang="en-US" sz="2200" dirty="0"/>
          </a:p>
        </p:txBody>
      </p:sp>
      <p:sp>
        <p:nvSpPr>
          <p:cNvPr id="10" name="Text 7"/>
          <p:cNvSpPr txBox="1"/>
          <p:nvPr/>
        </p:nvSpPr>
        <p:spPr>
          <a:xfrm>
            <a:off x="6501384" y="2606040"/>
            <a:ext cx="4892040" cy="35661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2"/>
                </a:solidFill>
              </a:rPr>
              <a:t>A rolling second test window and a second market</a:t>
            </a:r>
            <a:endParaRPr lang="en-US" sz="1600" dirty="0"/>
          </a:p>
          <a:p>
            <a:pPr marL="342900" indent="-342900">
              <a:spcAft>
                <a:spcPts val="1000"/>
              </a:spcAft>
              <a:buSzPct val="100000"/>
              <a:buChar char="•"/>
            </a:pPr>
            <a:r>
              <a:rPr lang="en-US" sz="1600" dirty="0">
                <a:solidFill>
                  <a:schemeClr val="tx2"/>
                </a:solidFill>
              </a:rPr>
              <a:t>Defences: adversarial training, cross-source input checks</a:t>
            </a:r>
            <a:endParaRPr lang="en-US" sz="1600" dirty="0"/>
          </a:p>
          <a:p>
            <a:pPr marL="342900" indent="-342900">
              <a:spcAft>
                <a:spcPts val="1000"/>
              </a:spcAft>
              <a:buSzPct val="100000"/>
              <a:buChar char="•"/>
            </a:pPr>
            <a:r>
              <a:rPr lang="en-US" sz="1600" dirty="0">
                <a:solidFill>
                  <a:schemeClr val="tx2"/>
                </a:solidFill>
              </a:rPr>
              <a:t>A live data feed with scheduled re-calibration</a:t>
            </a:r>
            <a:endParaRPr lang="en-US" sz="1600" dirty="0"/>
          </a:p>
          <a:p>
            <a:pPr marL="342900" indent="-342900">
              <a:spcAft>
                <a:spcPts val="1000"/>
              </a:spcAft>
              <a:buSzPct val="100000"/>
              <a:buChar char="•"/>
            </a:pPr>
            <a:r>
              <a:rPr lang="en-US" sz="1600" dirty="0">
                <a:solidFill>
                  <a:schemeClr val="tx2"/>
                </a:solidFill>
              </a:rPr>
              <a:t>Social-media and order-book features</a:t>
            </a:r>
            <a:endParaRPr lang="en-US" sz="1600" dirty="0"/>
          </a:p>
          <a:p>
            <a:pPr marL="342900" indent="-342900">
              <a:spcAft>
                <a:spcPts val="1000"/>
              </a:spcAft>
              <a:buSzPct val="100000"/>
              <a:buChar char="•"/>
            </a:pPr>
            <a:r>
              <a:rPr lang="en-US" sz="1600" dirty="0">
                <a:solidFill>
                  <a:schemeClr val="tx2"/>
                </a:solidFill>
              </a:rPr>
              <a:t>Economic evaluation: do alerts reduce losses?</a:t>
            </a:r>
            <a:endParaRPr lang="en-US" sz="1600" dirty="0"/>
          </a:p>
          <a:p>
            <a:pPr marL="342900" indent="-342900">
              <a:spcAft>
                <a:spcPts val="1000"/>
              </a:spcAft>
              <a:buSzPct val="100000"/>
              <a:buChar char="•"/>
            </a:pPr>
            <a:r>
              <a:rPr lang="en-US" sz="1600" dirty="0">
                <a:solidFill>
                  <a:schemeClr val="tx2"/>
                </a:solidFill>
              </a:rPr>
              <a:t>A written paper from the notebooks</a:t>
            </a:r>
            <a:endParaRPr lang="en-US" sz="1600" dirty="0"/>
          </a:p>
        </p:txBody>
      </p:sp>
      <p:sp>
        <p:nvSpPr>
          <p:cNvPr id="25" name="Slide Number Placeholder 0"/>
          <p:cNvSpPr>
            <a:spLocks noGrp="1"/>
          </p:cNvSpPr>
          <p:nvPr>
            <p:ph type="sldNum" sz="quarter" idx="4294967295"/>
          </p:nvPr>
        </p:nvSpPr>
        <p:spPr>
          <a:xfrm>
            <a:off x="11094415" y="6437376"/>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4415" cy="822960"/>
          </a:xfrm>
          <a:prstGeom prst="rect">
            <a:avLst/>
          </a:prstGeom>
          <a:noFill/>
          <a:ln/>
        </p:spPr>
        <p:txBody>
          <a:bodyPr wrap="square" lIns="0" tIns="0" rIns="0" bIns="0" rtlCol="0" anchor="ctr"/>
          <a:lstStyle/>
          <a:p>
            <a:pPr algn="l" indent="0" marL="0">
              <a:buNone/>
            </a:pPr>
            <a:r>
              <a:rPr lang="en-US" sz="4000" b="1" dirty="0">
                <a:solidFill>
                  <a:schemeClr val="bg1"/>
                </a:solidFill>
              </a:rPr>
              <a:t>Conclusion</a:t>
            </a:r>
            <a:endParaRPr lang="en-US" sz="4000" dirty="0"/>
          </a:p>
        </p:txBody>
      </p:sp>
      <p:sp>
        <p:nvSpPr>
          <p:cNvPr id="3" name="Conclusion card"/>
          <p:cNvSpPr/>
          <p:nvPr/>
        </p:nvSpPr>
        <p:spPr>
          <a:xfrm>
            <a:off x="548640" y="1645920"/>
            <a:ext cx="3566160" cy="3017520"/>
          </a:xfrm>
          <a:prstGeom prst="roundRect">
            <a:avLst>
              <a:gd name="adj" fmla="val 3030"/>
            </a:avLst>
          </a:prstGeom>
          <a:solidFill>
            <a:schemeClr val="accent6"/>
          </a:solidFill>
          <a:ln/>
        </p:spPr>
      </p:sp>
      <p:sp>
        <p:nvSpPr>
          <p:cNvPr id="4" name="Text 2"/>
          <p:cNvSpPr txBox="1"/>
          <p:nvPr/>
        </p:nvSpPr>
        <p:spPr>
          <a:xfrm>
            <a:off x="822960" y="1828800"/>
            <a:ext cx="548640" cy="548640"/>
          </a:xfrm>
          <a:prstGeom prst="rect">
            <a:avLst/>
          </a:prstGeom>
          <a:noFill/>
          <a:ln/>
        </p:spPr>
        <p:txBody>
          <a:bodyPr wrap="square" lIns="0" tIns="0" rIns="0" bIns="0" rtlCol="0" anchor="ctr"/>
          <a:lstStyle/>
          <a:p>
            <a:pPr indent="0" marL="0">
              <a:buNone/>
            </a:pPr>
            <a:r>
              <a:rPr lang="en-US" sz="3000" b="1" dirty="0">
                <a:solidFill>
                  <a:schemeClr val="accent3"/>
                </a:solidFill>
                <a:latin typeface="+mj-lt" pitchFamily="34" charset="0"/>
                <a:ea typeface="+mj-lt" pitchFamily="34" charset="-122"/>
                <a:cs typeface="+mj-lt" pitchFamily="34" charset="-120"/>
              </a:rPr>
              <a:t>1</a:t>
            </a:r>
            <a:endParaRPr lang="en-US" sz="3000" dirty="0"/>
          </a:p>
        </p:txBody>
      </p:sp>
      <p:sp>
        <p:nvSpPr>
          <p:cNvPr id="5" name="Text 3"/>
          <p:cNvSpPr txBox="1"/>
          <p:nvPr/>
        </p:nvSpPr>
        <p:spPr>
          <a:xfrm>
            <a:off x="822960" y="2468880"/>
            <a:ext cx="3017520" cy="457200"/>
          </a:xfrm>
          <a:prstGeom prst="rect">
            <a:avLst/>
          </a:prstGeom>
          <a:noFill/>
          <a:ln/>
        </p:spPr>
        <p:txBody>
          <a:bodyPr wrap="square" lIns="0" tIns="0" rIns="0" bIns="0" rtlCol="0" anchor="ctr"/>
          <a:lstStyle/>
          <a:p>
            <a:pPr indent="0" marL="0">
              <a:buNone/>
            </a:pPr>
            <a:r>
              <a:rPr lang="en-US" sz="2200" b="1" dirty="0">
                <a:solidFill>
                  <a:schemeClr val="bg1"/>
                </a:solidFill>
              </a:rPr>
              <a:t>Predictable</a:t>
            </a:r>
            <a:endParaRPr lang="en-US" sz="2200" dirty="0"/>
          </a:p>
        </p:txBody>
      </p:sp>
      <p:sp>
        <p:nvSpPr>
          <p:cNvPr id="6" name="Text 4"/>
          <p:cNvSpPr txBox="1"/>
          <p:nvPr/>
        </p:nvSpPr>
        <p:spPr>
          <a:xfrm>
            <a:off x="822960" y="3017520"/>
            <a:ext cx="3017520" cy="1920240"/>
          </a:xfrm>
          <a:prstGeom prst="rect">
            <a:avLst/>
          </a:prstGeom>
          <a:noFill/>
          <a:ln/>
        </p:spPr>
        <p:txBody>
          <a:bodyPr wrap="square" lIns="0" tIns="0" rIns="0" bIns="0" rtlCol="0" anchor="t"/>
          <a:lstStyle/>
          <a:p>
            <a:pPr indent="0" marL="0">
              <a:buNone/>
            </a:pPr>
            <a:r>
              <a:rPr lang="en-US" sz="1600" dirty="0">
                <a:solidFill>
                  <a:schemeClr val="bg2"/>
                </a:solidFill>
              </a:rPr>
              <a:t>The TGN reaches AUPRC 0.205 at 1 hour (random 0.105) and 0.739 at 24 hours, ahead of the independent cascade at every horizon.</a:t>
            </a:r>
            <a:endParaRPr lang="en-US" sz="1600" dirty="0"/>
          </a:p>
        </p:txBody>
      </p:sp>
      <p:sp>
        <p:nvSpPr>
          <p:cNvPr id="7" name="Conclusion card"/>
          <p:cNvSpPr/>
          <p:nvPr/>
        </p:nvSpPr>
        <p:spPr>
          <a:xfrm>
            <a:off x="4311396" y="1645920"/>
            <a:ext cx="3566160" cy="3017520"/>
          </a:xfrm>
          <a:prstGeom prst="roundRect">
            <a:avLst>
              <a:gd name="adj" fmla="val 3030"/>
            </a:avLst>
          </a:prstGeom>
          <a:solidFill>
            <a:schemeClr val="accent6"/>
          </a:solidFill>
          <a:ln/>
        </p:spPr>
      </p:sp>
      <p:sp>
        <p:nvSpPr>
          <p:cNvPr id="8" name="Text 6"/>
          <p:cNvSpPr txBox="1"/>
          <p:nvPr/>
        </p:nvSpPr>
        <p:spPr>
          <a:xfrm>
            <a:off x="4585716" y="1828800"/>
            <a:ext cx="548640" cy="548640"/>
          </a:xfrm>
          <a:prstGeom prst="rect">
            <a:avLst/>
          </a:prstGeom>
          <a:noFill/>
          <a:ln/>
        </p:spPr>
        <p:txBody>
          <a:bodyPr wrap="square" lIns="0" tIns="0" rIns="0" bIns="0" rtlCol="0" anchor="ctr"/>
          <a:lstStyle/>
          <a:p>
            <a:pPr indent="0" marL="0">
              <a:buNone/>
            </a:pPr>
            <a:r>
              <a:rPr lang="en-US" sz="3000" b="1" dirty="0">
                <a:solidFill>
                  <a:schemeClr val="accent3"/>
                </a:solidFill>
                <a:latin typeface="+mj-lt" pitchFamily="34" charset="0"/>
                <a:ea typeface="+mj-lt" pitchFamily="34" charset="-122"/>
                <a:cs typeface="+mj-lt" pitchFamily="34" charset="-120"/>
              </a:rPr>
              <a:t>2</a:t>
            </a:r>
            <a:endParaRPr lang="en-US" sz="3000" dirty="0"/>
          </a:p>
        </p:txBody>
      </p:sp>
      <p:sp>
        <p:nvSpPr>
          <p:cNvPr id="9" name="Text 7"/>
          <p:cNvSpPr txBox="1"/>
          <p:nvPr/>
        </p:nvSpPr>
        <p:spPr>
          <a:xfrm>
            <a:off x="4585716" y="2468880"/>
            <a:ext cx="3017520" cy="457200"/>
          </a:xfrm>
          <a:prstGeom prst="rect">
            <a:avLst/>
          </a:prstGeom>
          <a:noFill/>
          <a:ln/>
        </p:spPr>
        <p:txBody>
          <a:bodyPr wrap="square" lIns="0" tIns="0" rIns="0" bIns="0" rtlCol="0" anchor="ctr"/>
          <a:lstStyle/>
          <a:p>
            <a:pPr indent="0" marL="0">
              <a:buNone/>
            </a:pPr>
            <a:r>
              <a:rPr lang="en-US" sz="2200" b="1" dirty="0">
                <a:solidFill>
                  <a:schemeClr val="bg1"/>
                </a:solidFill>
              </a:rPr>
              <a:t>Explainable</a:t>
            </a:r>
            <a:endParaRPr lang="en-US" sz="2200" dirty="0"/>
          </a:p>
        </p:txBody>
      </p:sp>
      <p:sp>
        <p:nvSpPr>
          <p:cNvPr id="10" name="Text 8"/>
          <p:cNvSpPr txBox="1"/>
          <p:nvPr/>
        </p:nvSpPr>
        <p:spPr>
          <a:xfrm>
            <a:off x="4585716" y="3017520"/>
            <a:ext cx="3017520" cy="1920240"/>
          </a:xfrm>
          <a:prstGeom prst="rect">
            <a:avLst/>
          </a:prstGeom>
          <a:noFill/>
          <a:ln/>
        </p:spPr>
        <p:txBody>
          <a:bodyPr wrap="square" lIns="0" tIns="0" rIns="0" bIns="0" rtlCol="0" anchor="t"/>
          <a:lstStyle/>
          <a:p>
            <a:pPr indent="0" marL="0">
              <a:buNone/>
            </a:pPr>
            <a:r>
              <a:rPr lang="en-US" sz="1600" dirty="0">
                <a:solidFill>
                  <a:schemeClr val="bg2"/>
                </a:solidFill>
              </a:rPr>
              <a:t>Alerts are driven by the receiving coin's current stress. Shocks spread market-wide within the hour and fade in 8 to 10 hours.</a:t>
            </a:r>
            <a:endParaRPr lang="en-US" sz="1600" dirty="0"/>
          </a:p>
        </p:txBody>
      </p:sp>
      <p:sp>
        <p:nvSpPr>
          <p:cNvPr id="11" name="Conclusion card"/>
          <p:cNvSpPr/>
          <p:nvPr/>
        </p:nvSpPr>
        <p:spPr>
          <a:xfrm>
            <a:off x="8074152" y="1645920"/>
            <a:ext cx="3566160" cy="3017520"/>
          </a:xfrm>
          <a:prstGeom prst="roundRect">
            <a:avLst>
              <a:gd name="adj" fmla="val 3030"/>
            </a:avLst>
          </a:prstGeom>
          <a:solidFill>
            <a:schemeClr val="accent6"/>
          </a:solidFill>
          <a:ln/>
        </p:spPr>
      </p:sp>
      <p:sp>
        <p:nvSpPr>
          <p:cNvPr id="12" name="Text 10"/>
          <p:cNvSpPr txBox="1"/>
          <p:nvPr/>
        </p:nvSpPr>
        <p:spPr>
          <a:xfrm>
            <a:off x="8348472" y="1828800"/>
            <a:ext cx="548640" cy="548640"/>
          </a:xfrm>
          <a:prstGeom prst="rect">
            <a:avLst/>
          </a:prstGeom>
          <a:noFill/>
          <a:ln/>
        </p:spPr>
        <p:txBody>
          <a:bodyPr wrap="square" lIns="0" tIns="0" rIns="0" bIns="0" rtlCol="0" anchor="ctr"/>
          <a:lstStyle/>
          <a:p>
            <a:pPr indent="0" marL="0">
              <a:buNone/>
            </a:pPr>
            <a:r>
              <a:rPr lang="en-US" sz="3000" b="1" dirty="0">
                <a:solidFill>
                  <a:schemeClr val="accent3"/>
                </a:solidFill>
                <a:latin typeface="+mj-lt" pitchFamily="34" charset="0"/>
                <a:ea typeface="+mj-lt" pitchFamily="34" charset="-122"/>
                <a:cs typeface="+mj-lt" pitchFamily="34" charset="-120"/>
              </a:rPr>
              <a:t>3</a:t>
            </a:r>
            <a:endParaRPr lang="en-US" sz="3000" dirty="0"/>
          </a:p>
        </p:txBody>
      </p:sp>
      <p:sp>
        <p:nvSpPr>
          <p:cNvPr id="13" name="Text 11"/>
          <p:cNvSpPr txBox="1"/>
          <p:nvPr/>
        </p:nvSpPr>
        <p:spPr>
          <a:xfrm>
            <a:off x="8348472" y="2468880"/>
            <a:ext cx="3017520" cy="457200"/>
          </a:xfrm>
          <a:prstGeom prst="rect">
            <a:avLst/>
          </a:prstGeom>
          <a:noFill/>
          <a:ln/>
        </p:spPr>
        <p:txBody>
          <a:bodyPr wrap="square" lIns="0" tIns="0" rIns="0" bIns="0" rtlCol="0" anchor="ctr"/>
          <a:lstStyle/>
          <a:p>
            <a:pPr indent="0" marL="0">
              <a:buNone/>
            </a:pPr>
            <a:r>
              <a:rPr lang="en-US" sz="2200" b="1" dirty="0">
                <a:solidFill>
                  <a:schemeClr val="bg1"/>
                </a:solidFill>
              </a:rPr>
              <a:t>Usable, with a catch</a:t>
            </a:r>
            <a:endParaRPr lang="en-US" sz="2200" dirty="0"/>
          </a:p>
        </p:txBody>
      </p:sp>
      <p:sp>
        <p:nvSpPr>
          <p:cNvPr id="14" name="Text 12"/>
          <p:cNvSpPr txBox="1"/>
          <p:nvPr/>
        </p:nvSpPr>
        <p:spPr>
          <a:xfrm>
            <a:off x="8348472" y="3017520"/>
            <a:ext cx="3017520" cy="1920240"/>
          </a:xfrm>
          <a:prstGeom prst="rect">
            <a:avLst/>
          </a:prstGeom>
          <a:noFill/>
          <a:ln/>
        </p:spPr>
        <p:txBody>
          <a:bodyPr wrap="square" lIns="0" tIns="0" rIns="0" bIns="0" rtlCol="0" anchor="t"/>
          <a:lstStyle/>
          <a:p>
            <a:pPr indent="0" marL="0">
              <a:buNone/>
            </a:pPr>
            <a:r>
              <a:rPr lang="en-US" sz="1600" dirty="0">
                <a:solidFill>
                  <a:schemeClr val="bg2"/>
                </a:solidFill>
              </a:rPr>
              <a:t>A prediction command and a plain-language dashboard are built. The main risk is targeted manipulation of the inputs.</a:t>
            </a:r>
            <a:endParaRPr lang="en-US" sz="1600" dirty="0"/>
          </a:p>
        </p:txBody>
      </p:sp>
      <p:sp>
        <p:nvSpPr>
          <p:cNvPr id="15" name="Text 13"/>
          <p:cNvSpPr txBox="1"/>
          <p:nvPr/>
        </p:nvSpPr>
        <p:spPr>
          <a:xfrm>
            <a:off x="548640" y="5166360"/>
            <a:ext cx="11094415" cy="640080"/>
          </a:xfrm>
          <a:prstGeom prst="rect">
            <a:avLst/>
          </a:prstGeom>
          <a:noFill/>
          <a:ln/>
        </p:spPr>
        <p:txBody>
          <a:bodyPr wrap="square" lIns="0" tIns="0" rIns="0" bIns="0" rtlCol="0" anchor="ctr"/>
          <a:lstStyle/>
          <a:p>
            <a:pPr algn="ctr" indent="0" marL="0">
              <a:buNone/>
            </a:pPr>
            <a:r>
              <a:rPr lang="en-US" sz="3000" b="1" dirty="0">
                <a:solidFill>
                  <a:schemeClr val="accent3"/>
                </a:solidFill>
                <a:latin typeface="+mj-lt" pitchFamily="34" charset="0"/>
                <a:ea typeface="+mj-lt" pitchFamily="34" charset="-122"/>
                <a:cs typeface="+mj-lt" pitchFamily="34" charset="-120"/>
              </a:rPr>
              <a:t>Thank you  ·  Questions?</a:t>
            </a:r>
            <a:endParaRPr lang="en-US" sz="3000" dirty="0"/>
          </a:p>
        </p:txBody>
      </p:sp>
      <p:sp>
        <p:nvSpPr>
          <p:cNvPr id="25" name="Slide Number Placeholder 0"/>
          <p:cNvSpPr>
            <a:spLocks noGrp="1"/>
          </p:cNvSpPr>
          <p:nvPr>
            <p:ph type="sldNum" sz="quarter" idx="4294967295"/>
          </p:nvPr>
        </p:nvSpPr>
        <p:spPr>
          <a:xfrm>
            <a:off x="11094415" y="6437376"/>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CryptoGraph">
  <a:themeElements>
    <a:clrScheme name="CryptoGraph">
      <a:dk1>
        <a:srgbClr val="111418"/>
      </a:dk1>
      <a:lt1>
        <a:srgbClr val="FFFFFF"/>
      </a:lt1>
      <a:dk2>
        <a:srgbClr val="0F1A2B"/>
      </a:dk2>
      <a:lt2>
        <a:srgbClr val="F1F3F7"/>
      </a:lt2>
      <a:accent1>
        <a:srgbClr val="E8553D"/>
      </a:accent1>
      <a:accent2>
        <a:srgbClr val="1F8A8A"/>
      </a:accent2>
      <a:accent3>
        <a:srgbClr val="F2B134"/>
      </a:accent3>
      <a:accent4>
        <a:srgbClr val="5B6B83"/>
      </a:accent4>
      <a:accent5>
        <a:srgbClr val="9AA7B8"/>
      </a:accent5>
      <a:accent6>
        <a:srgbClr val="2D3E5C"/>
      </a:accent6>
      <a:hlink>
        <a:srgbClr val="1F8A8A"/>
      </a:hlink>
      <a:folHlink>
        <a:srgbClr val="5B6B83"/>
      </a:folHlink>
    </a:clrScheme>
    <a:fontScheme name="CryptoGrap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CryptoGraph-Secure: predicting cryptocurrency shock contagion with temporal graph networks</dc:title>
  <dc:subject>Deep Learning, CA3 project</dc:subject>
  <dc:creator>Hardik Gulati; Dakshesh Chauhan</dc:creator>
  <cp:lastModifiedBy>Hardik Gulati; Dakshesh Chauhan</cp:lastModifiedBy>
  <cp:revision>1</cp:revision>
  <dcterms:created xsi:type="dcterms:W3CDTF">2026-10-27T13:08:39Z</dcterms:created>
  <dcterms:modified xsi:type="dcterms:W3CDTF">2026-10-27T13:08:39Z</dcterms:modified>
</cp:coreProperties>
</file>